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svg" ContentType="image/svg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Masters/slideMaster2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trictFirstAndLastChars="0" saveSubsetFonts="1" autoCompressPictures="0">
  <p:sldMasterIdLst>
    <p:sldMasterId id="2147483659" r:id="rId1"/>
    <p:sldMasterId id="2147483660" r:id="rId2"/>
  </p:sldMasterIdLst>
  <p:notesMasterIdLst>
    <p:notesMasterId r:id="rId16"/>
  </p:notesMasterIdLst>
  <p:sldIdLst>
    <p:sldId id="256" r:id="rId3"/>
    <p:sldId id="257" r:id="rId4"/>
    <p:sldId id="258" r:id="rId5"/>
    <p:sldId id="259" r:id="rId6"/>
    <p:sldId id="260" r:id="rId7"/>
    <p:sldId id="261" r:id="rId8"/>
    <p:sldId id="262" r:id="rId9"/>
    <p:sldId id="263" r:id="rId10"/>
    <p:sldId id="264" r:id="rId11"/>
    <p:sldId id="265" r:id="rId12"/>
    <p:sldId id="266" r:id="rId13"/>
    <p:sldId id="270" r:id="rId14"/>
    <p:sldId id="271" r:id="rId15"/>
  </p:sldIdLst>
  <p:sldSz cx="12192000" cy="6858000"/>
  <p:notesSz cx="6858000" cy="9144000"/>
  <p:defaultText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 xmlns:p15="http://schemas.microsoft.com/office/powerpoint/2012/main">
        <p15:guide id="1" orient="horz" pos="1620">
          <p15:clr>
            <a:srgbClr val="747775"/>
          </p15:clr>
        </p15:guide>
        <p15:guide id="2" pos="2880">
          <p15:clr>
            <a:srgbClr val="747775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>
      <p:cViewPr varScale="1">
        <p:scale>
          <a:sx n="100" d="100"/>
          <a:sy n="100" d="100"/>
        </p:scale>
        <p:origin x="232" y="68"/>
      </p:cViewPr>
      <p:guideLst>
        <p:guide orient="horz" pos="1620"/>
        <p:guide pos="2880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6.xml"/><Relationship Id="rId13" Type="http://schemas.openxmlformats.org/officeDocument/2006/relationships/slide" Target="slides/slide11.xml"/><Relationship Id="rId18" Type="http://schemas.openxmlformats.org/officeDocument/2006/relationships/viewProps" Target="viewProps.xml"/><Relationship Id="rId3" Type="http://schemas.openxmlformats.org/officeDocument/2006/relationships/slide" Target="slides/slide1.xml"/><Relationship Id="rId7" Type="http://schemas.openxmlformats.org/officeDocument/2006/relationships/slide" Target="slides/slide5.xml"/><Relationship Id="rId12" Type="http://schemas.openxmlformats.org/officeDocument/2006/relationships/slide" Target="slides/slide10.xml"/><Relationship Id="rId17" Type="http://schemas.openxmlformats.org/officeDocument/2006/relationships/presProps" Target="presProps.xml"/><Relationship Id="rId2" Type="http://schemas.openxmlformats.org/officeDocument/2006/relationships/slideMaster" Target="slideMasters/slideMaster2.xml"/><Relationship Id="rId16" Type="http://schemas.openxmlformats.org/officeDocument/2006/relationships/notesMaster" Target="notesMasters/notesMaster1.xml"/><Relationship Id="rId20" Type="http://schemas.openxmlformats.org/officeDocument/2006/relationships/tableStyles" Target="tableStyle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4.xml"/><Relationship Id="rId11" Type="http://schemas.openxmlformats.org/officeDocument/2006/relationships/slide" Target="slides/slide9.xml"/><Relationship Id="rId5" Type="http://schemas.openxmlformats.org/officeDocument/2006/relationships/slide" Target="slides/slide3.xml"/><Relationship Id="rId15" Type="http://schemas.openxmlformats.org/officeDocument/2006/relationships/slide" Target="slides/slide13.xml"/><Relationship Id="rId10" Type="http://schemas.openxmlformats.org/officeDocument/2006/relationships/slide" Target="slides/slide8.xml"/><Relationship Id="rId19" Type="http://schemas.openxmlformats.org/officeDocument/2006/relationships/theme" Target="theme/theme1.xml"/><Relationship Id="rId4" Type="http://schemas.openxmlformats.org/officeDocument/2006/relationships/slide" Target="slides/slide2.xml"/><Relationship Id="rId9" Type="http://schemas.openxmlformats.org/officeDocument/2006/relationships/slide" Target="slides/slide7.xml"/><Relationship Id="rId14" Type="http://schemas.openxmlformats.org/officeDocument/2006/relationships/slide" Target="slides/slide12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cs-CZ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B7268E1E-0E44-426D-905E-8AD9B19D2182}" type="datetimeFigureOut">
              <a:rPr lang="cs-CZ" smtClean="0"/>
              <a:t>16.04.2026</a:t>
            </a:fld>
            <a:endParaRPr lang="cs-CZ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cs-CZ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cs-CZ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cs-CZ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871B2431-D351-4C6E-A3CF-9DFAC0E3E050}" type="slidenum">
              <a:rPr lang="cs-CZ" smtClean="0"/>
              <a:t>‹#›</a:t>
            </a:fld>
            <a:endParaRPr lang="cs-CZ"/>
          </a:p>
        </p:txBody>
      </p:sp>
    </p:spTree>
    <p:extLst>
      <p:ext uri="{BB962C8B-B14F-4D97-AF65-F5344CB8AC3E}">
        <p14:creationId xmlns:p14="http://schemas.microsoft.com/office/powerpoint/2010/main" val="179888911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>
              <a:rPr lang="cs-CZ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290763" y="512763"/>
            <a:ext cx="4562475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400" b="0" i="0" u="none" strike="noStrike"/>
            </a:lvl1pPr>
          </a:lstStyle>
          <a:p>
            <a:pPr indent="0" algn="l">
              <a:lnSpc>
                <a:spcPct val="100000"/>
              </a:lnSpc>
            </a:pPr>
            <a:r>
              <a:rPr lang="en-US" sz="1400" b="0" i="0" u="none" strike="noStrike">
                <a:solidFill>
                  <a:srgbClr val="000000"/>
                </a:solidFill>
              </a:rPr>
              <a:t>大家好，欢迎参加本次分享。在今天的数字化时代，Web应用的安全性至关重要。一个微小的漏洞就可能导致数据泄露、系统瘫痪，甚至引发严重的商业危机。因此，选择一款强大、可靠的Web漏洞扫描工具，是保障应用安全的第一道防线。</a:t>
            </a:r>
          </a:p>
          <a:p>
            <a:pPr indent="0" algn="l">
              <a:lnSpc>
                <a:spcPct val="100000"/>
              </a:lnSpc>
            </a:pPr>
            <a:r>
              <a:rPr lang="en-US" sz="1400" b="0" i="0" u="none" strike="noStrike">
                <a:solidFill>
                  <a:srgbClr val="000000"/>
                </a:solidFill>
              </a:rPr>
              <a:t>今天，我们将深入剖析两款业界领先的安全测试工具——HCL AppScan和Acunetix AWVS，从核心技术、功能特性到实际应用场景，进行一次全面的对比，希望能帮助大家更好地理解它们，并为自己的项目选择最合适的安全解决方案。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>
              <a:rPr lang="cs-CZ"/>
              <a:t>‹#›</a:t>
            </a:r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>
              <a:rPr lang="cs-CZ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290763" y="512763"/>
            <a:ext cx="4562475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400" b="0" i="0" u="none" strike="noStrike"/>
            </a:lvl1pPr>
          </a:lstStyle>
          <a:p>
            <a:pPr indent="0" algn="l">
              <a:lnSpc>
                <a:spcPct val="100000"/>
              </a:lnSpc>
            </a:pPr>
            <a:r>
              <a:rPr lang="en-US" sz="1400" b="0" i="0" u="none" strike="noStrike">
                <a:solidFill>
                  <a:srgbClr val="000000"/>
                </a:solidFill>
              </a:rPr>
              <a:t>本次分享将分为四个部分。首先，我们会简要探讨在当前环境下进行Web安全测试的必要性。接着，我们将分别深入解析HCL AppScan和Acunetix AWVS这两款工具，了解它们的核心技术、功能特点和标准扫描流程。最后，也是最重要的部分，我们会将两款工具进行横向对比，并结合不同的应用场景，给出一些选型建议，帮助大家做出更明智的决策。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>
              <a:rPr lang="cs-CZ"/>
              <a:t>‹#›</a:t>
            </a:r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>
              <a:rPr lang="cs-CZ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400" b="0" i="0" u="none" strike="noStrike"/>
            </a:lvl1pPr>
          </a:lstStyle>
          <a:p>
            <a:pPr indent="0" algn="l">
              <a:lnSpc>
                <a:spcPct val="100000"/>
              </a:lnSpc>
            </a:pPr>
            <a:r>
              <a:rPr lang="en-US" sz="1400" b="0" i="0" u="none" strike="noStrike">
                <a:solidFill>
                  <a:srgbClr val="000000"/>
                </a:solidFill>
              </a:rPr>
              <a:t>在深入了解工具之前，我们先明确为什么需要进行Web安全测试。如今，几乎所有业务都依赖于Web应用，这也使得它们成为了攻击者的主要目标。数据泄露、恶意攻击、服务中断等事件屡见不鲜，不仅造成巨大的经济损失，还严重损害品牌声誉。更重要的是，全球各地的合规要求日益严格，未能保护好用户数据可能面临严厉的处罚。</a:t>
            </a:r>
          </a:p>
          <a:p>
            <a:pPr indent="0" algn="l">
              <a:lnSpc>
                <a:spcPct val="100000"/>
              </a:lnSpc>
            </a:pPr>
            <a:r>
              <a:rPr lang="en-US" sz="1400" b="0" i="0" u="none" strike="noStrike">
                <a:solidFill>
                  <a:srgbClr val="000000"/>
                </a:solidFill>
              </a:rPr>
              <a:t>因此，采用专业的工具进行主动、持续的安全检测，将安全融入开发的每一个环节，已经不是可选项，而是必选项。右侧展示的SAST（静态应用安全测试）正是其中的代表，它能在代码编写阶段就发现问题，实现我们常说的“安全左移”。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>
              <a:rPr lang="cs-CZ"/>
              <a:t>‹#›</a:t>
            </a:r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>
              <a:rPr lang="cs-CZ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290763" y="512763"/>
            <a:ext cx="4562475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400" b="0" i="0" u="none" strike="noStrike"/>
            </a:lvl1pPr>
          </a:lstStyle>
          <a:p>
            <a:pPr indent="0" algn="l">
              <a:lnSpc>
                <a:spcPct val="100000"/>
              </a:lnSpc>
            </a:pPr>
            <a:r>
              <a:rPr lang="en-US" sz="1400" b="0" i="0" u="none" strike="noStrike">
                <a:solidFill>
                  <a:srgbClr val="000000"/>
                </a:solidFill>
              </a:rPr>
              <a:t>首先我们来看HCL AppScan。它不仅仅是一个工具，更应该被看作是一个完整的应用安全解决方案。它覆盖了从代码开发到应用部署的整个生命周期，提供了动态、静态、交互式等多种测试能力。</a:t>
            </a:r>
          </a:p>
          <a:p>
            <a:pPr indent="0" algn="l">
              <a:lnSpc>
                <a:spcPct val="100000"/>
              </a:lnSpc>
            </a:pPr>
            <a:r>
              <a:rPr lang="en-US" sz="1400" b="0" i="0" u="none" strike="noStrike">
                <a:solidFill>
                  <a:srgbClr val="000000"/>
                </a:solidFill>
              </a:rPr>
              <a:t>其中，AppScan Standard是其最核心的动态扫描工具，通过模拟黑客攻击来发现运行时漏洞。凭借其全面的功能和强大的性能，AppScan在业界享有很高的声誉，是许多大型企业进行应用安全测试的首选。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>
              <a:rPr lang="cs-CZ"/>
              <a:t>‹#›</a:t>
            </a:r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>
              <a:rPr lang="cs-CZ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400" b="0" i="0" u="none" strike="noStrike"/>
            </a:lvl1pPr>
          </a:lstStyle>
          <a:p>
            <a:pPr indent="0" algn="l">
              <a:lnSpc>
                <a:spcPct val="100000"/>
              </a:lnSpc>
            </a:pPr>
            <a:r>
              <a:rPr lang="en-US" sz="1400" b="0" i="0" u="none" strike="noStrike">
                <a:solidFill>
                  <a:srgbClr val="000000"/>
                </a:solidFill>
              </a:rPr>
              <a:t>AppScan的强大之处在于其核心技术。首先，它的DAST扫描引擎非常强大，能够模拟真实用户操作，深入探索现代Web应用的复杂结构。</a:t>
            </a:r>
          </a:p>
          <a:p>
            <a:pPr indent="0" algn="l">
              <a:lnSpc>
                <a:spcPct val="100000"/>
              </a:lnSpc>
            </a:pPr>
            <a:r>
              <a:rPr lang="en-US" sz="1400" b="0" i="0" u="none" strike="noStrike">
                <a:solidFill>
                  <a:srgbClr val="000000"/>
                </a:solidFill>
              </a:rPr>
              <a:t>其次，它不仅仅局限于动态扫描，还整合了静态分析(SAST)、交互式分析(IAST)和软件成分分析(SCA)，形成了一个全方位的检测体系。</a:t>
            </a:r>
          </a:p>
          <a:p>
            <a:pPr indent="0" algn="l">
              <a:lnSpc>
                <a:spcPct val="100000"/>
              </a:lnSpc>
            </a:pPr>
            <a:r>
              <a:rPr lang="en-US" sz="1400" b="0" i="0" u="none" strike="noStrike">
                <a:solidFill>
                  <a:srgbClr val="000000"/>
                </a:solidFill>
              </a:rPr>
              <a:t>特别值得一提的是，最新版本引入了AI和机器学习技术，能够更智能地分析漏洞，大大减少了安全人员需要花费在甄别误报上的时间。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>
              <a:rPr lang="cs-CZ"/>
              <a:t>‹#›</a:t>
            </a:r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>
              <a:rPr lang="cs-CZ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400" b="0" i="0" u="none" strike="noStrike"/>
            </a:lvl1pPr>
          </a:lstStyle>
          <a:p>
            <a:pPr indent="0" algn="l">
              <a:lnSpc>
                <a:spcPct val="100000"/>
              </a:lnSpc>
            </a:pPr>
            <a:r>
              <a:rPr lang="en-US" sz="1400" b="0" i="0" u="none" strike="noStrike">
                <a:solidFill>
                  <a:srgbClr val="000000"/>
                </a:solidFill>
              </a:rPr>
              <a:t>在功能方面，AppScan提供了全面的自动化扫描能力，无论是传统的Web页面还是现代的API接口，都能高效测试。它的报告功能非常强大，内置了超过40种模板，可以轻松生成满足各种合规审计要求的报告，比如大家熟知的OWASP Top 10和PCI DSS。此外，它灵活的部署方式和与CI/CD工具的无缝集成，使其能够很好地融入到现代DevSecOps工作流中，实现自动化的安全测试。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>
              <a:rPr lang="cs-CZ"/>
              <a:t>‹#›</a:t>
            </a:r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>
              <a:rPr lang="cs-CZ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290763" y="512763"/>
            <a:ext cx="4562475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400" b="0" i="0" u="none" strike="noStrike"/>
            </a:lvl1pPr>
          </a:lstStyle>
          <a:p>
            <a:pPr indent="0" algn="l">
              <a:lnSpc>
                <a:spcPct val="100000"/>
              </a:lnSpc>
            </a:pPr>
            <a:r>
              <a:rPr lang="en-US" sz="1400" b="0" i="0" u="none" strike="noStrike">
                <a:solidFill>
                  <a:srgbClr val="000000"/>
                </a:solidFill>
              </a:rPr>
              <a:t>AppScan的扫描流程非常清晰，分为探索和测试两个主要阶段。在探索阶段，它像一个智能爬虫，全面地了解目标应用的结构，构建出一份详细的站点地图。这个阶段可以完全自动进行，也可以由用户手动参与，以确保覆盖所有复杂的功能路径。探索完成后，就进入测试阶段，AppScan会对所有发现的输入点进行自动化攻击，模拟各种黑客行为，然后通过分析服务器的响应来识别漏洞。整个过程高度自动化，最终生成一份详尽的报告。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>
              <a:rPr lang="cs-CZ"/>
              <a:t>‹#›</a:t>
            </a:r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>
              <a:rPr lang="cs-CZ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290763" y="512763"/>
            <a:ext cx="4562475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400" b="0" i="0" u="none" strike="noStrike"/>
            </a:lvl1pPr>
          </a:lstStyle>
          <a:p>
            <a:pPr indent="0" algn="l">
              <a:lnSpc>
                <a:spcPct val="100000"/>
              </a:lnSpc>
            </a:pPr>
            <a:r>
              <a:rPr lang="en-US" sz="1400" b="0" i="0" u="none" strike="noStrike">
                <a:solidFill>
                  <a:srgbClr val="000000"/>
                </a:solidFill>
              </a:rPr>
              <a:t>接下来，我们看看另一款优秀的工具——Acunetix AWVS。与AppScan的全面套件不同，AWVS更专注于Web应用和API的动态漏洞扫描。它的最大特点就是快速、精准。很多用户选择它，正是因为它能够在较短的时间内提供高质量的扫描结果，而且误报率相对较低。它的安装和使用也比较直观，对于中小型企业或需要快速验证网站安全性的团队来说，是一个非常不错的选择。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>
              <a:rPr lang="cs-CZ"/>
              <a:t>‹#›</a:t>
            </a:r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>
              <a:rPr lang="cs-CZ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400" b="0" i="0" u="none" strike="noStrike"/>
            </a:lvl1pPr>
          </a:lstStyle>
          <a:p>
            <a:pPr indent="0" algn="l">
              <a:lnSpc>
                <a:spcPct val="100000"/>
              </a:lnSpc>
            </a:pPr>
            <a:r>
              <a:rPr lang="en-US" sz="1400" b="0" i="0" u="none" strike="noStrike">
                <a:solidFill>
                  <a:srgbClr val="000000"/>
                </a:solidFill>
              </a:rPr>
              <a:t>AWVS的核心技术同样以DAST动态扫描为基础。它的扫描引擎经过优化，特别擅长处理现代Web技术，包括对各种API接口的深度扫描。一个很智能的地方在于，它结合了被动扫描和主动爬虫的策略，先通过被动方式全面了解应用，再进行精准的主动攻击，这样既能保证覆盖率，又能有效控制误报。同时，它对JavaScript渲染的良好支持，也使其能够很好地应对当前流行的单页应用。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>
              <a:rPr lang="cs-CZ"/>
              <a:t>‹#›</a:t>
            </a:r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>
              <a:rPr lang="cs-CZ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290763" y="512763"/>
            <a:ext cx="4562475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400" b="0" i="0" u="none" strike="noStrike"/>
            </a:lvl1pPr>
          </a:lstStyle>
          <a:p>
            <a:pPr indent="0" algn="l">
              <a:lnSpc>
                <a:spcPct val="100000"/>
              </a:lnSpc>
            </a:pPr>
            <a:r>
              <a:rPr lang="en-US" sz="1400" b="0" i="0" u="none" strike="noStrike">
                <a:solidFill>
                  <a:srgbClr val="000000"/>
                </a:solidFill>
              </a:rPr>
              <a:t>AWVS的功能设计非常实用。它专注于发现那些最危险、最常见的漏洞，比如SQL注入和XSS。它的登录态扫描功能也很强大，可以轻松处理需要登录才能访问的页面，确保扫描的完整性。报告生成是全自动的，内容非常详细，不仅告诉你有什么漏洞，还告诉你怎么重现和怎么修复。此外，它还能自动识别目标网站使用的技术栈，从而更精准地匹配相关漏洞，这大大提高了扫描的效率和准确性。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>
              <a:rPr lang="cs-CZ"/>
              <a:t>‹#›</a:t>
            </a:r>
          </a:p>
        </p:txBody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>
              <a:rPr lang="cs-CZ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290763" y="512763"/>
            <a:ext cx="4562475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400" b="0" i="0" u="none" strike="noStrike"/>
            </a:lvl1pPr>
          </a:lstStyle>
          <a:p>
            <a:pPr indent="0" algn="l">
              <a:lnSpc>
                <a:spcPct val="100000"/>
              </a:lnSpc>
            </a:pPr>
            <a:r>
              <a:rPr lang="en-US" sz="1400" b="0" i="0" u="none" strike="noStrike">
                <a:solidFill>
                  <a:srgbClr val="000000"/>
                </a:solidFill>
              </a:rPr>
              <a:t>AWVS的扫描流程设计得非常简洁明了。用户只需要输入目标地址，选择合适的扫描策略，就可以启动扫描。如果目标网站需要登录，也可以很方便地配置认证信息。整个扫描过程是全自动的，用户可以在界面上实时看到扫描进度和已经发现的漏洞。扫描结束后，一份详尽的报告就生成了，用户可以直接根据报告进行漏洞修复工作。这种简洁高效的流程，使得即便是没有太多安全经验的用户也能快速上手。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>
              <a:rPr lang="cs-CZ"/>
              <a:t>‹#›</a:t>
            </a:r>
          </a:p>
        </p:txBody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>
              <a:rPr lang="cs-CZ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400" b="0" i="0" u="none" strike="noStrike"/>
            </a:lvl1pPr>
          </a:lstStyle>
          <a:p>
            <a:pPr indent="0" algn="l">
              <a:lnSpc>
                <a:spcPct val="100000"/>
              </a:lnSpc>
            </a:pPr>
            <a:r>
              <a:rPr lang="en-US" sz="1400" b="0" i="0" u="none" strike="noStrike">
                <a:solidFill>
                  <a:srgbClr val="000000"/>
                </a:solidFill>
              </a:rPr>
              <a:t>最后，我们来做一个总结。AppScan和AWVS都是非常优秀的工具，只是定位不同。AppScan是一个功能全面的“瑞士军刀”，而AWVS是一把锋利的“手术刀”。</a:t>
            </a:r>
          </a:p>
          <a:p>
            <a:pPr indent="0" algn="l">
              <a:lnSpc>
                <a:spcPct val="100000"/>
              </a:lnSpc>
            </a:pPr>
            <a:r>
              <a:rPr lang="en-US" sz="1400" b="0" i="0" u="none" strike="noStrike">
                <a:solidFill>
                  <a:srgbClr val="000000"/>
                </a:solidFill>
              </a:rPr>
              <a:t>在做选择时，建议大家从自身需求出发，考虑应用的复杂度、团队能力和预算。最重要的一点是，没有最好的工具，只有最适合自己的工具。</a:t>
            </a:r>
          </a:p>
          <a:p>
            <a:pPr indent="0" algn="l">
              <a:lnSpc>
                <a:spcPct val="100000"/>
              </a:lnSpc>
            </a:pPr>
            <a:r>
              <a:rPr lang="en-US" sz="1400" b="0" i="0" u="none" strike="noStrike">
                <a:solidFill>
                  <a:srgbClr val="000000"/>
                </a:solidFill>
              </a:rPr>
              <a:t>强烈建议大家下载试用版，亲自体验一下，看看哪款工具更能融入你的工作流程。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>
              <a:rPr lang="cs-CZ"/>
              <a:t>‹#›</a:t>
            </a:r>
          </a:p>
        </p:txBody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>
              <a:rPr lang="cs-CZ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290763" y="512763"/>
            <a:ext cx="4562475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400" b="0" i="0" u="none" strike="noStrike"/>
            </a:lvl1pPr>
          </a:lstStyle>
          <a:p>
            <a:pPr indent="0" algn="l">
              <a:lnSpc>
                <a:spcPct val="100000"/>
              </a:lnSpc>
            </a:pPr>
            <a:r>
              <a:rPr lang="en-US" sz="1400" b="0" i="0" u="none" strike="noStrike">
                <a:solidFill>
                  <a:srgbClr val="000000"/>
                </a:solidFill>
              </a:rPr>
              <a:t>我的分享到此结束，感谢大家的聆听。现在是问答环节，如果大家对今天的内容有任何疑问，或者想进一步探讨关于Web安全测试的话题，都欢迎提出来。谢谢大家！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>
              <a:rPr lang="cs-CZ"/>
              <a:t>‹#›</a:t>
            </a:r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标题幻灯片" type="title">
  <p:cSld name="TITLE">
    <p:spTree>
      <p:nvGrpSpPr>
        <p:cNvPr id="1" name="Shape 1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Shape 30"/>
          <p:cNvSpPr txBox="1">
            <a:spLocks noGrp="1"/>
          </p:cNvSpPr>
          <p:nvPr>
            <p:ph type="ctrTitle"/>
          </p:nvPr>
        </p:nvSpPr>
        <p:spPr>
          <a:xfrm>
            <a:off x="1143000" y="841772"/>
            <a:ext cx="6858000" cy="1790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b" anchorCtr="0">
            <a:normAutofit/>
          </a:bodyPr>
          <a:lstStyle>
            <a:lvl1pPr lv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500"/>
              <a:buFont typeface="Arial"/>
              <a:buNone/>
              <a:defRPr sz="4500"/>
            </a:lvl1pPr>
            <a:lvl2pPr lvl="1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>
            <a:endParaRPr/>
          </a:p>
        </p:txBody>
      </p:sp>
      <p:sp>
        <p:nvSpPr>
          <p:cNvPr id="13" name="Shape 31"/>
          <p:cNvSpPr txBox="1">
            <a:spLocks noGrp="1"/>
          </p:cNvSpPr>
          <p:nvPr>
            <p:ph type="subTitle" idx="1"/>
          </p:nvPr>
        </p:nvSpPr>
        <p:spPr>
          <a:xfrm>
            <a:off x="1143000" y="2701528"/>
            <a:ext cx="6858000" cy="124182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t" anchorCtr="0">
            <a:normAutofit/>
          </a:bodyPr>
          <a:lstStyle>
            <a:lvl1pPr lvl="0" algn="ctr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/>
            </a:lvl1pPr>
            <a:lvl2pPr lvl="1" algn="ctr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500"/>
              <a:buNone/>
              <a:defRPr sz="1500"/>
            </a:lvl2pPr>
            <a:lvl3pPr lvl="2" algn="ctr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/>
            </a:lvl3pPr>
            <a:lvl4pPr lvl="3" algn="ctr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4pPr>
            <a:lvl5pPr lvl="4" algn="ctr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5pPr>
            <a:lvl6pPr lvl="5" algn="ctr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6pPr>
            <a:lvl7pPr lvl="6" algn="ctr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7pPr>
            <a:lvl8pPr lvl="7" algn="ctr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8pPr>
            <a:lvl9pPr lvl="8" algn="ctr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9pPr>
          </a:lstStyle>
          <a:p>
            <a:endParaRPr/>
          </a:p>
        </p:txBody>
      </p:sp>
      <p:sp>
        <p:nvSpPr>
          <p:cNvPr id="14" name="Shape 32"/>
          <p:cNvSpPr txBox="1">
            <a:spLocks noGrp="1"/>
          </p:cNvSpPr>
          <p:nvPr>
            <p:ph type="dt" idx="10"/>
          </p:nvPr>
        </p:nvSpPr>
        <p:spPr>
          <a:xfrm>
            <a:off x="6286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>
            <a:endParaRPr/>
          </a:p>
        </p:txBody>
      </p:sp>
      <p:sp>
        <p:nvSpPr>
          <p:cNvPr id="15" name="Shape 33"/>
          <p:cNvSpPr txBox="1">
            <a:spLocks noGrp="1"/>
          </p:cNvSpPr>
          <p:nvPr>
            <p:ph type="ftr" idx="11"/>
          </p:nvPr>
        </p:nvSpPr>
        <p:spPr>
          <a:xfrm>
            <a:off x="3028950" y="4767263"/>
            <a:ext cx="30861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>
            <a:endParaRPr/>
          </a:p>
        </p:txBody>
      </p:sp>
      <p:sp>
        <p:nvSpPr>
          <p:cNvPr id="16" name="Shape 34"/>
          <p:cNvSpPr txBox="1">
            <a:spLocks noGrp="1"/>
          </p:cNvSpPr>
          <p:nvPr>
            <p:ph type="sldNum" idx="12"/>
          </p:nvPr>
        </p:nvSpPr>
        <p:spPr>
          <a:xfrm>
            <a:off x="64579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C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标题和内容" type="obj">
  <p:cSld name="OBJECT">
    <p:spTree>
      <p:nvGrpSpPr>
        <p:cNvPr id="1" name="Shape 1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" name="Shape 54"/>
          <p:cNvSpPr txBox="1">
            <a:spLocks noGrp="1"/>
          </p:cNvSpPr>
          <p:nvPr>
            <p:ph type="title"/>
          </p:nvPr>
        </p:nvSpPr>
        <p:spPr>
          <a:xfrm>
            <a:off x="628650" y="273844"/>
            <a:ext cx="7886700" cy="99417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>
            <a:endParaRPr/>
          </a:p>
        </p:txBody>
      </p:sp>
      <p:sp>
        <p:nvSpPr>
          <p:cNvPr id="19" name="Shape 55"/>
          <p:cNvSpPr txBox="1">
            <a:spLocks noGrp="1"/>
          </p:cNvSpPr>
          <p:nvPr>
            <p:ph type="body" idx="1"/>
          </p:nvPr>
        </p:nvSpPr>
        <p:spPr>
          <a:xfrm>
            <a:off x="628650" y="1369219"/>
            <a:ext cx="7886700" cy="326350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t" anchorCtr="0">
            <a:normAutofit/>
          </a:bodyPr>
          <a:lstStyle>
            <a:lvl1pPr marL="457200" lvl="0" indent="-31750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1pPr>
            <a:lvl2pPr marL="914400" lvl="1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2pPr>
            <a:lvl3pPr marL="1371600" lvl="2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3pPr>
            <a:lvl4pPr marL="1828800" lvl="3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4pPr>
            <a:lvl5pPr marL="2286000" lvl="4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5pPr>
            <a:lvl6pPr marL="2743200" lvl="5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6pPr>
            <a:lvl7pPr marL="3200400" lvl="6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7pPr>
            <a:lvl8pPr marL="3657600" lvl="7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8pPr>
            <a:lvl9pPr marL="4114800" lvl="8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9pPr>
          </a:lstStyle>
          <a:p>
            <a:endParaRPr/>
          </a:p>
        </p:txBody>
      </p:sp>
      <p:sp>
        <p:nvSpPr>
          <p:cNvPr id="20" name="Shape 56"/>
          <p:cNvSpPr txBox="1">
            <a:spLocks noGrp="1"/>
          </p:cNvSpPr>
          <p:nvPr>
            <p:ph type="dt" idx="10"/>
          </p:nvPr>
        </p:nvSpPr>
        <p:spPr>
          <a:xfrm>
            <a:off x="6286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>
            <a:endParaRPr/>
          </a:p>
        </p:txBody>
      </p:sp>
      <p:sp>
        <p:nvSpPr>
          <p:cNvPr id="21" name="Shape 57"/>
          <p:cNvSpPr txBox="1">
            <a:spLocks noGrp="1"/>
          </p:cNvSpPr>
          <p:nvPr>
            <p:ph type="ftr" idx="11"/>
          </p:nvPr>
        </p:nvSpPr>
        <p:spPr>
          <a:xfrm>
            <a:off x="3028950" y="4767263"/>
            <a:ext cx="30861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>
            <a:endParaRPr/>
          </a:p>
        </p:txBody>
      </p:sp>
      <p:sp>
        <p:nvSpPr>
          <p:cNvPr id="22" name="Shape 58"/>
          <p:cNvSpPr txBox="1">
            <a:spLocks noGrp="1"/>
          </p:cNvSpPr>
          <p:nvPr>
            <p:ph type="sldNum" idx="12"/>
          </p:nvPr>
        </p:nvSpPr>
        <p:spPr>
          <a:xfrm>
            <a:off x="64579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C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节标题" type="secHead">
  <p:cSld name="SECTION_HEADER">
    <p:spTree>
      <p:nvGrpSpPr>
        <p:cNvPr id="1" name="Shape 2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" name="Shape 59"/>
          <p:cNvSpPr txBox="1">
            <a:spLocks noGrp="1"/>
          </p:cNvSpPr>
          <p:nvPr>
            <p:ph type="title"/>
          </p:nvPr>
        </p:nvSpPr>
        <p:spPr>
          <a:xfrm>
            <a:off x="623888" y="1282304"/>
            <a:ext cx="7886700" cy="213955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b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500"/>
              <a:buFont typeface="Arial"/>
              <a:buNone/>
              <a:defRPr sz="4500"/>
            </a:lvl1pPr>
            <a:lvl2pPr lvl="1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>
            <a:endParaRPr/>
          </a:p>
        </p:txBody>
      </p:sp>
      <p:sp>
        <p:nvSpPr>
          <p:cNvPr id="25" name="Shape 60"/>
          <p:cNvSpPr txBox="1">
            <a:spLocks noGrp="1"/>
          </p:cNvSpPr>
          <p:nvPr>
            <p:ph type="body" idx="1"/>
          </p:nvPr>
        </p:nvSpPr>
        <p:spPr>
          <a:xfrm>
            <a:off x="623888" y="3442097"/>
            <a:ext cx="7886700" cy="112514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t" anchorCtr="0">
            <a:normAutofit/>
          </a:bodyPr>
          <a:lstStyle>
            <a:lvl1pPr marL="457200" lvl="0" indent="-22860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rgbClr val="888888"/>
              </a:buClr>
              <a:buSzPts val="1800"/>
              <a:buNone/>
              <a:defRPr sz="1800">
                <a:solidFill>
                  <a:srgbClr val="888888"/>
                </a:solidFill>
              </a:defRPr>
            </a:lvl1pPr>
            <a:lvl2pPr marL="914400" lvl="1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1500"/>
              <a:buNone/>
              <a:defRPr sz="1500">
                <a:solidFill>
                  <a:srgbClr val="888888"/>
                </a:solidFill>
              </a:defRPr>
            </a:lvl2pPr>
            <a:lvl3pPr marL="1371600" lvl="2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3pPr>
            <a:lvl4pPr marL="1828800" lvl="3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1200"/>
              <a:buNone/>
              <a:defRPr sz="1200">
                <a:solidFill>
                  <a:srgbClr val="888888"/>
                </a:solidFill>
              </a:defRPr>
            </a:lvl4pPr>
            <a:lvl5pPr marL="2286000" lvl="4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1200"/>
              <a:buNone/>
              <a:defRPr sz="1200">
                <a:solidFill>
                  <a:srgbClr val="888888"/>
                </a:solidFill>
              </a:defRPr>
            </a:lvl5pPr>
            <a:lvl6pPr marL="2743200" lvl="5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1200"/>
              <a:buNone/>
              <a:defRPr sz="1200">
                <a:solidFill>
                  <a:srgbClr val="888888"/>
                </a:solidFill>
              </a:defRPr>
            </a:lvl6pPr>
            <a:lvl7pPr marL="3200400" lvl="6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1200"/>
              <a:buNone/>
              <a:defRPr sz="1200">
                <a:solidFill>
                  <a:srgbClr val="888888"/>
                </a:solidFill>
              </a:defRPr>
            </a:lvl7pPr>
            <a:lvl8pPr marL="3657600" lvl="7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1200"/>
              <a:buNone/>
              <a:defRPr sz="1200">
                <a:solidFill>
                  <a:srgbClr val="888888"/>
                </a:solidFill>
              </a:defRPr>
            </a:lvl8pPr>
            <a:lvl9pPr marL="4114800" lvl="8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1200"/>
              <a:buNone/>
              <a:defRPr sz="1200">
                <a:solidFill>
                  <a:srgbClr val="888888"/>
                </a:solidFill>
              </a:defRPr>
            </a:lvl9pPr>
          </a:lstStyle>
          <a:p>
            <a:endParaRPr/>
          </a:p>
        </p:txBody>
      </p:sp>
      <p:sp>
        <p:nvSpPr>
          <p:cNvPr id="26" name="Shape 61"/>
          <p:cNvSpPr txBox="1">
            <a:spLocks noGrp="1"/>
          </p:cNvSpPr>
          <p:nvPr>
            <p:ph type="dt" idx="10"/>
          </p:nvPr>
        </p:nvSpPr>
        <p:spPr>
          <a:xfrm>
            <a:off x="6286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>
            <a:endParaRPr/>
          </a:p>
        </p:txBody>
      </p:sp>
      <p:sp>
        <p:nvSpPr>
          <p:cNvPr id="27" name="Shape 62"/>
          <p:cNvSpPr txBox="1">
            <a:spLocks noGrp="1"/>
          </p:cNvSpPr>
          <p:nvPr>
            <p:ph type="ftr" idx="11"/>
          </p:nvPr>
        </p:nvSpPr>
        <p:spPr>
          <a:xfrm>
            <a:off x="3028950" y="4767263"/>
            <a:ext cx="30861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>
            <a:endParaRPr/>
          </a:p>
        </p:txBody>
      </p:sp>
      <p:sp>
        <p:nvSpPr>
          <p:cNvPr id="28" name="Shape 63"/>
          <p:cNvSpPr txBox="1">
            <a:spLocks noGrp="1"/>
          </p:cNvSpPr>
          <p:nvPr>
            <p:ph type="sldNum" idx="12"/>
          </p:nvPr>
        </p:nvSpPr>
        <p:spPr>
          <a:xfrm>
            <a:off x="64579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C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两栏内容" type="twoObj">
  <p:cSld name="TWO_OBJECTS">
    <p:spTree>
      <p:nvGrpSpPr>
        <p:cNvPr id="1" name="Shape 2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" name="Shape 9"/>
          <p:cNvSpPr txBox="1">
            <a:spLocks noGrp="1"/>
          </p:cNvSpPr>
          <p:nvPr>
            <p:ph type="title"/>
          </p:nvPr>
        </p:nvSpPr>
        <p:spPr>
          <a:xfrm>
            <a:off x="628650" y="273844"/>
            <a:ext cx="7886700" cy="99417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>
            <a:endParaRPr/>
          </a:p>
        </p:txBody>
      </p:sp>
      <p:sp>
        <p:nvSpPr>
          <p:cNvPr id="31" name="Shape 10"/>
          <p:cNvSpPr txBox="1">
            <a:spLocks noGrp="1"/>
          </p:cNvSpPr>
          <p:nvPr>
            <p:ph type="body" idx="1"/>
          </p:nvPr>
        </p:nvSpPr>
        <p:spPr>
          <a:xfrm>
            <a:off x="628650" y="1369219"/>
            <a:ext cx="3886200" cy="326350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t" anchorCtr="0">
            <a:normAutofit/>
          </a:bodyPr>
          <a:lstStyle>
            <a:lvl1pPr marL="457200" lvl="0" indent="-31750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1pPr>
            <a:lvl2pPr marL="914400" lvl="1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2pPr>
            <a:lvl3pPr marL="1371600" lvl="2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3pPr>
            <a:lvl4pPr marL="1828800" lvl="3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4pPr>
            <a:lvl5pPr marL="2286000" lvl="4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5pPr>
            <a:lvl6pPr marL="2743200" lvl="5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6pPr>
            <a:lvl7pPr marL="3200400" lvl="6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7pPr>
            <a:lvl8pPr marL="3657600" lvl="7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8pPr>
            <a:lvl9pPr marL="4114800" lvl="8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9pPr>
          </a:lstStyle>
          <a:p>
            <a:endParaRPr/>
          </a:p>
        </p:txBody>
      </p:sp>
      <p:sp>
        <p:nvSpPr>
          <p:cNvPr id="32" name="Shape 11"/>
          <p:cNvSpPr txBox="1">
            <a:spLocks noGrp="1"/>
          </p:cNvSpPr>
          <p:nvPr>
            <p:ph type="body" idx="2"/>
          </p:nvPr>
        </p:nvSpPr>
        <p:spPr>
          <a:xfrm>
            <a:off x="4629150" y="1369219"/>
            <a:ext cx="3886200" cy="326350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t" anchorCtr="0">
            <a:normAutofit/>
          </a:bodyPr>
          <a:lstStyle>
            <a:lvl1pPr marL="457200" lvl="0" indent="-31750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1pPr>
            <a:lvl2pPr marL="914400" lvl="1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2pPr>
            <a:lvl3pPr marL="1371600" lvl="2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3pPr>
            <a:lvl4pPr marL="1828800" lvl="3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4pPr>
            <a:lvl5pPr marL="2286000" lvl="4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5pPr>
            <a:lvl6pPr marL="2743200" lvl="5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6pPr>
            <a:lvl7pPr marL="3200400" lvl="6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7pPr>
            <a:lvl8pPr marL="3657600" lvl="7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8pPr>
            <a:lvl9pPr marL="4114800" lvl="8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9pPr>
          </a:lstStyle>
          <a:p>
            <a:endParaRPr/>
          </a:p>
        </p:txBody>
      </p:sp>
      <p:sp>
        <p:nvSpPr>
          <p:cNvPr id="33" name="Shape 12"/>
          <p:cNvSpPr txBox="1">
            <a:spLocks noGrp="1"/>
          </p:cNvSpPr>
          <p:nvPr>
            <p:ph type="dt" idx="10"/>
          </p:nvPr>
        </p:nvSpPr>
        <p:spPr>
          <a:xfrm>
            <a:off x="6286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>
            <a:endParaRPr/>
          </a:p>
        </p:txBody>
      </p:sp>
      <p:sp>
        <p:nvSpPr>
          <p:cNvPr id="34" name="Shape 13"/>
          <p:cNvSpPr txBox="1">
            <a:spLocks noGrp="1"/>
          </p:cNvSpPr>
          <p:nvPr>
            <p:ph type="ftr" idx="11"/>
          </p:nvPr>
        </p:nvSpPr>
        <p:spPr>
          <a:xfrm>
            <a:off x="3028950" y="4767263"/>
            <a:ext cx="30861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>
            <a:endParaRPr/>
          </a:p>
        </p:txBody>
      </p:sp>
      <p:sp>
        <p:nvSpPr>
          <p:cNvPr id="35" name="Shape 14"/>
          <p:cNvSpPr txBox="1">
            <a:spLocks noGrp="1"/>
          </p:cNvSpPr>
          <p:nvPr>
            <p:ph type="sldNum" idx="12"/>
          </p:nvPr>
        </p:nvSpPr>
        <p:spPr>
          <a:xfrm>
            <a:off x="64579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C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比较" type="twoTxTwoObj">
  <p:cSld name="TWO_OBJECTS_WITH_TEXT">
    <p:spTree>
      <p:nvGrpSpPr>
        <p:cNvPr id="1" name="Shape 3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" name="Shape 35"/>
          <p:cNvSpPr txBox="1">
            <a:spLocks noGrp="1"/>
          </p:cNvSpPr>
          <p:nvPr>
            <p:ph type="title"/>
          </p:nvPr>
        </p:nvSpPr>
        <p:spPr>
          <a:xfrm>
            <a:off x="629841" y="273844"/>
            <a:ext cx="7886700" cy="99417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>
            <a:endParaRPr/>
          </a:p>
        </p:txBody>
      </p:sp>
      <p:sp>
        <p:nvSpPr>
          <p:cNvPr id="38" name="Shape 36"/>
          <p:cNvSpPr txBox="1">
            <a:spLocks noGrp="1"/>
          </p:cNvSpPr>
          <p:nvPr>
            <p:ph type="body" idx="1"/>
          </p:nvPr>
        </p:nvSpPr>
        <p:spPr>
          <a:xfrm>
            <a:off x="629841" y="1260872"/>
            <a:ext cx="3868340" cy="61793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b" anchorCtr="0">
            <a:normAutofit/>
          </a:bodyPr>
          <a:lstStyle>
            <a:lvl1pPr marL="457200" lvl="0" indent="-22860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 b="1"/>
            </a:lvl1pPr>
            <a:lvl2pPr marL="914400" lvl="1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500"/>
              <a:buNone/>
              <a:defRPr sz="1500" b="1"/>
            </a:lvl2pPr>
            <a:lvl3pPr marL="1371600" lvl="2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 b="1"/>
            </a:lvl3pPr>
            <a:lvl4pPr marL="1828800" lvl="3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 b="1"/>
            </a:lvl4pPr>
            <a:lvl5pPr marL="2286000" lvl="4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 b="1"/>
            </a:lvl5pPr>
            <a:lvl6pPr marL="2743200" lvl="5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 b="1"/>
            </a:lvl6pPr>
            <a:lvl7pPr marL="3200400" lvl="6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 b="1"/>
            </a:lvl7pPr>
            <a:lvl8pPr marL="3657600" lvl="7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 b="1"/>
            </a:lvl8pPr>
            <a:lvl9pPr marL="4114800" lvl="8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 b="1"/>
            </a:lvl9pPr>
          </a:lstStyle>
          <a:p>
            <a:endParaRPr/>
          </a:p>
        </p:txBody>
      </p:sp>
      <p:sp>
        <p:nvSpPr>
          <p:cNvPr id="39" name="Shape 37"/>
          <p:cNvSpPr txBox="1">
            <a:spLocks noGrp="1"/>
          </p:cNvSpPr>
          <p:nvPr>
            <p:ph type="body" idx="2"/>
          </p:nvPr>
        </p:nvSpPr>
        <p:spPr>
          <a:xfrm>
            <a:off x="629841" y="1878806"/>
            <a:ext cx="3868340" cy="276344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t" anchorCtr="0">
            <a:normAutofit/>
          </a:bodyPr>
          <a:lstStyle>
            <a:lvl1pPr marL="457200" lvl="0" indent="-31750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1pPr>
            <a:lvl2pPr marL="914400" lvl="1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2pPr>
            <a:lvl3pPr marL="1371600" lvl="2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3pPr>
            <a:lvl4pPr marL="1828800" lvl="3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4pPr>
            <a:lvl5pPr marL="2286000" lvl="4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5pPr>
            <a:lvl6pPr marL="2743200" lvl="5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6pPr>
            <a:lvl7pPr marL="3200400" lvl="6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7pPr>
            <a:lvl8pPr marL="3657600" lvl="7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8pPr>
            <a:lvl9pPr marL="4114800" lvl="8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9pPr>
          </a:lstStyle>
          <a:p>
            <a:endParaRPr/>
          </a:p>
        </p:txBody>
      </p:sp>
      <p:sp>
        <p:nvSpPr>
          <p:cNvPr id="40" name="Shape 38"/>
          <p:cNvSpPr txBox="1">
            <a:spLocks noGrp="1"/>
          </p:cNvSpPr>
          <p:nvPr>
            <p:ph type="body" idx="3"/>
          </p:nvPr>
        </p:nvSpPr>
        <p:spPr>
          <a:xfrm>
            <a:off x="4629150" y="1260872"/>
            <a:ext cx="3887391" cy="61793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b" anchorCtr="0">
            <a:normAutofit/>
          </a:bodyPr>
          <a:lstStyle>
            <a:lvl1pPr marL="457200" lvl="0" indent="-22860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 b="1"/>
            </a:lvl1pPr>
            <a:lvl2pPr marL="914400" lvl="1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500"/>
              <a:buNone/>
              <a:defRPr sz="1500" b="1"/>
            </a:lvl2pPr>
            <a:lvl3pPr marL="1371600" lvl="2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 b="1"/>
            </a:lvl3pPr>
            <a:lvl4pPr marL="1828800" lvl="3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 b="1"/>
            </a:lvl4pPr>
            <a:lvl5pPr marL="2286000" lvl="4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 b="1"/>
            </a:lvl5pPr>
            <a:lvl6pPr marL="2743200" lvl="5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 b="1"/>
            </a:lvl6pPr>
            <a:lvl7pPr marL="3200400" lvl="6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 b="1"/>
            </a:lvl7pPr>
            <a:lvl8pPr marL="3657600" lvl="7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 b="1"/>
            </a:lvl8pPr>
            <a:lvl9pPr marL="4114800" lvl="8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 b="1"/>
            </a:lvl9pPr>
          </a:lstStyle>
          <a:p>
            <a:endParaRPr/>
          </a:p>
        </p:txBody>
      </p:sp>
      <p:sp>
        <p:nvSpPr>
          <p:cNvPr id="41" name="Shape 39"/>
          <p:cNvSpPr txBox="1">
            <a:spLocks noGrp="1"/>
          </p:cNvSpPr>
          <p:nvPr>
            <p:ph type="body" idx="4"/>
          </p:nvPr>
        </p:nvSpPr>
        <p:spPr>
          <a:xfrm>
            <a:off x="4629150" y="1878806"/>
            <a:ext cx="3887391" cy="276344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t" anchorCtr="0">
            <a:normAutofit/>
          </a:bodyPr>
          <a:lstStyle>
            <a:lvl1pPr marL="457200" lvl="0" indent="-31750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1pPr>
            <a:lvl2pPr marL="914400" lvl="1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2pPr>
            <a:lvl3pPr marL="1371600" lvl="2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3pPr>
            <a:lvl4pPr marL="1828800" lvl="3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4pPr>
            <a:lvl5pPr marL="2286000" lvl="4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5pPr>
            <a:lvl6pPr marL="2743200" lvl="5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6pPr>
            <a:lvl7pPr marL="3200400" lvl="6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7pPr>
            <a:lvl8pPr marL="3657600" lvl="7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8pPr>
            <a:lvl9pPr marL="4114800" lvl="8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9pPr>
          </a:lstStyle>
          <a:p>
            <a:endParaRPr/>
          </a:p>
        </p:txBody>
      </p:sp>
      <p:sp>
        <p:nvSpPr>
          <p:cNvPr id="42" name="Shape 40"/>
          <p:cNvSpPr txBox="1">
            <a:spLocks noGrp="1"/>
          </p:cNvSpPr>
          <p:nvPr>
            <p:ph type="dt" idx="10"/>
          </p:nvPr>
        </p:nvSpPr>
        <p:spPr>
          <a:xfrm>
            <a:off x="6286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>
            <a:endParaRPr/>
          </a:p>
        </p:txBody>
      </p:sp>
      <p:sp>
        <p:nvSpPr>
          <p:cNvPr id="43" name="Shape 41"/>
          <p:cNvSpPr txBox="1">
            <a:spLocks noGrp="1"/>
          </p:cNvSpPr>
          <p:nvPr>
            <p:ph type="ftr" idx="11"/>
          </p:nvPr>
        </p:nvSpPr>
        <p:spPr>
          <a:xfrm>
            <a:off x="3028950" y="4767263"/>
            <a:ext cx="30861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>
            <a:endParaRPr/>
          </a:p>
        </p:txBody>
      </p:sp>
      <p:sp>
        <p:nvSpPr>
          <p:cNvPr id="44" name="Shape 42"/>
          <p:cNvSpPr txBox="1">
            <a:spLocks noGrp="1"/>
          </p:cNvSpPr>
          <p:nvPr>
            <p:ph type="sldNum" idx="12"/>
          </p:nvPr>
        </p:nvSpPr>
        <p:spPr>
          <a:xfrm>
            <a:off x="64579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C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仅标题" type="titleOnly">
  <p:cSld name="TITLE_ONLY">
    <p:spTree>
      <p:nvGrpSpPr>
        <p:cNvPr id="1" name="Shape 4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6" name="Shape 20"/>
          <p:cNvSpPr txBox="1">
            <a:spLocks noGrp="1"/>
          </p:cNvSpPr>
          <p:nvPr>
            <p:ph type="title"/>
          </p:nvPr>
        </p:nvSpPr>
        <p:spPr>
          <a:xfrm>
            <a:off x="628650" y="273844"/>
            <a:ext cx="7886700" cy="99417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>
            <a:endParaRPr/>
          </a:p>
        </p:txBody>
      </p:sp>
      <p:sp>
        <p:nvSpPr>
          <p:cNvPr id="47" name="Shape 21"/>
          <p:cNvSpPr txBox="1">
            <a:spLocks noGrp="1"/>
          </p:cNvSpPr>
          <p:nvPr>
            <p:ph type="dt" idx="10"/>
          </p:nvPr>
        </p:nvSpPr>
        <p:spPr>
          <a:xfrm>
            <a:off x="6286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>
            <a:endParaRPr/>
          </a:p>
        </p:txBody>
      </p:sp>
      <p:sp>
        <p:nvSpPr>
          <p:cNvPr id="48" name="Shape 22"/>
          <p:cNvSpPr txBox="1">
            <a:spLocks noGrp="1"/>
          </p:cNvSpPr>
          <p:nvPr>
            <p:ph type="ftr" idx="11"/>
          </p:nvPr>
        </p:nvSpPr>
        <p:spPr>
          <a:xfrm>
            <a:off x="3028950" y="4767263"/>
            <a:ext cx="30861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>
            <a:endParaRPr/>
          </a:p>
        </p:txBody>
      </p:sp>
      <p:sp>
        <p:nvSpPr>
          <p:cNvPr id="49" name="Shape 23"/>
          <p:cNvSpPr txBox="1">
            <a:spLocks noGrp="1"/>
          </p:cNvSpPr>
          <p:nvPr>
            <p:ph type="sldNum" idx="12"/>
          </p:nvPr>
        </p:nvSpPr>
        <p:spPr>
          <a:xfrm>
            <a:off x="64579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C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空白" type="blank">
  <p:cSld name="BLANK">
    <p:spTree>
      <p:nvGrpSpPr>
        <p:cNvPr id="1" name="Shape 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" name="Shape 6"/>
          <p:cNvSpPr txBox="1">
            <a:spLocks noGrp="1"/>
          </p:cNvSpPr>
          <p:nvPr>
            <p:ph type="dt" idx="10"/>
          </p:nvPr>
        </p:nvSpPr>
        <p:spPr>
          <a:xfrm>
            <a:off x="6286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>
            <a:endParaRPr/>
          </a:p>
        </p:txBody>
      </p:sp>
      <p:sp>
        <p:nvSpPr>
          <p:cNvPr id="52" name="Shape 7"/>
          <p:cNvSpPr txBox="1">
            <a:spLocks noGrp="1"/>
          </p:cNvSpPr>
          <p:nvPr>
            <p:ph type="ftr" idx="11"/>
          </p:nvPr>
        </p:nvSpPr>
        <p:spPr>
          <a:xfrm>
            <a:off x="3028950" y="4767263"/>
            <a:ext cx="30861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>
            <a:endParaRPr/>
          </a:p>
        </p:txBody>
      </p:sp>
      <p:sp>
        <p:nvSpPr>
          <p:cNvPr id="53" name="Shape 8"/>
          <p:cNvSpPr txBox="1">
            <a:spLocks noGrp="1"/>
          </p:cNvSpPr>
          <p:nvPr>
            <p:ph type="sldNum" idx="12"/>
          </p:nvPr>
        </p:nvSpPr>
        <p:spPr>
          <a:xfrm>
            <a:off x="64579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C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内容与标题" type="objTx">
  <p:cSld name="OBJECT_WITH_CAPTION_TEXT">
    <p:spTree>
      <p:nvGrpSpPr>
        <p:cNvPr id="1" name="Shape 5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5" name="Shape 43"/>
          <p:cNvSpPr txBox="1">
            <a:spLocks noGrp="1"/>
          </p:cNvSpPr>
          <p:nvPr>
            <p:ph type="title"/>
          </p:nvPr>
        </p:nvSpPr>
        <p:spPr>
          <a:xfrm>
            <a:off x="629841" y="342900"/>
            <a:ext cx="2949178" cy="12001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b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None/>
              <a:defRPr sz="2400"/>
            </a:lvl1pPr>
            <a:lvl2pPr lvl="1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>
            <a:endParaRPr/>
          </a:p>
        </p:txBody>
      </p:sp>
      <p:sp>
        <p:nvSpPr>
          <p:cNvPr id="56" name="Shape 44"/>
          <p:cNvSpPr txBox="1">
            <a:spLocks noGrp="1"/>
          </p:cNvSpPr>
          <p:nvPr>
            <p:ph type="body" idx="1"/>
          </p:nvPr>
        </p:nvSpPr>
        <p:spPr>
          <a:xfrm>
            <a:off x="3887391" y="740569"/>
            <a:ext cx="4629150" cy="365521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t" anchorCtr="0">
            <a:normAutofit/>
          </a:bodyPr>
          <a:lstStyle>
            <a:lvl1pPr marL="457200" lvl="0" indent="-38100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2400"/>
            </a:lvl1pPr>
            <a:lvl2pPr marL="914400" lvl="1" indent="-36195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100"/>
              <a:buChar char="•"/>
              <a:defRPr sz="2100"/>
            </a:lvl2pPr>
            <a:lvl3pPr marL="1371600" lvl="2" indent="-3429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3pPr>
            <a:lvl4pPr marL="1828800" lvl="3" indent="-32385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500"/>
              <a:buChar char="•"/>
              <a:defRPr sz="1500"/>
            </a:lvl4pPr>
            <a:lvl5pPr marL="2286000" lvl="4" indent="-32385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500"/>
              <a:buChar char="•"/>
              <a:defRPr sz="1500"/>
            </a:lvl5pPr>
            <a:lvl6pPr marL="2743200" lvl="5" indent="-32385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500"/>
              <a:buChar char="•"/>
              <a:defRPr sz="1500"/>
            </a:lvl6pPr>
            <a:lvl7pPr marL="3200400" lvl="6" indent="-32385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500"/>
              <a:buChar char="•"/>
              <a:defRPr sz="1500"/>
            </a:lvl7pPr>
            <a:lvl8pPr marL="3657600" lvl="7" indent="-32385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500"/>
              <a:buChar char="•"/>
              <a:defRPr sz="1500"/>
            </a:lvl8pPr>
            <a:lvl9pPr marL="4114800" lvl="8" indent="-32385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500"/>
              <a:buChar char="•"/>
              <a:defRPr sz="1500"/>
            </a:lvl9pPr>
          </a:lstStyle>
          <a:p>
            <a:endParaRPr/>
          </a:p>
        </p:txBody>
      </p:sp>
      <p:sp>
        <p:nvSpPr>
          <p:cNvPr id="57" name="Shape 45"/>
          <p:cNvSpPr txBox="1">
            <a:spLocks noGrp="1"/>
          </p:cNvSpPr>
          <p:nvPr>
            <p:ph type="body" idx="2"/>
          </p:nvPr>
        </p:nvSpPr>
        <p:spPr>
          <a:xfrm>
            <a:off x="629841" y="1543050"/>
            <a:ext cx="2949178" cy="285869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t" anchorCtr="0">
            <a:normAutofit/>
          </a:bodyPr>
          <a:lstStyle>
            <a:lvl1pPr marL="457200" lvl="0" indent="-22860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1pPr>
            <a:lvl2pPr marL="914400" lvl="1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100"/>
              <a:buNone/>
              <a:defRPr sz="1100"/>
            </a:lvl2pPr>
            <a:lvl3pPr marL="1371600" lvl="2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3pPr>
            <a:lvl4pPr marL="1828800" lvl="3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800"/>
              <a:buNone/>
              <a:defRPr sz="800"/>
            </a:lvl4pPr>
            <a:lvl5pPr marL="2286000" lvl="4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800"/>
              <a:buNone/>
              <a:defRPr sz="800"/>
            </a:lvl5pPr>
            <a:lvl6pPr marL="2743200" lvl="5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800"/>
              <a:buNone/>
              <a:defRPr sz="800"/>
            </a:lvl6pPr>
            <a:lvl7pPr marL="3200400" lvl="6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800"/>
              <a:buNone/>
              <a:defRPr sz="800"/>
            </a:lvl7pPr>
            <a:lvl8pPr marL="3657600" lvl="7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800"/>
              <a:buNone/>
              <a:defRPr sz="800"/>
            </a:lvl8pPr>
            <a:lvl9pPr marL="4114800" lvl="8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800"/>
              <a:buNone/>
              <a:defRPr sz="800"/>
            </a:lvl9pPr>
          </a:lstStyle>
          <a:p>
            <a:endParaRPr/>
          </a:p>
        </p:txBody>
      </p:sp>
      <p:sp>
        <p:nvSpPr>
          <p:cNvPr id="58" name="Shape 46"/>
          <p:cNvSpPr txBox="1">
            <a:spLocks noGrp="1"/>
          </p:cNvSpPr>
          <p:nvPr>
            <p:ph type="dt" idx="10"/>
          </p:nvPr>
        </p:nvSpPr>
        <p:spPr>
          <a:xfrm>
            <a:off x="6286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>
            <a:endParaRPr/>
          </a:p>
        </p:txBody>
      </p:sp>
      <p:sp>
        <p:nvSpPr>
          <p:cNvPr id="59" name="Shape 47"/>
          <p:cNvSpPr txBox="1">
            <a:spLocks noGrp="1"/>
          </p:cNvSpPr>
          <p:nvPr>
            <p:ph type="ftr" idx="11"/>
          </p:nvPr>
        </p:nvSpPr>
        <p:spPr>
          <a:xfrm>
            <a:off x="3028950" y="4767263"/>
            <a:ext cx="30861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>
            <a:endParaRPr/>
          </a:p>
        </p:txBody>
      </p:sp>
      <p:sp>
        <p:nvSpPr>
          <p:cNvPr id="60" name="Shape 48"/>
          <p:cNvSpPr txBox="1">
            <a:spLocks noGrp="1"/>
          </p:cNvSpPr>
          <p:nvPr>
            <p:ph type="sldNum" idx="12"/>
          </p:nvPr>
        </p:nvSpPr>
        <p:spPr>
          <a:xfrm>
            <a:off x="64579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C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图片与标题" type="picTx">
  <p:cSld name="PICTURE_WITH_CAPTION_TEXT">
    <p:spTree>
      <p:nvGrpSpPr>
        <p:cNvPr id="1" name="Shape 6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2" name="Shape 24"/>
          <p:cNvSpPr txBox="1">
            <a:spLocks noGrp="1"/>
          </p:cNvSpPr>
          <p:nvPr>
            <p:ph type="title"/>
          </p:nvPr>
        </p:nvSpPr>
        <p:spPr>
          <a:xfrm>
            <a:off x="629841" y="342900"/>
            <a:ext cx="2949178" cy="12001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b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None/>
              <a:defRPr sz="2400"/>
            </a:lvl1pPr>
            <a:lvl2pPr lvl="1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>
            <a:endParaRPr/>
          </a:p>
        </p:txBody>
      </p:sp>
      <p:sp>
        <p:nvSpPr>
          <p:cNvPr id="63" name="Shape 25"/>
          <p:cNvSpPr>
            <a:spLocks noGrp="1"/>
          </p:cNvSpPr>
          <p:nvPr>
            <p:ph type="pic" idx="2"/>
          </p:nvPr>
        </p:nvSpPr>
        <p:spPr>
          <a:xfrm>
            <a:off x="3887391" y="740569"/>
            <a:ext cx="4629150" cy="3655219"/>
          </a:xfrm>
          <a:prstGeom prst="rect">
            <a:avLst/>
          </a:prstGeom>
          <a:noFill/>
          <a:ln>
            <a:noFill/>
          </a:ln>
        </p:spPr>
      </p:sp>
      <p:sp>
        <p:nvSpPr>
          <p:cNvPr id="64" name="Shape 26"/>
          <p:cNvSpPr txBox="1">
            <a:spLocks noGrp="1"/>
          </p:cNvSpPr>
          <p:nvPr>
            <p:ph type="body" idx="1"/>
          </p:nvPr>
        </p:nvSpPr>
        <p:spPr>
          <a:xfrm>
            <a:off x="629841" y="1543050"/>
            <a:ext cx="2949178" cy="285869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t" anchorCtr="0">
            <a:normAutofit/>
          </a:bodyPr>
          <a:lstStyle>
            <a:lvl1pPr marL="457200" lvl="0" indent="-22860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1pPr>
            <a:lvl2pPr marL="914400" lvl="1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100"/>
              <a:buNone/>
              <a:defRPr sz="1100"/>
            </a:lvl2pPr>
            <a:lvl3pPr marL="1371600" lvl="2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3pPr>
            <a:lvl4pPr marL="1828800" lvl="3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800"/>
              <a:buNone/>
              <a:defRPr sz="800"/>
            </a:lvl4pPr>
            <a:lvl5pPr marL="2286000" lvl="4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800"/>
              <a:buNone/>
              <a:defRPr sz="800"/>
            </a:lvl5pPr>
            <a:lvl6pPr marL="2743200" lvl="5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800"/>
              <a:buNone/>
              <a:defRPr sz="800"/>
            </a:lvl6pPr>
            <a:lvl7pPr marL="3200400" lvl="6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800"/>
              <a:buNone/>
              <a:defRPr sz="800"/>
            </a:lvl7pPr>
            <a:lvl8pPr marL="3657600" lvl="7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800"/>
              <a:buNone/>
              <a:defRPr sz="800"/>
            </a:lvl8pPr>
            <a:lvl9pPr marL="4114800" lvl="8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800"/>
              <a:buNone/>
              <a:defRPr sz="800"/>
            </a:lvl9pPr>
          </a:lstStyle>
          <a:p>
            <a:endParaRPr/>
          </a:p>
        </p:txBody>
      </p:sp>
      <p:sp>
        <p:nvSpPr>
          <p:cNvPr id="65" name="Shape 27"/>
          <p:cNvSpPr txBox="1">
            <a:spLocks noGrp="1"/>
          </p:cNvSpPr>
          <p:nvPr>
            <p:ph type="dt" idx="10"/>
          </p:nvPr>
        </p:nvSpPr>
        <p:spPr>
          <a:xfrm>
            <a:off x="6286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>
            <a:endParaRPr/>
          </a:p>
        </p:txBody>
      </p:sp>
      <p:sp>
        <p:nvSpPr>
          <p:cNvPr id="66" name="Shape 28"/>
          <p:cNvSpPr txBox="1">
            <a:spLocks noGrp="1"/>
          </p:cNvSpPr>
          <p:nvPr>
            <p:ph type="ftr" idx="11"/>
          </p:nvPr>
        </p:nvSpPr>
        <p:spPr>
          <a:xfrm>
            <a:off x="3028950" y="4767263"/>
            <a:ext cx="30861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>
            <a:endParaRPr/>
          </a:p>
        </p:txBody>
      </p:sp>
      <p:sp>
        <p:nvSpPr>
          <p:cNvPr id="67" name="Shape 29"/>
          <p:cNvSpPr txBox="1">
            <a:spLocks noGrp="1"/>
          </p:cNvSpPr>
          <p:nvPr>
            <p:ph type="sldNum" idx="12"/>
          </p:nvPr>
        </p:nvSpPr>
        <p:spPr>
          <a:xfrm>
            <a:off x="64579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C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标题和竖排文字" type="vertTx">
  <p:cSld name="VERTICAL_TEXT">
    <p:spTree>
      <p:nvGrpSpPr>
        <p:cNvPr id="1" name="Shape 6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9" name="Shape 49"/>
          <p:cNvSpPr txBox="1">
            <a:spLocks noGrp="1"/>
          </p:cNvSpPr>
          <p:nvPr>
            <p:ph type="title"/>
          </p:nvPr>
        </p:nvSpPr>
        <p:spPr>
          <a:xfrm>
            <a:off x="628650" y="273844"/>
            <a:ext cx="7886700" cy="99417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>
            <a:endParaRPr/>
          </a:p>
        </p:txBody>
      </p:sp>
      <p:sp>
        <p:nvSpPr>
          <p:cNvPr id="70" name="Shape 50"/>
          <p:cNvSpPr txBox="1">
            <a:spLocks noGrp="1"/>
          </p:cNvSpPr>
          <p:nvPr>
            <p:ph type="body" idx="1"/>
          </p:nvPr>
        </p:nvSpPr>
        <p:spPr>
          <a:xfrm rot="5400000">
            <a:off x="2940248" y="-942379"/>
            <a:ext cx="3263504" cy="7886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t" anchorCtr="0">
            <a:normAutofit/>
          </a:bodyPr>
          <a:lstStyle>
            <a:lvl1pPr marL="457200" lvl="0" indent="-31750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1pPr>
            <a:lvl2pPr marL="914400" lvl="1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2pPr>
            <a:lvl3pPr marL="1371600" lvl="2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3pPr>
            <a:lvl4pPr marL="1828800" lvl="3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4pPr>
            <a:lvl5pPr marL="2286000" lvl="4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5pPr>
            <a:lvl6pPr marL="2743200" lvl="5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6pPr>
            <a:lvl7pPr marL="3200400" lvl="6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7pPr>
            <a:lvl8pPr marL="3657600" lvl="7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8pPr>
            <a:lvl9pPr marL="4114800" lvl="8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9pPr>
          </a:lstStyle>
          <a:p>
            <a:endParaRPr/>
          </a:p>
        </p:txBody>
      </p:sp>
      <p:sp>
        <p:nvSpPr>
          <p:cNvPr id="71" name="Shape 51"/>
          <p:cNvSpPr txBox="1">
            <a:spLocks noGrp="1"/>
          </p:cNvSpPr>
          <p:nvPr>
            <p:ph type="dt" idx="10"/>
          </p:nvPr>
        </p:nvSpPr>
        <p:spPr>
          <a:xfrm>
            <a:off x="6286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>
            <a:endParaRPr/>
          </a:p>
        </p:txBody>
      </p:sp>
      <p:sp>
        <p:nvSpPr>
          <p:cNvPr id="72" name="Shape 52"/>
          <p:cNvSpPr txBox="1">
            <a:spLocks noGrp="1"/>
          </p:cNvSpPr>
          <p:nvPr>
            <p:ph type="ftr" idx="11"/>
          </p:nvPr>
        </p:nvSpPr>
        <p:spPr>
          <a:xfrm>
            <a:off x="3028950" y="4767263"/>
            <a:ext cx="30861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>
            <a:endParaRPr/>
          </a:p>
        </p:txBody>
      </p:sp>
      <p:sp>
        <p:nvSpPr>
          <p:cNvPr id="73" name="Shape 53"/>
          <p:cNvSpPr txBox="1">
            <a:spLocks noGrp="1"/>
          </p:cNvSpPr>
          <p:nvPr>
            <p:ph type="sldNum" idx="12"/>
          </p:nvPr>
        </p:nvSpPr>
        <p:spPr>
          <a:xfrm>
            <a:off x="64579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C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竖排标题与文本" type="vertTitleAndTx">
  <p:cSld name="VERTICAL_TITLE_AND_VERTICAL_TEXT">
    <p:spTree>
      <p:nvGrpSpPr>
        <p:cNvPr id="1" name="Shape 7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5" name="Shape 15"/>
          <p:cNvSpPr txBox="1">
            <a:spLocks noGrp="1"/>
          </p:cNvSpPr>
          <p:nvPr>
            <p:ph type="title"/>
          </p:nvPr>
        </p:nvSpPr>
        <p:spPr>
          <a:xfrm rot="5400000">
            <a:off x="5350073" y="1467445"/>
            <a:ext cx="4358879" cy="197167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>
            <a:endParaRPr/>
          </a:p>
        </p:txBody>
      </p:sp>
      <p:sp>
        <p:nvSpPr>
          <p:cNvPr id="76" name="Shape 16"/>
          <p:cNvSpPr txBox="1">
            <a:spLocks noGrp="1"/>
          </p:cNvSpPr>
          <p:nvPr>
            <p:ph type="body" idx="1"/>
          </p:nvPr>
        </p:nvSpPr>
        <p:spPr>
          <a:xfrm rot="5400000">
            <a:off x="1349573" y="-447080"/>
            <a:ext cx="4358879" cy="58007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t" anchorCtr="0">
            <a:normAutofit/>
          </a:bodyPr>
          <a:lstStyle>
            <a:lvl1pPr marL="457200" lvl="0" indent="-31750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1pPr>
            <a:lvl2pPr marL="914400" lvl="1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2pPr>
            <a:lvl3pPr marL="1371600" lvl="2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3pPr>
            <a:lvl4pPr marL="1828800" lvl="3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4pPr>
            <a:lvl5pPr marL="2286000" lvl="4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5pPr>
            <a:lvl6pPr marL="2743200" lvl="5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6pPr>
            <a:lvl7pPr marL="3200400" lvl="6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7pPr>
            <a:lvl8pPr marL="3657600" lvl="7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8pPr>
            <a:lvl9pPr marL="4114800" lvl="8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9pPr>
          </a:lstStyle>
          <a:p>
            <a:endParaRPr/>
          </a:p>
        </p:txBody>
      </p:sp>
      <p:sp>
        <p:nvSpPr>
          <p:cNvPr id="77" name="Shape 17"/>
          <p:cNvSpPr txBox="1">
            <a:spLocks noGrp="1"/>
          </p:cNvSpPr>
          <p:nvPr>
            <p:ph type="dt" idx="10"/>
          </p:nvPr>
        </p:nvSpPr>
        <p:spPr>
          <a:xfrm>
            <a:off x="6286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>
            <a:endParaRPr/>
          </a:p>
        </p:txBody>
      </p:sp>
      <p:sp>
        <p:nvSpPr>
          <p:cNvPr id="78" name="Shape 18"/>
          <p:cNvSpPr txBox="1">
            <a:spLocks noGrp="1"/>
          </p:cNvSpPr>
          <p:nvPr>
            <p:ph type="ftr" idx="11"/>
          </p:nvPr>
        </p:nvSpPr>
        <p:spPr>
          <a:xfrm>
            <a:off x="3028950" y="4767263"/>
            <a:ext cx="30861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>
            <a:endParaRPr/>
          </a:p>
        </p:txBody>
      </p:sp>
      <p:sp>
        <p:nvSpPr>
          <p:cNvPr id="79" name="Shape 19"/>
          <p:cNvSpPr txBox="1">
            <a:spLocks noGrp="1"/>
          </p:cNvSpPr>
          <p:nvPr>
            <p:ph type="sldNum" idx="12"/>
          </p:nvPr>
        </p:nvSpPr>
        <p:spPr>
          <a:xfrm>
            <a:off x="64579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C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_rels/slideMaster2.xml.rels><?xml version="1.0" encoding="UTF-8" standalone="yes"?>
<Relationships xmlns="http://schemas.openxmlformats.org/package/2006/relationships"><Relationship Id="rId2" Type="http://schemas.openxmlformats.org/officeDocument/2006/relationships/theme" Target="../theme/theme2.xml"/><Relationship Id="rId1" Type="http://schemas.openxmlformats.org/officeDocument/2006/relationships/slideLayout" Target="../slideLayouts/slideLayout12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1"/>
        </a:solidFill>
        <a:effectLst/>
      </p:bgPr>
    </p:bg>
    <p:spTree>
      <p:nvGrpSpPr>
        <p:cNvPr id="1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Shape 1"/>
          <p:cNvSpPr txBox="1">
            <a:spLocks noGrp="1"/>
          </p:cNvSpPr>
          <p:nvPr>
            <p:ph type="title"/>
          </p:nvPr>
        </p:nvSpPr>
        <p:spPr>
          <a:xfrm>
            <a:off x="628650" y="273844"/>
            <a:ext cx="7886700" cy="99417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rmAutofit/>
          </a:bodyPr>
          <a:lstStyle>
            <a:lvl1pPr marR="0" lvl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300"/>
              <a:buFont typeface="Arial"/>
              <a:buNone/>
              <a:defRPr sz="33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100"/>
              <a:buNone/>
              <a:defRPr sz="1400"/>
            </a:lvl2pPr>
            <a:lvl3pPr lvl="2">
              <a:spcBef>
                <a:spcPts val="0"/>
              </a:spcBef>
              <a:spcAft>
                <a:spcPts val="0"/>
              </a:spcAft>
              <a:buSzPts val="1100"/>
              <a:buNone/>
              <a:defRPr sz="1400"/>
            </a:lvl3pPr>
            <a:lvl4pPr lvl="3">
              <a:spcBef>
                <a:spcPts val="0"/>
              </a:spcBef>
              <a:spcAft>
                <a:spcPts val="0"/>
              </a:spcAft>
              <a:buSzPts val="1100"/>
              <a:buNone/>
              <a:defRPr sz="1400"/>
            </a:lvl4pPr>
            <a:lvl5pPr lvl="4">
              <a:spcBef>
                <a:spcPts val="0"/>
              </a:spcBef>
              <a:spcAft>
                <a:spcPts val="0"/>
              </a:spcAft>
              <a:buSzPts val="1100"/>
              <a:buNone/>
              <a:defRPr sz="1400"/>
            </a:lvl5pPr>
            <a:lvl6pPr lvl="5">
              <a:spcBef>
                <a:spcPts val="0"/>
              </a:spcBef>
              <a:spcAft>
                <a:spcPts val="0"/>
              </a:spcAft>
              <a:buSzPts val="1100"/>
              <a:buNone/>
              <a:defRPr sz="1400"/>
            </a:lvl6pPr>
            <a:lvl7pPr lvl="6">
              <a:spcBef>
                <a:spcPts val="0"/>
              </a:spcBef>
              <a:spcAft>
                <a:spcPts val="0"/>
              </a:spcAft>
              <a:buSzPts val="1100"/>
              <a:buNone/>
              <a:defRPr sz="1400"/>
            </a:lvl7pPr>
            <a:lvl8pPr lvl="7">
              <a:spcBef>
                <a:spcPts val="0"/>
              </a:spcBef>
              <a:spcAft>
                <a:spcPts val="0"/>
              </a:spcAft>
              <a:buSzPts val="1100"/>
              <a:buNone/>
              <a:defRPr sz="1400"/>
            </a:lvl8pPr>
            <a:lvl9pPr lvl="8">
              <a:spcBef>
                <a:spcPts val="0"/>
              </a:spcBef>
              <a:spcAft>
                <a:spcPts val="0"/>
              </a:spcAft>
              <a:buSzPts val="1100"/>
              <a:buNone/>
              <a:defRPr sz="1400"/>
            </a:lvl9pPr>
          </a:lstStyle>
          <a:p>
            <a:endParaRPr/>
          </a:p>
        </p:txBody>
      </p:sp>
      <p:sp>
        <p:nvSpPr>
          <p:cNvPr id="7" name="Shape 2"/>
          <p:cNvSpPr txBox="1">
            <a:spLocks noGrp="1"/>
          </p:cNvSpPr>
          <p:nvPr>
            <p:ph type="body" idx="1"/>
          </p:nvPr>
        </p:nvSpPr>
        <p:spPr>
          <a:xfrm>
            <a:off x="628650" y="1369219"/>
            <a:ext cx="7886700" cy="326350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t" anchorCtr="0">
            <a:normAutofit/>
          </a:bodyPr>
          <a:lstStyle>
            <a:lvl1pPr marL="457200" marR="0" lvl="0" indent="-361950" algn="l" rtl="0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2100"/>
              <a:buFont typeface="Arial"/>
              <a:buChar char="•"/>
              <a:defRPr sz="21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914400" marR="0" lvl="1" indent="-342900" algn="l" rtl="0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1371600" marR="0" lvl="2" indent="-323850" algn="l" rtl="0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500"/>
              <a:buFont typeface="Arial"/>
              <a:buChar char="•"/>
              <a:defRPr sz="15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1828800" marR="0" lvl="3" indent="-317500" algn="l" rtl="0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•"/>
              <a:defRPr sz="14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2286000" marR="0" lvl="4" indent="-317500" algn="l" rtl="0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•"/>
              <a:defRPr sz="14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2743200" marR="0" lvl="5" indent="-317500" algn="l" rtl="0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•"/>
              <a:defRPr sz="14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3200400" marR="0" lvl="6" indent="-317500" algn="l" rtl="0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•"/>
              <a:defRPr sz="14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3657600" marR="0" lvl="7" indent="-317500" algn="l" rtl="0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•"/>
              <a:defRPr sz="14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4114800" marR="0" lvl="8" indent="-317500" algn="l" rtl="0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•"/>
              <a:defRPr sz="14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sp>
        <p:nvSpPr>
          <p:cNvPr id="8" name="Shape 3"/>
          <p:cNvSpPr txBox="1">
            <a:spLocks noGrp="1"/>
          </p:cNvSpPr>
          <p:nvPr>
            <p:ph type="dt" idx="10"/>
          </p:nvPr>
        </p:nvSpPr>
        <p:spPr>
          <a:xfrm>
            <a:off x="6286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marR="0" lvl="0" algn="l" rtl="0">
              <a:spcBef>
                <a:spcPts val="0"/>
              </a:spcBef>
              <a:spcAft>
                <a:spcPts val="0"/>
              </a:spcAft>
              <a:buSzPts val="1100"/>
              <a:buNone/>
              <a:defRPr sz="900" b="0" i="0" u="none" strike="noStrike" cap="non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100"/>
              <a:buNone/>
              <a:defRPr sz="14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100"/>
              <a:buNone/>
              <a:defRPr sz="14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100"/>
              <a:buNone/>
              <a:defRPr sz="14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100"/>
              <a:buNone/>
              <a:defRPr sz="14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100"/>
              <a:buNone/>
              <a:defRPr sz="14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100"/>
              <a:buNone/>
              <a:defRPr sz="14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100"/>
              <a:buNone/>
              <a:defRPr sz="14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100"/>
              <a:buNone/>
              <a:defRPr sz="14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sp>
        <p:nvSpPr>
          <p:cNvPr id="9" name="Shape 4"/>
          <p:cNvSpPr txBox="1">
            <a:spLocks noGrp="1"/>
          </p:cNvSpPr>
          <p:nvPr>
            <p:ph type="ftr" idx="11"/>
          </p:nvPr>
        </p:nvSpPr>
        <p:spPr>
          <a:xfrm>
            <a:off x="3028950" y="4767263"/>
            <a:ext cx="30861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marR="0" lvl="0" algn="ctr" rtl="0">
              <a:spcBef>
                <a:spcPts val="0"/>
              </a:spcBef>
              <a:spcAft>
                <a:spcPts val="0"/>
              </a:spcAft>
              <a:buSzPts val="1100"/>
              <a:buNone/>
              <a:defRPr sz="900" b="0" i="0" u="none" strike="noStrike" cap="non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100"/>
              <a:buNone/>
              <a:defRPr sz="14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100"/>
              <a:buNone/>
              <a:defRPr sz="14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100"/>
              <a:buNone/>
              <a:defRPr sz="14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100"/>
              <a:buNone/>
              <a:defRPr sz="14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100"/>
              <a:buNone/>
              <a:defRPr sz="14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100"/>
              <a:buNone/>
              <a:defRPr sz="14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100"/>
              <a:buNone/>
              <a:defRPr sz="14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100"/>
              <a:buNone/>
              <a:defRPr sz="14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sp>
        <p:nvSpPr>
          <p:cNvPr id="10" name="Shape 5"/>
          <p:cNvSpPr txBox="1">
            <a:spLocks noGrp="1"/>
          </p:cNvSpPr>
          <p:nvPr>
            <p:ph type="sldNum" idx="12"/>
          </p:nvPr>
        </p:nvSpPr>
        <p:spPr>
          <a:xfrm>
            <a:off x="64579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marL="0" marR="0" lvl="0" indent="0" algn="r" rtl="0">
              <a:spcBef>
                <a:spcPts val="0"/>
              </a:spcBef>
              <a:buNone/>
              <a:defRPr sz="900" b="0" i="0" u="none" strike="noStrike" cap="non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0" marR="0" lvl="1" indent="0" algn="r" rtl="0">
              <a:spcBef>
                <a:spcPts val="0"/>
              </a:spcBef>
              <a:buNone/>
              <a:defRPr sz="900" b="0" i="0" u="none" strike="noStrike" cap="non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0" marR="0" lvl="2" indent="0" algn="r" rtl="0">
              <a:spcBef>
                <a:spcPts val="0"/>
              </a:spcBef>
              <a:buNone/>
              <a:defRPr sz="900" b="0" i="0" u="none" strike="noStrike" cap="non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0" marR="0" lvl="3" indent="0" algn="r" rtl="0">
              <a:spcBef>
                <a:spcPts val="0"/>
              </a:spcBef>
              <a:buNone/>
              <a:defRPr sz="900" b="0" i="0" u="none" strike="noStrike" cap="non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0" marR="0" lvl="4" indent="0" algn="r" rtl="0">
              <a:spcBef>
                <a:spcPts val="0"/>
              </a:spcBef>
              <a:buNone/>
              <a:defRPr sz="900" b="0" i="0" u="none" strike="noStrike" cap="non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0" marR="0" lvl="5" indent="0" algn="r" rtl="0">
              <a:spcBef>
                <a:spcPts val="0"/>
              </a:spcBef>
              <a:buNone/>
              <a:defRPr sz="900" b="0" i="0" u="none" strike="noStrike" cap="non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0" marR="0" lvl="6" indent="0" algn="r" rtl="0">
              <a:spcBef>
                <a:spcPts val="0"/>
              </a:spcBef>
              <a:buNone/>
              <a:defRPr sz="900" b="0" i="0" u="none" strike="noStrike" cap="non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0" marR="0" lvl="7" indent="0" algn="r" rtl="0">
              <a:spcBef>
                <a:spcPts val="0"/>
              </a:spcBef>
              <a:buNone/>
              <a:defRPr sz="900" b="0" i="0" u="none" strike="noStrike" cap="non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0" marR="0" lvl="8" indent="0" algn="r" rtl="0">
              <a:spcBef>
                <a:spcPts val="0"/>
              </a:spcBef>
              <a:buNone/>
              <a:defRPr sz="900" b="0" i="0" u="none" strike="noStrike" cap="non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CN"/>
              <a:t>‹#›</a:t>
            </a:fld>
            <a:endParaRPr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sldLayoutIdLst>
    <p:sldLayoutId id="2147483648" r:id="rId1"/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  <p:sldLayoutId id="2147483658" r:id="rId11"/>
  </p:sldLayoutIdLst>
  <p:hf sldNum="0" hdr="0" ftr="0" dt="0"/>
  <p:txStyles>
    <p:title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Masters/slideMaster2.xml><?xml version="1.0" encoding="utf-8"?>
<p:sldMaster xmlns:a="http://schemas.openxmlformats.org/drawingml/2006/main" xmlns:r="http://schemas.openxmlformats.org/officeDocument/2006/relationships" xmlns:p="http://schemas.openxmlformats.org/presentationml/2006/main">
  <p:cSld name="默认主题">
    <p:bg>
      <p:bgPr>
        <a:solidFill>
          <a:srgbClr val="FFFFFF">
            <a:alpha val="100000"/>
          </a:srgbClr>
        </a:solidFill>
        <a:effectLst/>
      </p:bgPr>
    </p:bg>
    <p:spTree>
      <p:nvGrpSpPr>
        <p:cNvPr id="1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dk2" tx2="lt2" accent1="accent1" accent2="accent2" accent3="accent3" accent4="accent4" accent5="accent5" accent6="accent6" hlink="hlink" folHlink="folHlink"/>
  <p:sldLayoutIdLst>
    <p:sldLayoutId id="2157483699" r:id="rId1"/>
  </p:sldLayoutIdLst>
  <p:hf sldNum="0" hdr="0" ftr="0" dt="0"/>
  <p:txStyles>
    <p:title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jpe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2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jpeg"/><Relationship Id="rId7" Type="http://schemas.openxmlformats.org/officeDocument/2006/relationships/image" Target="../media/image6.sv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2.xml"/><Relationship Id="rId6" Type="http://schemas.openxmlformats.org/officeDocument/2006/relationships/image" Target="../media/image5.svg"/><Relationship Id="rId5" Type="http://schemas.openxmlformats.org/officeDocument/2006/relationships/image" Target="../media/image4.svg"/><Relationship Id="rId4" Type="http://schemas.openxmlformats.org/officeDocument/2006/relationships/image" Target="../media/image3.svg"/></Relationships>
</file>

<file path=ppt/slides/_rels/slide3.xml.rels><?xml version="1.0" encoding="UTF-8" standalone="yes"?>
<Relationships xmlns="http://schemas.openxmlformats.org/package/2006/relationships"><Relationship Id="rId8" Type="http://schemas.openxmlformats.org/officeDocument/2006/relationships/image" Target="../media/image11.jpeg"/><Relationship Id="rId3" Type="http://schemas.openxmlformats.org/officeDocument/2006/relationships/image" Target="../media/image2.jpeg"/><Relationship Id="rId7" Type="http://schemas.openxmlformats.org/officeDocument/2006/relationships/image" Target="../media/image10.sv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2.xml"/><Relationship Id="rId6" Type="http://schemas.openxmlformats.org/officeDocument/2006/relationships/image" Target="../media/image9.svg"/><Relationship Id="rId5" Type="http://schemas.openxmlformats.org/officeDocument/2006/relationships/image" Target="../media/image8.svg"/><Relationship Id="rId4" Type="http://schemas.openxmlformats.org/officeDocument/2006/relationships/image" Target="../media/image7.svg"/></Relationships>
</file>

<file path=ppt/slides/_rels/slide4.xml.rels><?xml version="1.0" encoding="UTF-8" standalone="yes"?>
<Relationships xmlns="http://schemas.openxmlformats.org/package/2006/relationships"><Relationship Id="rId8" Type="http://schemas.openxmlformats.org/officeDocument/2006/relationships/image" Target="../media/image16.png"/><Relationship Id="rId3" Type="http://schemas.openxmlformats.org/officeDocument/2006/relationships/image" Target="../media/image2.jpeg"/><Relationship Id="rId7" Type="http://schemas.openxmlformats.org/officeDocument/2006/relationships/image" Target="../media/image15.sv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2.xml"/><Relationship Id="rId6" Type="http://schemas.openxmlformats.org/officeDocument/2006/relationships/image" Target="../media/image14.svg"/><Relationship Id="rId5" Type="http://schemas.openxmlformats.org/officeDocument/2006/relationships/image" Target="../media/image13.svg"/><Relationship Id="rId4" Type="http://schemas.openxmlformats.org/officeDocument/2006/relationships/image" Target="../media/image12.svg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jpeg"/><Relationship Id="rId7" Type="http://schemas.openxmlformats.org/officeDocument/2006/relationships/image" Target="../media/image20.sv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2.xml"/><Relationship Id="rId6" Type="http://schemas.openxmlformats.org/officeDocument/2006/relationships/image" Target="../media/image19.svg"/><Relationship Id="rId5" Type="http://schemas.openxmlformats.org/officeDocument/2006/relationships/image" Target="../media/image18.svg"/><Relationship Id="rId4" Type="http://schemas.openxmlformats.org/officeDocument/2006/relationships/image" Target="../media/image17.jpeg"/></Relationships>
</file>

<file path=ppt/slides/_rels/slide6.xml.rels><?xml version="1.0" encoding="UTF-8" standalone="yes"?>
<Relationships xmlns="http://schemas.openxmlformats.org/package/2006/relationships"><Relationship Id="rId8" Type="http://schemas.openxmlformats.org/officeDocument/2006/relationships/image" Target="../media/image24.jpeg"/><Relationship Id="rId3" Type="http://schemas.openxmlformats.org/officeDocument/2006/relationships/image" Target="../media/image2.jpeg"/><Relationship Id="rId7" Type="http://schemas.openxmlformats.org/officeDocument/2006/relationships/image" Target="../media/image23.jpe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2.xml"/><Relationship Id="rId6" Type="http://schemas.openxmlformats.org/officeDocument/2006/relationships/image" Target="../media/image22.svg"/><Relationship Id="rId5" Type="http://schemas.openxmlformats.org/officeDocument/2006/relationships/image" Target="../media/image21.svg"/><Relationship Id="rId4" Type="http://schemas.openxmlformats.org/officeDocument/2006/relationships/image" Target="../media/image18.svg"/></Relationships>
</file>

<file path=ppt/slides/_rels/slide7.xml.rels><?xml version="1.0" encoding="UTF-8" standalone="yes"?>
<Relationships xmlns="http://schemas.openxmlformats.org/package/2006/relationships"><Relationship Id="rId8" Type="http://schemas.openxmlformats.org/officeDocument/2006/relationships/image" Target="../media/image29.svg"/><Relationship Id="rId3" Type="http://schemas.openxmlformats.org/officeDocument/2006/relationships/image" Target="../media/image2.jpeg"/><Relationship Id="rId7" Type="http://schemas.openxmlformats.org/officeDocument/2006/relationships/image" Target="../media/image28.sv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2.xml"/><Relationship Id="rId6" Type="http://schemas.openxmlformats.org/officeDocument/2006/relationships/image" Target="../media/image27.svg"/><Relationship Id="rId5" Type="http://schemas.openxmlformats.org/officeDocument/2006/relationships/image" Target="../media/image26.svg"/><Relationship Id="rId4" Type="http://schemas.openxmlformats.org/officeDocument/2006/relationships/image" Target="../media/image25.png"/></Relationships>
</file>

<file path=ppt/slides/_rels/slide8.xml.rels><?xml version="1.0" encoding="UTF-8" standalone="yes"?>
<Relationships xmlns="http://schemas.openxmlformats.org/package/2006/relationships"><Relationship Id="rId8" Type="http://schemas.openxmlformats.org/officeDocument/2006/relationships/image" Target="../media/image34.svg"/><Relationship Id="rId3" Type="http://schemas.openxmlformats.org/officeDocument/2006/relationships/image" Target="../media/image2.jpeg"/><Relationship Id="rId7" Type="http://schemas.openxmlformats.org/officeDocument/2006/relationships/image" Target="../media/image33.sv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2.xml"/><Relationship Id="rId6" Type="http://schemas.openxmlformats.org/officeDocument/2006/relationships/image" Target="../media/image32.svg"/><Relationship Id="rId5" Type="http://schemas.openxmlformats.org/officeDocument/2006/relationships/image" Target="../media/image31.svg"/><Relationship Id="rId4" Type="http://schemas.openxmlformats.org/officeDocument/2006/relationships/image" Target="../media/image30.jpeg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jpeg"/><Relationship Id="rId7" Type="http://schemas.openxmlformats.org/officeDocument/2006/relationships/image" Target="../media/image36.sv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2.xml"/><Relationship Id="rId6" Type="http://schemas.openxmlformats.org/officeDocument/2006/relationships/image" Target="../media/image35.svg"/><Relationship Id="rId5" Type="http://schemas.openxmlformats.org/officeDocument/2006/relationships/image" Target="../media/image4.svg"/><Relationship Id="rId4" Type="http://schemas.openxmlformats.org/officeDocument/2006/relationships/image" Target="../media/image17.jpeg"/></Relationships>
</file>

<file path=ppt/slides/_rels/slide10.xml.rels><?xml version="1.0" encoding="UTF-8" standalone="yes"?>
<Relationships xmlns="http://schemas.openxmlformats.org/package/2006/relationships"><Relationship Id="rId8" Type="http://schemas.openxmlformats.org/officeDocument/2006/relationships/image" Target="../media/image41.svg"/><Relationship Id="rId3" Type="http://schemas.openxmlformats.org/officeDocument/2006/relationships/image" Target="../media/image2.jpeg"/><Relationship Id="rId7" Type="http://schemas.openxmlformats.org/officeDocument/2006/relationships/image" Target="../media/image40.svg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2.xml"/><Relationship Id="rId6" Type="http://schemas.openxmlformats.org/officeDocument/2006/relationships/image" Target="../media/image39.svg"/><Relationship Id="rId5" Type="http://schemas.openxmlformats.org/officeDocument/2006/relationships/image" Target="../media/image38.svg"/><Relationship Id="rId10" Type="http://schemas.openxmlformats.org/officeDocument/2006/relationships/image" Target="../media/image43.png"/><Relationship Id="rId4" Type="http://schemas.openxmlformats.org/officeDocument/2006/relationships/image" Target="../media/image37.svg"/><Relationship Id="rId9" Type="http://schemas.openxmlformats.org/officeDocument/2006/relationships/image" Target="../media/image42.svg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jpeg"/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12.xml"/><Relationship Id="rId4" Type="http://schemas.openxmlformats.org/officeDocument/2006/relationships/image" Target="../media/image44.png"/></Relationships>
</file>

<file path=ppt/slides/_rels/slide12.xml.rels><?xml version="1.0" encoding="UTF-8" standalone="yes"?>
<Relationships xmlns="http://schemas.openxmlformats.org/package/2006/relationships"><Relationship Id="rId8" Type="http://schemas.openxmlformats.org/officeDocument/2006/relationships/image" Target="../media/image49.svg"/><Relationship Id="rId3" Type="http://schemas.openxmlformats.org/officeDocument/2006/relationships/image" Target="../media/image2.jpeg"/><Relationship Id="rId7" Type="http://schemas.openxmlformats.org/officeDocument/2006/relationships/image" Target="../media/image48.svg"/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12.xml"/><Relationship Id="rId6" Type="http://schemas.openxmlformats.org/officeDocument/2006/relationships/image" Target="../media/image47.svg"/><Relationship Id="rId5" Type="http://schemas.openxmlformats.org/officeDocument/2006/relationships/image" Target="../media/image46.svg"/><Relationship Id="rId10" Type="http://schemas.openxmlformats.org/officeDocument/2006/relationships/image" Target="../media/image51.svg"/><Relationship Id="rId4" Type="http://schemas.openxmlformats.org/officeDocument/2006/relationships/image" Target="../media/image45.svg"/><Relationship Id="rId9" Type="http://schemas.openxmlformats.org/officeDocument/2006/relationships/image" Target="../media/image50.svg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52.jpeg"/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1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3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AutoShape 2"/>
          <p:cNvSpPr/>
          <p:nvPr/>
        </p:nvSpPr>
        <p:spPr>
          <a:xfrm>
            <a:off x="0" y="0"/>
            <a:ext cx="12192000" cy="6858000"/>
          </a:xfrm>
          <a:prstGeom prst="roundRect">
            <a:avLst>
              <a:gd name="adj" fmla="val 0"/>
            </a:avLst>
          </a:prstGeom>
          <a:solidFill>
            <a:srgbClr val="000000">
              <a:alpha val="40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  <a:endParaRPr/>
          </a:p>
        </p:txBody>
      </p:sp>
      <p:sp>
        <p:nvSpPr>
          <p:cNvPr id="3" name="AutoShape 3"/>
          <p:cNvSpPr/>
          <p:nvPr/>
        </p:nvSpPr>
        <p:spPr>
          <a:xfrm>
            <a:off x="0" y="2159000"/>
            <a:ext cx="12192000" cy="1016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indent="0" algn="ctr">
              <a:lnSpc>
                <a:spcPct val="125000"/>
              </a:lnSpc>
              <a:defRPr/>
            </a:pPr>
            <a:r>
              <a:rPr lang="en-US" sz="4800" b="1" i="0" u="none" strike="noStrike" dirty="0" err="1">
                <a:solidFill>
                  <a:srgbClr val="FFFFFF"/>
                </a:solidFill>
                <a:latin typeface="Noto Sans SC"/>
                <a:ea typeface="Noto Sans SC"/>
                <a:cs typeface="Noto Sans SC"/>
                <a:sym typeface="Noto Sans SC"/>
              </a:rPr>
              <a:t>Web应用安全扫描工具解析</a:t>
            </a:r>
            <a:endParaRPr lang="en-US" sz="1100" dirty="0"/>
          </a:p>
        </p:txBody>
      </p:sp>
      <p:sp>
        <p:nvSpPr>
          <p:cNvPr id="4" name="AutoShape 4"/>
          <p:cNvSpPr/>
          <p:nvPr/>
        </p:nvSpPr>
        <p:spPr>
          <a:xfrm>
            <a:off x="0" y="3429000"/>
            <a:ext cx="12192000" cy="635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indent="0" algn="ctr">
              <a:lnSpc>
                <a:spcPct val="125000"/>
              </a:lnSpc>
              <a:defRPr/>
            </a:pPr>
            <a:r>
              <a:rPr lang="en-US" sz="2800" b="0" i="0" u="none" strike="noStrike" dirty="0" err="1">
                <a:solidFill>
                  <a:srgbClr val="FFFFFF">
                    <a:alpha val="90196"/>
                  </a:srgbClr>
                </a:solidFill>
                <a:latin typeface="Noto Sans SC"/>
                <a:ea typeface="Noto Sans SC"/>
                <a:cs typeface="Noto Sans SC"/>
                <a:sym typeface="Noto Sans SC"/>
              </a:rPr>
              <a:t>AppScan</a:t>
            </a:r>
            <a:r>
              <a:rPr lang="en-US" sz="2800" b="0" i="0" u="none" strike="noStrike" dirty="0">
                <a:solidFill>
                  <a:srgbClr val="FFFFFF">
                    <a:alpha val="90196"/>
                  </a:srgbClr>
                </a:solidFill>
                <a:latin typeface="Noto Sans SC"/>
                <a:ea typeface="Noto Sans SC"/>
                <a:cs typeface="Noto Sans SC"/>
                <a:sym typeface="Noto Sans SC"/>
              </a:rPr>
              <a:t> </a:t>
            </a:r>
            <a:r>
              <a:rPr lang="zh-CN" altLang="en-US" sz="2800" dirty="0">
                <a:solidFill>
                  <a:srgbClr val="FFFFFF">
                    <a:alpha val="90196"/>
                  </a:srgbClr>
                </a:solidFill>
                <a:latin typeface="Noto Sans SC"/>
                <a:ea typeface="Noto Sans SC"/>
                <a:cs typeface="Noto Sans SC"/>
                <a:sym typeface="Noto Sans SC"/>
              </a:rPr>
              <a:t>与</a:t>
            </a:r>
            <a:r>
              <a:rPr lang="en-US" sz="2800" b="0" i="0" u="none" strike="noStrike" dirty="0">
                <a:solidFill>
                  <a:srgbClr val="FFFFFF">
                    <a:alpha val="90196"/>
                  </a:srgbClr>
                </a:solidFill>
                <a:latin typeface="Noto Sans SC"/>
                <a:ea typeface="Noto Sans SC"/>
                <a:cs typeface="Noto Sans SC"/>
                <a:sym typeface="Noto Sans SC"/>
              </a:rPr>
              <a:t> AWVS </a:t>
            </a:r>
            <a:r>
              <a:rPr lang="zh-CN" altLang="en-US" sz="2800" dirty="0">
                <a:solidFill>
                  <a:srgbClr val="FFFFFF">
                    <a:alpha val="90196"/>
                  </a:srgbClr>
                </a:solidFill>
                <a:latin typeface="Noto Sans SC"/>
                <a:ea typeface="Noto Sans SC"/>
                <a:cs typeface="Noto Sans SC"/>
                <a:sym typeface="Noto Sans SC"/>
              </a:rPr>
              <a:t>介绍与使用体验</a:t>
            </a:r>
            <a:endParaRPr lang="en-US" sz="1100" dirty="0"/>
          </a:p>
        </p:txBody>
      </p:sp>
      <p:sp>
        <p:nvSpPr>
          <p:cNvPr id="5" name="AutoShape 5"/>
          <p:cNvSpPr/>
          <p:nvPr/>
        </p:nvSpPr>
        <p:spPr>
          <a:xfrm>
            <a:off x="0" y="4572000"/>
            <a:ext cx="12192000" cy="381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indent="0" algn="ctr">
              <a:lnSpc>
                <a:spcPct val="125000"/>
              </a:lnSpc>
              <a:defRPr/>
            </a:pPr>
            <a:r>
              <a:rPr lang="en-US" sz="1400" b="0" i="0" u="none" strike="noStrike" dirty="0">
                <a:solidFill>
                  <a:schemeClr val="bg1">
                    <a:lumMod val="95000"/>
                  </a:schemeClr>
                </a:solidFill>
                <a:latin typeface="Noto Sans SC"/>
                <a:ea typeface="Noto Sans SC"/>
                <a:cs typeface="Noto Sans SC"/>
                <a:sym typeface="Noto Sans SC"/>
              </a:rPr>
              <a:t>SECURITY SCAN TOOL OVERVIEW </a:t>
            </a:r>
            <a:endParaRPr lang="en-US" sz="1100" dirty="0">
              <a:solidFill>
                <a:schemeClr val="bg1">
                  <a:lumMod val="95000"/>
                </a:schemeClr>
              </a:solidFill>
            </a:endParaRP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3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AutoShape 2"/>
          <p:cNvSpPr/>
          <p:nvPr/>
        </p:nvSpPr>
        <p:spPr>
          <a:xfrm>
            <a:off x="0" y="0"/>
            <a:ext cx="12192000" cy="6858000"/>
          </a:xfrm>
          <a:prstGeom prst="roundRect">
            <a:avLst>
              <a:gd name="adj" fmla="val 0"/>
            </a:avLst>
          </a:prstGeom>
          <a:solidFill>
            <a:srgbClr val="FFFFFF">
              <a:alpha val="40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  <a:endParaRPr/>
          </a:p>
        </p:txBody>
      </p:sp>
      <p:sp>
        <p:nvSpPr>
          <p:cNvPr id="3" name="AutoShape 3"/>
          <p:cNvSpPr/>
          <p:nvPr/>
        </p:nvSpPr>
        <p:spPr>
          <a:xfrm>
            <a:off x="762000" y="635000"/>
            <a:ext cx="5080000" cy="508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indent="0" algn="l">
              <a:lnSpc>
                <a:spcPct val="125000"/>
              </a:lnSpc>
              <a:defRPr/>
            </a:pPr>
            <a:r>
              <a:rPr lang="en-US" sz="3200" b="1" i="0" u="none" strike="noStrike">
                <a:solidFill>
                  <a:srgbClr val="333333"/>
                </a:solidFill>
                <a:latin typeface="Noto Sans SC"/>
                <a:ea typeface="Noto Sans SC"/>
                <a:cs typeface="Noto Sans SC"/>
                <a:sym typeface="Noto Sans SC"/>
              </a:rPr>
              <a:t>目录 CONTENTS</a:t>
            </a:r>
            <a:endParaRPr lang="en-US" sz="1100"/>
          </a:p>
        </p:txBody>
      </p:sp>
      <p:sp>
        <p:nvSpPr>
          <p:cNvPr id="4" name="AutoShape 4"/>
          <p:cNvSpPr/>
          <p:nvPr/>
        </p:nvSpPr>
        <p:spPr>
          <a:xfrm>
            <a:off x="762000" y="1524000"/>
            <a:ext cx="5207000" cy="2032000"/>
          </a:xfrm>
          <a:prstGeom prst="roundRect">
            <a:avLst>
              <a:gd name="adj" fmla="val 7500"/>
            </a:avLst>
          </a:prstGeom>
          <a:solidFill>
            <a:srgbClr val="FFFFFF">
              <a:alpha val="92000"/>
            </a:srgbClr>
          </a:solidFill>
          <a:ln w="25400" cap="flat" cmpd="sng">
            <a:noFill/>
            <a:prstDash val="solid"/>
            <a:round/>
          </a:ln>
          <a:effectLst>
            <a:outerShdw blurRad="203200" dist="76200" dir="5400000" algn="tl" rotWithShape="0">
              <a:srgbClr val="000000">
                <a:alpha val="8000"/>
              </a:srgbClr>
            </a:outerShdw>
          </a:effectLst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  <a:endParaRPr/>
          </a:p>
        </p:txBody>
      </p:sp>
      <p:sp>
        <p:nvSpPr>
          <p:cNvPr id="5" name="AutoShape 5"/>
          <p:cNvSpPr/>
          <p:nvPr/>
        </p:nvSpPr>
        <p:spPr>
          <a:xfrm>
            <a:off x="1016000" y="1968500"/>
            <a:ext cx="1016000" cy="889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indent="0" algn="ctr">
              <a:lnSpc>
                <a:spcPct val="125000"/>
              </a:lnSpc>
              <a:defRPr/>
            </a:pPr>
            <a:r>
              <a:rPr lang="en-US" sz="5600" b="1" i="0" u="none" strike="noStrike">
                <a:solidFill>
                  <a:srgbClr val="2563EB"/>
                </a:solidFill>
                <a:latin typeface="Noto Sans SC"/>
                <a:ea typeface="Noto Sans SC"/>
                <a:cs typeface="Noto Sans SC"/>
                <a:sym typeface="Noto Sans SC"/>
              </a:rPr>
              <a:t>01</a:t>
            </a:r>
            <a:endParaRPr lang="en-US" sz="1100"/>
          </a:p>
        </p:txBody>
      </p:sp>
      <p:sp>
        <p:nvSpPr>
          <p:cNvPr id="6" name="AutoShape 6"/>
          <p:cNvSpPr/>
          <p:nvPr/>
        </p:nvSpPr>
        <p:spPr>
          <a:xfrm>
            <a:off x="2286000" y="2095500"/>
            <a:ext cx="889000" cy="889000"/>
          </a:xfrm>
          <a:prstGeom prst="ellipse">
            <a:avLst/>
          </a:prstGeom>
          <a:solidFill>
            <a:srgbClr val="2563EB">
              <a:alpha val="8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  <a:endParaRPr/>
          </a:p>
        </p:txBody>
      </p:sp>
      <p:pic>
        <p:nvPicPr>
          <p:cNvPr id="7" name="Picture 7"/>
          <p:cNvPicPr>
            <a:picLocks noChangeAspect="1"/>
          </p:cNvPicPr>
          <p:nvPr/>
        </p:nvPicPr>
        <p:blipFill>
          <a:blip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2476500" y="2286000"/>
            <a:ext cx="508000" cy="508000"/>
          </a:xfrm>
          <a:prstGeom prst="rect">
            <a:avLst/>
          </a:prstGeom>
        </p:spPr>
      </p:pic>
      <p:sp>
        <p:nvSpPr>
          <p:cNvPr id="8" name="AutoShape 8"/>
          <p:cNvSpPr/>
          <p:nvPr/>
        </p:nvSpPr>
        <p:spPr>
          <a:xfrm>
            <a:off x="3429000" y="1905000"/>
            <a:ext cx="2159000" cy="381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indent="0" algn="l">
              <a:lnSpc>
                <a:spcPct val="125000"/>
              </a:lnSpc>
              <a:defRPr/>
            </a:pPr>
            <a:r>
              <a:rPr lang="en-US" sz="1800" b="1" i="0" u="none" strike="noStrike" dirty="0" err="1">
                <a:solidFill>
                  <a:srgbClr val="333333"/>
                </a:solidFill>
                <a:latin typeface="Noto Sans SC"/>
                <a:ea typeface="Noto Sans SC"/>
                <a:cs typeface="Noto Sans SC"/>
                <a:sym typeface="Noto Sans SC"/>
              </a:rPr>
              <a:t>引言：Web安全测试</a:t>
            </a:r>
            <a:endParaRPr lang="en-US" sz="1100" dirty="0"/>
          </a:p>
        </p:txBody>
      </p:sp>
      <p:sp>
        <p:nvSpPr>
          <p:cNvPr id="9" name="AutoShape 9"/>
          <p:cNvSpPr/>
          <p:nvPr/>
        </p:nvSpPr>
        <p:spPr>
          <a:xfrm>
            <a:off x="3429000" y="2413000"/>
            <a:ext cx="1905000" cy="25400"/>
          </a:xfrm>
          <a:prstGeom prst="roundRect">
            <a:avLst>
              <a:gd name="adj" fmla="val 0"/>
            </a:avLst>
          </a:prstGeom>
          <a:solidFill>
            <a:srgbClr val="2563EB">
              <a:alpha val="40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  <a:endParaRPr/>
          </a:p>
        </p:txBody>
      </p:sp>
      <p:sp>
        <p:nvSpPr>
          <p:cNvPr id="10" name="AutoShape 10"/>
          <p:cNvSpPr/>
          <p:nvPr/>
        </p:nvSpPr>
        <p:spPr>
          <a:xfrm>
            <a:off x="3429000" y="2667000"/>
            <a:ext cx="2159000" cy="762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indent="0" algn="l">
              <a:lnSpc>
                <a:spcPct val="108333"/>
              </a:lnSpc>
              <a:defRPr/>
            </a:pPr>
            <a:r>
              <a:rPr lang="en-US" sz="1200" b="0" i="0" u="none" strike="noStrike" dirty="0" err="1">
                <a:solidFill>
                  <a:srgbClr val="6B7280"/>
                </a:solidFill>
                <a:latin typeface="Noto Sans SC"/>
                <a:ea typeface="Noto Sans SC"/>
                <a:cs typeface="Noto Sans SC"/>
                <a:sym typeface="Noto Sans SC"/>
              </a:rPr>
              <a:t>探讨专业安全扫描工具在当前复杂网络环境下的必要性与核心价值</a:t>
            </a:r>
            <a:r>
              <a:rPr lang="en-US" sz="1200" b="0" i="0" u="none" strike="noStrike" dirty="0">
                <a:solidFill>
                  <a:srgbClr val="6B7280"/>
                </a:solidFill>
                <a:latin typeface="Noto Sans SC"/>
                <a:ea typeface="Noto Sans SC"/>
                <a:cs typeface="Noto Sans SC"/>
                <a:sym typeface="Noto Sans SC"/>
              </a:rPr>
              <a:t>。</a:t>
            </a:r>
            <a:endParaRPr lang="en-US" sz="1100" dirty="0"/>
          </a:p>
        </p:txBody>
      </p:sp>
      <p:sp>
        <p:nvSpPr>
          <p:cNvPr id="11" name="AutoShape 11"/>
          <p:cNvSpPr/>
          <p:nvPr/>
        </p:nvSpPr>
        <p:spPr>
          <a:xfrm>
            <a:off x="6223000" y="1524000"/>
            <a:ext cx="5207000" cy="2032000"/>
          </a:xfrm>
          <a:prstGeom prst="roundRect">
            <a:avLst>
              <a:gd name="adj" fmla="val 7500"/>
            </a:avLst>
          </a:prstGeom>
          <a:solidFill>
            <a:srgbClr val="FFFFFF">
              <a:alpha val="92000"/>
            </a:srgbClr>
          </a:solidFill>
          <a:ln w="25400" cap="flat" cmpd="sng">
            <a:noFill/>
            <a:prstDash val="solid"/>
            <a:round/>
          </a:ln>
          <a:effectLst>
            <a:outerShdw blurRad="203200" dist="76200" dir="5400000" algn="tl" rotWithShape="0">
              <a:srgbClr val="000000">
                <a:alpha val="8000"/>
              </a:srgbClr>
            </a:outerShdw>
          </a:effectLst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  <a:endParaRPr/>
          </a:p>
        </p:txBody>
      </p:sp>
      <p:sp>
        <p:nvSpPr>
          <p:cNvPr id="12" name="AutoShape 12"/>
          <p:cNvSpPr/>
          <p:nvPr/>
        </p:nvSpPr>
        <p:spPr>
          <a:xfrm>
            <a:off x="6477000" y="1968500"/>
            <a:ext cx="1016000" cy="889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indent="0" algn="ctr">
              <a:lnSpc>
                <a:spcPct val="125000"/>
              </a:lnSpc>
              <a:defRPr/>
            </a:pPr>
            <a:r>
              <a:rPr lang="en-US" sz="5600" b="1" i="0" u="none" strike="noStrike">
                <a:solidFill>
                  <a:srgbClr val="2563EB"/>
                </a:solidFill>
                <a:latin typeface="Noto Sans SC"/>
                <a:ea typeface="Noto Sans SC"/>
                <a:cs typeface="Noto Sans SC"/>
                <a:sym typeface="Noto Sans SC"/>
              </a:rPr>
              <a:t>02</a:t>
            </a:r>
            <a:endParaRPr lang="en-US" sz="1100"/>
          </a:p>
        </p:txBody>
      </p:sp>
      <p:sp>
        <p:nvSpPr>
          <p:cNvPr id="13" name="AutoShape 13"/>
          <p:cNvSpPr/>
          <p:nvPr/>
        </p:nvSpPr>
        <p:spPr>
          <a:xfrm>
            <a:off x="7747000" y="2095500"/>
            <a:ext cx="889000" cy="889000"/>
          </a:xfrm>
          <a:prstGeom prst="ellipse">
            <a:avLst/>
          </a:prstGeom>
          <a:solidFill>
            <a:srgbClr val="2563EB">
              <a:alpha val="8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  <a:endParaRPr/>
          </a:p>
        </p:txBody>
      </p:sp>
      <p:pic>
        <p:nvPicPr>
          <p:cNvPr id="14" name="Picture 14"/>
          <p:cNvPicPr>
            <a:picLocks noChangeAspect="1"/>
          </p:cNvPicPr>
          <p:nvPr/>
        </p:nvPicPr>
        <p:blipFill>
          <a:blip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7937500" y="2286000"/>
            <a:ext cx="508000" cy="508000"/>
          </a:xfrm>
          <a:prstGeom prst="rect">
            <a:avLst/>
          </a:prstGeom>
        </p:spPr>
      </p:pic>
      <p:sp>
        <p:nvSpPr>
          <p:cNvPr id="15" name="AutoShape 15"/>
          <p:cNvSpPr/>
          <p:nvPr/>
        </p:nvSpPr>
        <p:spPr>
          <a:xfrm>
            <a:off x="8890000" y="1905000"/>
            <a:ext cx="2159000" cy="381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indent="0" algn="l">
              <a:lnSpc>
                <a:spcPct val="125000"/>
              </a:lnSpc>
              <a:defRPr/>
            </a:pPr>
            <a:r>
              <a:rPr lang="en-US" sz="1800" b="1" i="0" u="none" strike="noStrike" dirty="0">
                <a:solidFill>
                  <a:srgbClr val="333333"/>
                </a:solidFill>
                <a:latin typeface="Noto Sans SC"/>
                <a:ea typeface="Noto Sans SC"/>
                <a:cs typeface="Noto Sans SC"/>
                <a:sym typeface="Noto Sans SC"/>
              </a:rPr>
              <a:t>HCL </a:t>
            </a:r>
            <a:r>
              <a:rPr lang="en-US" sz="1800" b="1" i="0" u="none" strike="noStrike" dirty="0" err="1">
                <a:solidFill>
                  <a:srgbClr val="333333"/>
                </a:solidFill>
                <a:latin typeface="Noto Sans SC"/>
                <a:ea typeface="Noto Sans SC"/>
                <a:cs typeface="Noto Sans SC"/>
                <a:sym typeface="Noto Sans SC"/>
              </a:rPr>
              <a:t>AppScan</a:t>
            </a:r>
            <a:r>
              <a:rPr lang="en-US" sz="1800" b="1" i="0" u="none" strike="noStrike" dirty="0">
                <a:solidFill>
                  <a:srgbClr val="333333"/>
                </a:solidFill>
                <a:latin typeface="Noto Sans SC"/>
                <a:ea typeface="Noto Sans SC"/>
                <a:cs typeface="Noto Sans SC"/>
                <a:sym typeface="Noto Sans SC"/>
              </a:rPr>
              <a:t> </a:t>
            </a:r>
            <a:endParaRPr lang="en-US" sz="1100" dirty="0"/>
          </a:p>
        </p:txBody>
      </p:sp>
      <p:sp>
        <p:nvSpPr>
          <p:cNvPr id="16" name="AutoShape 16"/>
          <p:cNvSpPr/>
          <p:nvPr/>
        </p:nvSpPr>
        <p:spPr>
          <a:xfrm>
            <a:off x="8890000" y="2413000"/>
            <a:ext cx="1905000" cy="25400"/>
          </a:xfrm>
          <a:prstGeom prst="roundRect">
            <a:avLst>
              <a:gd name="adj" fmla="val 0"/>
            </a:avLst>
          </a:prstGeom>
          <a:solidFill>
            <a:srgbClr val="2563EB">
              <a:alpha val="40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  <a:endParaRPr/>
          </a:p>
        </p:txBody>
      </p:sp>
      <p:sp>
        <p:nvSpPr>
          <p:cNvPr id="17" name="AutoShape 17"/>
          <p:cNvSpPr/>
          <p:nvPr/>
        </p:nvSpPr>
        <p:spPr>
          <a:xfrm>
            <a:off x="8890000" y="2667000"/>
            <a:ext cx="2159000" cy="762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indent="0" algn="l">
              <a:lnSpc>
                <a:spcPct val="108333"/>
              </a:lnSpc>
              <a:defRPr/>
            </a:pPr>
            <a:r>
              <a:rPr lang="en-US" sz="1200" b="0" i="0" u="none" strike="noStrike">
                <a:solidFill>
                  <a:srgbClr val="6B7280"/>
                </a:solidFill>
                <a:latin typeface="Noto Sans SC"/>
                <a:ea typeface="Noto Sans SC"/>
                <a:cs typeface="Noto Sans SC"/>
                <a:sym typeface="Noto Sans SC"/>
              </a:rPr>
              <a:t>深度拆解其核心架构、自动化扫描技术、关键功能模块与标准执行流程。</a:t>
            </a:r>
            <a:endParaRPr lang="en-US" sz="1100"/>
          </a:p>
        </p:txBody>
      </p:sp>
      <p:sp>
        <p:nvSpPr>
          <p:cNvPr id="18" name="AutoShape 18"/>
          <p:cNvSpPr/>
          <p:nvPr/>
        </p:nvSpPr>
        <p:spPr>
          <a:xfrm>
            <a:off x="762000" y="3937000"/>
            <a:ext cx="5207000" cy="2032000"/>
          </a:xfrm>
          <a:prstGeom prst="roundRect">
            <a:avLst>
              <a:gd name="adj" fmla="val 7500"/>
            </a:avLst>
          </a:prstGeom>
          <a:solidFill>
            <a:srgbClr val="FFFFFF">
              <a:alpha val="92000"/>
            </a:srgbClr>
          </a:solidFill>
          <a:ln w="25400" cap="flat" cmpd="sng">
            <a:noFill/>
            <a:prstDash val="solid"/>
            <a:round/>
          </a:ln>
          <a:effectLst>
            <a:outerShdw blurRad="203200" dist="76200" dir="5400000" algn="tl" rotWithShape="0">
              <a:srgbClr val="000000">
                <a:alpha val="8000"/>
              </a:srgbClr>
            </a:outerShdw>
          </a:effectLst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  <a:endParaRPr/>
          </a:p>
        </p:txBody>
      </p:sp>
      <p:sp>
        <p:nvSpPr>
          <p:cNvPr id="19" name="AutoShape 19"/>
          <p:cNvSpPr/>
          <p:nvPr/>
        </p:nvSpPr>
        <p:spPr>
          <a:xfrm>
            <a:off x="1016000" y="4381500"/>
            <a:ext cx="1016000" cy="889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indent="0" algn="ctr">
              <a:lnSpc>
                <a:spcPct val="125000"/>
              </a:lnSpc>
              <a:defRPr/>
            </a:pPr>
            <a:r>
              <a:rPr lang="en-US" sz="5600" b="1" i="0" u="none" strike="noStrike">
                <a:solidFill>
                  <a:srgbClr val="2563EB"/>
                </a:solidFill>
                <a:latin typeface="Noto Sans SC"/>
                <a:ea typeface="Noto Sans SC"/>
                <a:cs typeface="Noto Sans SC"/>
                <a:sym typeface="Noto Sans SC"/>
              </a:rPr>
              <a:t>03</a:t>
            </a:r>
            <a:endParaRPr lang="en-US" sz="1100"/>
          </a:p>
        </p:txBody>
      </p:sp>
      <p:sp>
        <p:nvSpPr>
          <p:cNvPr id="20" name="AutoShape 20"/>
          <p:cNvSpPr/>
          <p:nvPr/>
        </p:nvSpPr>
        <p:spPr>
          <a:xfrm>
            <a:off x="2286000" y="4508500"/>
            <a:ext cx="889000" cy="889000"/>
          </a:xfrm>
          <a:prstGeom prst="ellipse">
            <a:avLst/>
          </a:prstGeom>
          <a:solidFill>
            <a:srgbClr val="2563EB">
              <a:alpha val="8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  <a:endParaRPr/>
          </a:p>
        </p:txBody>
      </p:sp>
      <p:pic>
        <p:nvPicPr>
          <p:cNvPr id="21" name="Picture 21"/>
          <p:cNvPicPr>
            <a:picLocks noChangeAspect="1"/>
          </p:cNvPicPr>
          <p:nvPr/>
        </p:nvPicPr>
        <p:blipFill>
          <a:blip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p:blipFill>
        <p:spPr>
          <a:xfrm>
            <a:off x="2476500" y="4699000"/>
            <a:ext cx="508000" cy="508000"/>
          </a:xfrm>
          <a:prstGeom prst="rect">
            <a:avLst/>
          </a:prstGeom>
        </p:spPr>
      </p:pic>
      <p:sp>
        <p:nvSpPr>
          <p:cNvPr id="22" name="AutoShape 22"/>
          <p:cNvSpPr/>
          <p:nvPr/>
        </p:nvSpPr>
        <p:spPr>
          <a:xfrm>
            <a:off x="3429000" y="4318000"/>
            <a:ext cx="2159000" cy="381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indent="0" algn="l">
              <a:lnSpc>
                <a:spcPct val="125000"/>
              </a:lnSpc>
              <a:defRPr/>
            </a:pPr>
            <a:r>
              <a:rPr lang="en-US" sz="1800" b="1" i="0" u="none" strike="noStrike" dirty="0" err="1">
                <a:solidFill>
                  <a:srgbClr val="333333"/>
                </a:solidFill>
                <a:latin typeface="Noto Sans SC"/>
                <a:ea typeface="Noto Sans SC"/>
                <a:cs typeface="Noto Sans SC"/>
                <a:sym typeface="Noto Sans SC"/>
              </a:rPr>
              <a:t>Acunetix</a:t>
            </a:r>
            <a:r>
              <a:rPr lang="en-US" sz="1800" b="1" i="0" u="none" strike="noStrike" dirty="0">
                <a:solidFill>
                  <a:srgbClr val="333333"/>
                </a:solidFill>
                <a:latin typeface="Noto Sans SC"/>
                <a:ea typeface="Noto Sans SC"/>
                <a:cs typeface="Noto Sans SC"/>
                <a:sym typeface="Noto Sans SC"/>
              </a:rPr>
              <a:t> AWVS </a:t>
            </a:r>
            <a:endParaRPr lang="en-US" sz="1100" dirty="0"/>
          </a:p>
        </p:txBody>
      </p:sp>
      <p:sp>
        <p:nvSpPr>
          <p:cNvPr id="23" name="AutoShape 23"/>
          <p:cNvSpPr/>
          <p:nvPr/>
        </p:nvSpPr>
        <p:spPr>
          <a:xfrm>
            <a:off x="3429000" y="4826000"/>
            <a:ext cx="1905000" cy="25400"/>
          </a:xfrm>
          <a:prstGeom prst="roundRect">
            <a:avLst>
              <a:gd name="adj" fmla="val 0"/>
            </a:avLst>
          </a:prstGeom>
          <a:solidFill>
            <a:srgbClr val="2563EB">
              <a:alpha val="40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  <a:endParaRPr/>
          </a:p>
        </p:txBody>
      </p:sp>
      <p:sp>
        <p:nvSpPr>
          <p:cNvPr id="24" name="AutoShape 24"/>
          <p:cNvSpPr/>
          <p:nvPr/>
        </p:nvSpPr>
        <p:spPr>
          <a:xfrm>
            <a:off x="3429000" y="5080000"/>
            <a:ext cx="2159000" cy="762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indent="0" algn="l">
              <a:lnSpc>
                <a:spcPct val="108333"/>
              </a:lnSpc>
              <a:defRPr/>
            </a:pPr>
            <a:r>
              <a:rPr lang="en-US" sz="1200" b="0" i="0" u="none" strike="noStrike">
                <a:solidFill>
                  <a:srgbClr val="6B7280"/>
                </a:solidFill>
                <a:latin typeface="Noto Sans SC"/>
                <a:ea typeface="Noto Sans SC"/>
                <a:cs typeface="Noto Sans SC"/>
                <a:sym typeface="Noto Sans SC"/>
              </a:rPr>
              <a:t>全面解析其漏洞检测能力、爬虫技术原理、报表系统及任务调度机制。</a:t>
            </a:r>
            <a:endParaRPr lang="en-US" sz="1100"/>
          </a:p>
        </p:txBody>
      </p:sp>
      <p:sp>
        <p:nvSpPr>
          <p:cNvPr id="25" name="AutoShape 25"/>
          <p:cNvSpPr/>
          <p:nvPr/>
        </p:nvSpPr>
        <p:spPr>
          <a:xfrm>
            <a:off x="6223000" y="3937000"/>
            <a:ext cx="5207000" cy="2032000"/>
          </a:xfrm>
          <a:prstGeom prst="roundRect">
            <a:avLst>
              <a:gd name="adj" fmla="val 7500"/>
            </a:avLst>
          </a:prstGeom>
          <a:solidFill>
            <a:srgbClr val="FFFFFF">
              <a:alpha val="92000"/>
            </a:srgbClr>
          </a:solidFill>
          <a:ln w="25400" cap="flat" cmpd="sng">
            <a:noFill/>
            <a:prstDash val="solid"/>
            <a:round/>
          </a:ln>
          <a:effectLst>
            <a:outerShdw blurRad="203200" dist="76200" dir="5400000" algn="tl" rotWithShape="0">
              <a:srgbClr val="000000">
                <a:alpha val="8000"/>
              </a:srgbClr>
            </a:outerShdw>
          </a:effectLst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  <a:endParaRPr/>
          </a:p>
        </p:txBody>
      </p:sp>
      <p:sp>
        <p:nvSpPr>
          <p:cNvPr id="26" name="AutoShape 26"/>
          <p:cNvSpPr/>
          <p:nvPr/>
        </p:nvSpPr>
        <p:spPr>
          <a:xfrm>
            <a:off x="6477000" y="4381500"/>
            <a:ext cx="1016000" cy="889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indent="0" algn="ctr">
              <a:lnSpc>
                <a:spcPct val="125000"/>
              </a:lnSpc>
              <a:defRPr/>
            </a:pPr>
            <a:r>
              <a:rPr lang="en-US" sz="5600" b="1" i="0" u="none" strike="noStrike" dirty="0">
                <a:solidFill>
                  <a:srgbClr val="2563EB"/>
                </a:solidFill>
                <a:latin typeface="Noto Sans SC"/>
                <a:ea typeface="Noto Sans SC"/>
                <a:cs typeface="Noto Sans SC"/>
                <a:sym typeface="Noto Sans SC"/>
              </a:rPr>
              <a:t>04</a:t>
            </a:r>
            <a:endParaRPr lang="en-US" sz="1100" dirty="0"/>
          </a:p>
        </p:txBody>
      </p:sp>
      <p:sp>
        <p:nvSpPr>
          <p:cNvPr id="27" name="AutoShape 27"/>
          <p:cNvSpPr/>
          <p:nvPr/>
        </p:nvSpPr>
        <p:spPr>
          <a:xfrm>
            <a:off x="7747000" y="4508500"/>
            <a:ext cx="889000" cy="889000"/>
          </a:xfrm>
          <a:prstGeom prst="ellipse">
            <a:avLst/>
          </a:prstGeom>
          <a:solidFill>
            <a:srgbClr val="2563EB">
              <a:alpha val="8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  <a:endParaRPr/>
          </a:p>
        </p:txBody>
      </p:sp>
      <p:pic>
        <p:nvPicPr>
          <p:cNvPr id="28" name="Picture 28"/>
          <p:cNvPicPr>
            <a:picLocks noChangeAspect="1"/>
          </p:cNvPicPr>
          <p:nvPr/>
        </p:nvPicPr>
        <p:blipFill>
          <a:blip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7"/>
              </a:ext>
            </a:extLst>
          </a:blip>
          <a:stretch>
            <a:fillRect/>
          </a:stretch>
        </p:blipFill>
        <p:spPr>
          <a:xfrm>
            <a:off x="7937500" y="4699000"/>
            <a:ext cx="508000" cy="508000"/>
          </a:xfrm>
          <a:prstGeom prst="rect">
            <a:avLst/>
          </a:prstGeom>
        </p:spPr>
      </p:pic>
      <p:sp>
        <p:nvSpPr>
          <p:cNvPr id="29" name="AutoShape 29"/>
          <p:cNvSpPr/>
          <p:nvPr/>
        </p:nvSpPr>
        <p:spPr>
          <a:xfrm>
            <a:off x="8890000" y="4318000"/>
            <a:ext cx="2159000" cy="381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indent="0" algn="l">
              <a:lnSpc>
                <a:spcPct val="125000"/>
              </a:lnSpc>
              <a:defRPr/>
            </a:pPr>
            <a:r>
              <a:rPr lang="zh-CN" altLang="en-US" sz="1800" b="1" dirty="0">
                <a:solidFill>
                  <a:srgbClr val="333333"/>
                </a:solidFill>
                <a:latin typeface="Noto Sans SC"/>
                <a:ea typeface="Noto Sans SC"/>
                <a:sym typeface="Noto Sans SC"/>
              </a:rPr>
              <a:t>总结</a:t>
            </a:r>
            <a:endParaRPr lang="en-US" sz="1100" dirty="0"/>
          </a:p>
        </p:txBody>
      </p:sp>
      <p:sp>
        <p:nvSpPr>
          <p:cNvPr id="30" name="AutoShape 30"/>
          <p:cNvSpPr/>
          <p:nvPr/>
        </p:nvSpPr>
        <p:spPr>
          <a:xfrm>
            <a:off x="8890000" y="4826000"/>
            <a:ext cx="1905000" cy="25400"/>
          </a:xfrm>
          <a:prstGeom prst="roundRect">
            <a:avLst>
              <a:gd name="adj" fmla="val 0"/>
            </a:avLst>
          </a:prstGeom>
          <a:solidFill>
            <a:srgbClr val="2563EB">
              <a:alpha val="40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  <a:endParaRPr/>
          </a:p>
        </p:txBody>
      </p:sp>
      <p:sp>
        <p:nvSpPr>
          <p:cNvPr id="31" name="AutoShape 31"/>
          <p:cNvSpPr/>
          <p:nvPr/>
        </p:nvSpPr>
        <p:spPr>
          <a:xfrm>
            <a:off x="8890000" y="5080000"/>
            <a:ext cx="2159000" cy="762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indent="0" algn="l">
              <a:lnSpc>
                <a:spcPct val="108333"/>
              </a:lnSpc>
              <a:defRPr/>
            </a:pPr>
            <a:r>
              <a:rPr lang="zh-CN" altLang="en-US" sz="1200" dirty="0">
                <a:solidFill>
                  <a:srgbClr val="6B7280"/>
                </a:solidFill>
                <a:latin typeface="Noto Sans SC"/>
                <a:ea typeface="Noto Sans SC"/>
                <a:cs typeface="Noto Sans SC"/>
                <a:sym typeface="Noto Sans SC"/>
              </a:rPr>
              <a:t>无论是使用</a:t>
            </a:r>
            <a:r>
              <a:rPr lang="en-US" altLang="zh-CN" sz="1200" dirty="0" err="1">
                <a:solidFill>
                  <a:srgbClr val="6B7280"/>
                </a:solidFill>
                <a:latin typeface="Noto Sans SC"/>
                <a:ea typeface="Noto Sans SC"/>
                <a:cs typeface="Noto Sans SC"/>
                <a:sym typeface="Noto Sans SC"/>
              </a:rPr>
              <a:t>appscan</a:t>
            </a:r>
            <a:r>
              <a:rPr lang="zh-CN" altLang="en-US" sz="1200" dirty="0">
                <a:solidFill>
                  <a:srgbClr val="6B7280"/>
                </a:solidFill>
                <a:latin typeface="Noto Sans SC"/>
                <a:ea typeface="Noto Sans SC"/>
                <a:cs typeface="Noto Sans SC"/>
                <a:sym typeface="Noto Sans SC"/>
              </a:rPr>
              <a:t>还是</a:t>
            </a:r>
            <a:r>
              <a:rPr lang="en-US" altLang="zh-CN" sz="1200" dirty="0" err="1">
                <a:solidFill>
                  <a:srgbClr val="6B7280"/>
                </a:solidFill>
                <a:latin typeface="Noto Sans SC"/>
                <a:ea typeface="Noto Sans SC"/>
                <a:cs typeface="Noto Sans SC"/>
                <a:sym typeface="Noto Sans SC"/>
              </a:rPr>
              <a:t>awvs</a:t>
            </a:r>
            <a:r>
              <a:rPr lang="en-US" sz="1200" b="0" i="0" u="none" strike="noStrike" dirty="0">
                <a:solidFill>
                  <a:srgbClr val="6B7280"/>
                </a:solidFill>
                <a:latin typeface="Noto Sans SC"/>
                <a:ea typeface="Noto Sans SC"/>
                <a:cs typeface="Noto Sans SC"/>
                <a:sym typeface="Noto Sans SC"/>
              </a:rPr>
              <a:t>，</a:t>
            </a:r>
            <a:r>
              <a:rPr lang="zh-CN" altLang="en-US" sz="1200" b="0" i="0" u="none" strike="noStrike" dirty="0">
                <a:solidFill>
                  <a:srgbClr val="6B7280"/>
                </a:solidFill>
                <a:latin typeface="Noto Sans SC"/>
                <a:ea typeface="Noto Sans SC"/>
                <a:cs typeface="Noto Sans SC"/>
                <a:sym typeface="Noto Sans SC"/>
              </a:rPr>
              <a:t>都要</a:t>
            </a:r>
            <a:r>
              <a:rPr lang="en-US" sz="1200" b="0" i="0" u="none" strike="noStrike" dirty="0" err="1">
                <a:solidFill>
                  <a:srgbClr val="6B7280"/>
                </a:solidFill>
                <a:latin typeface="Noto Sans SC"/>
                <a:ea typeface="Noto Sans SC"/>
                <a:cs typeface="Noto Sans SC"/>
                <a:sym typeface="Noto Sans SC"/>
              </a:rPr>
              <a:t>结合企业实际场景需求，提供专业的工具选型方案</a:t>
            </a:r>
            <a:r>
              <a:rPr lang="en-US" sz="1200" b="0" i="0" u="none" strike="noStrike" dirty="0">
                <a:solidFill>
                  <a:srgbClr val="6B7280"/>
                </a:solidFill>
                <a:latin typeface="Noto Sans SC"/>
                <a:ea typeface="Noto Sans SC"/>
                <a:cs typeface="Noto Sans SC"/>
                <a:sym typeface="Noto Sans SC"/>
              </a:rPr>
              <a:t>。</a:t>
            </a:r>
            <a:endParaRPr lang="en-US" sz="11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3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AutoShape 2"/>
          <p:cNvSpPr/>
          <p:nvPr/>
        </p:nvSpPr>
        <p:spPr>
          <a:xfrm>
            <a:off x="0" y="0"/>
            <a:ext cx="12192000" cy="6858000"/>
          </a:xfrm>
          <a:prstGeom prst="roundRect">
            <a:avLst>
              <a:gd name="adj" fmla="val 0"/>
            </a:avLst>
          </a:prstGeom>
          <a:solidFill>
            <a:srgbClr val="FFFFFF">
              <a:alpha val="40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  <a:endParaRPr/>
          </a:p>
        </p:txBody>
      </p:sp>
      <p:sp>
        <p:nvSpPr>
          <p:cNvPr id="3" name="AutoShape 3"/>
          <p:cNvSpPr/>
          <p:nvPr/>
        </p:nvSpPr>
        <p:spPr>
          <a:xfrm>
            <a:off x="762000" y="635000"/>
            <a:ext cx="5080000" cy="508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indent="0" algn="l">
              <a:lnSpc>
                <a:spcPct val="125000"/>
              </a:lnSpc>
              <a:defRPr/>
            </a:pPr>
            <a:r>
              <a:rPr lang="en-US" sz="3200" b="1" i="0" u="none" strike="noStrike">
                <a:solidFill>
                  <a:srgbClr val="333333"/>
                </a:solidFill>
                <a:latin typeface="Noto Sans SC"/>
                <a:ea typeface="Noto Sans SC"/>
                <a:cs typeface="Noto Sans SC"/>
                <a:sym typeface="Noto Sans SC"/>
              </a:rPr>
              <a:t>Web安全测试的重要性</a:t>
            </a:r>
            <a:endParaRPr lang="en-US" sz="1100"/>
          </a:p>
        </p:txBody>
      </p:sp>
      <p:sp>
        <p:nvSpPr>
          <p:cNvPr id="4" name="AutoShape 4"/>
          <p:cNvSpPr/>
          <p:nvPr/>
        </p:nvSpPr>
        <p:spPr>
          <a:xfrm>
            <a:off x="762000" y="1524000"/>
            <a:ext cx="5080000" cy="2794000"/>
          </a:xfrm>
          <a:prstGeom prst="roundRect">
            <a:avLst>
              <a:gd name="adj" fmla="val 5454"/>
            </a:avLst>
          </a:prstGeom>
          <a:solidFill>
            <a:srgbClr val="FFFFFF">
              <a:alpha val="92000"/>
            </a:srgbClr>
          </a:solidFill>
          <a:ln w="25400" cap="flat" cmpd="sng">
            <a:noFill/>
            <a:prstDash val="solid"/>
            <a:round/>
          </a:ln>
          <a:effectLst>
            <a:outerShdw blurRad="190500" dist="50800" dir="2700000" algn="tl" rotWithShape="0">
              <a:srgbClr val="000000">
                <a:alpha val="8000"/>
              </a:srgbClr>
            </a:outerShdw>
          </a:effectLst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  <a:endParaRPr/>
          </a:p>
        </p:txBody>
      </p:sp>
      <p:sp>
        <p:nvSpPr>
          <p:cNvPr id="5" name="AutoShape 5"/>
          <p:cNvSpPr/>
          <p:nvPr/>
        </p:nvSpPr>
        <p:spPr>
          <a:xfrm>
            <a:off x="1016000" y="1714500"/>
            <a:ext cx="4572000" cy="381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indent="0" algn="l">
              <a:lnSpc>
                <a:spcPct val="125000"/>
              </a:lnSpc>
              <a:defRPr/>
            </a:pPr>
            <a:r>
              <a:rPr lang="en-US" sz="1800" b="1" i="0" u="none" strike="noStrike">
                <a:solidFill>
                  <a:srgbClr val="2563EB"/>
                </a:solidFill>
                <a:latin typeface="Noto Sans SC"/>
                <a:ea typeface="Noto Sans SC"/>
                <a:cs typeface="Noto Sans SC"/>
                <a:sym typeface="Noto Sans SC"/>
              </a:rPr>
              <a:t>数字化时代的安全挑战</a:t>
            </a:r>
            <a:endParaRPr lang="en-US" sz="1100"/>
          </a:p>
        </p:txBody>
      </p:sp>
      <p:sp>
        <p:nvSpPr>
          <p:cNvPr id="6" name="AutoShape 6"/>
          <p:cNvSpPr/>
          <p:nvPr/>
        </p:nvSpPr>
        <p:spPr>
          <a:xfrm>
            <a:off x="1016000" y="2159000"/>
            <a:ext cx="4572000" cy="5715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indent="0" algn="l">
              <a:lnSpc>
                <a:spcPct val="108333"/>
              </a:lnSpc>
              <a:defRPr/>
            </a:pPr>
            <a:r>
              <a:rPr lang="en-US" sz="1100" b="0" i="0" u="none" strike="noStrike">
                <a:solidFill>
                  <a:srgbClr val="555555"/>
                </a:solidFill>
                <a:latin typeface="Noto Sans SC"/>
                <a:ea typeface="Noto Sans SC"/>
                <a:cs typeface="Noto Sans SC"/>
                <a:sym typeface="Noto Sans SC"/>
              </a:rPr>
              <a:t>据统计，超过80%的Web应用存在中高危漏洞。攻击者正利用这些弱点发起频繁攻击，可能导致严重后果：</a:t>
            </a:r>
            <a:endParaRPr lang="en-US" sz="1100"/>
          </a:p>
        </p:txBody>
      </p:sp>
      <p:sp>
        <p:nvSpPr>
          <p:cNvPr id="7" name="AutoShape 7"/>
          <p:cNvSpPr/>
          <p:nvPr/>
        </p:nvSpPr>
        <p:spPr>
          <a:xfrm>
            <a:off x="1016000" y="2857500"/>
            <a:ext cx="2222500" cy="889000"/>
          </a:xfrm>
          <a:prstGeom prst="roundRect">
            <a:avLst>
              <a:gd name="adj" fmla="val 11428"/>
            </a:avLst>
          </a:prstGeom>
          <a:solidFill>
            <a:srgbClr val="F9FAFB">
              <a:alpha val="100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  <a:endParaRPr/>
          </a:p>
        </p:txBody>
      </p:sp>
      <p:pic>
        <p:nvPicPr>
          <p:cNvPr id="8" name="Picture 8"/>
          <p:cNvPicPr>
            <a:picLocks noChangeAspect="1"/>
          </p:cNvPicPr>
          <p:nvPr/>
        </p:nvPicPr>
        <p:blipFill>
          <a:blip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1143000" y="3022600"/>
            <a:ext cx="355600" cy="355600"/>
          </a:xfrm>
          <a:prstGeom prst="rect">
            <a:avLst/>
          </a:prstGeom>
        </p:spPr>
      </p:pic>
      <p:sp>
        <p:nvSpPr>
          <p:cNvPr id="9" name="AutoShape 9"/>
          <p:cNvSpPr/>
          <p:nvPr/>
        </p:nvSpPr>
        <p:spPr>
          <a:xfrm>
            <a:off x="1587500" y="2946400"/>
            <a:ext cx="1651000" cy="6985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indent="0" algn="l">
              <a:lnSpc>
                <a:spcPct val="125000"/>
              </a:lnSpc>
              <a:defRPr/>
            </a:pPr>
            <a:r>
              <a:rPr lang="en-US" sz="1300" b="1" i="0" u="none" strike="noStrike">
                <a:solidFill>
                  <a:srgbClr val="333333"/>
                </a:solidFill>
                <a:latin typeface="Noto Sans SC"/>
                <a:ea typeface="Noto Sans SC"/>
                <a:cs typeface="Noto Sans SC"/>
                <a:sym typeface="Noto Sans SC"/>
              </a:rPr>
              <a:t>数据泄露</a:t>
            </a:r>
            <a:endParaRPr lang="en-US" sz="1100"/>
          </a:p>
          <a:p>
            <a:pPr indent="0" algn="l">
              <a:lnSpc>
                <a:spcPct val="125000"/>
              </a:lnSpc>
            </a:pPr>
            <a:r>
              <a:rPr lang="en-US" sz="1000" b="0" i="0" u="none" strike="noStrike">
                <a:solidFill>
                  <a:srgbClr val="666666"/>
                </a:solidFill>
                <a:latin typeface="Noto Sans SC"/>
                <a:ea typeface="Noto Sans SC"/>
                <a:cs typeface="Noto Sans SC"/>
                <a:sym typeface="Noto Sans SC"/>
              </a:rPr>
              <a:t>隐私与机密被窃取</a:t>
            </a:r>
          </a:p>
        </p:txBody>
      </p:sp>
      <p:sp>
        <p:nvSpPr>
          <p:cNvPr id="10" name="AutoShape 10"/>
          <p:cNvSpPr/>
          <p:nvPr/>
        </p:nvSpPr>
        <p:spPr>
          <a:xfrm>
            <a:off x="3429000" y="2857500"/>
            <a:ext cx="2222500" cy="889000"/>
          </a:xfrm>
          <a:prstGeom prst="roundRect">
            <a:avLst>
              <a:gd name="adj" fmla="val 11428"/>
            </a:avLst>
          </a:prstGeom>
          <a:solidFill>
            <a:srgbClr val="F9FAFB">
              <a:alpha val="100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  <a:endParaRPr/>
          </a:p>
        </p:txBody>
      </p:sp>
      <p:pic>
        <p:nvPicPr>
          <p:cNvPr id="11" name="Picture 11"/>
          <p:cNvPicPr>
            <a:picLocks noChangeAspect="1"/>
          </p:cNvPicPr>
          <p:nvPr/>
        </p:nvPicPr>
        <p:blipFill>
          <a:blip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3556000" y="3022600"/>
            <a:ext cx="355600" cy="355600"/>
          </a:xfrm>
          <a:prstGeom prst="rect">
            <a:avLst/>
          </a:prstGeom>
        </p:spPr>
      </p:pic>
      <p:sp>
        <p:nvSpPr>
          <p:cNvPr id="12" name="AutoShape 12"/>
          <p:cNvSpPr/>
          <p:nvPr/>
        </p:nvSpPr>
        <p:spPr>
          <a:xfrm>
            <a:off x="4000500" y="2946400"/>
            <a:ext cx="1651000" cy="6985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indent="0" algn="l">
              <a:lnSpc>
                <a:spcPct val="125000"/>
              </a:lnSpc>
              <a:defRPr/>
            </a:pPr>
            <a:r>
              <a:rPr lang="en-US" sz="1300" b="1" i="0" u="none" strike="noStrike">
                <a:solidFill>
                  <a:srgbClr val="333333"/>
                </a:solidFill>
                <a:latin typeface="Noto Sans SC"/>
                <a:ea typeface="Noto Sans SC"/>
                <a:cs typeface="Noto Sans SC"/>
                <a:sym typeface="Noto Sans SC"/>
              </a:rPr>
              <a:t>恶意攻击</a:t>
            </a:r>
            <a:endParaRPr lang="en-US" sz="1100"/>
          </a:p>
          <a:p>
            <a:pPr indent="0" algn="l">
              <a:lnSpc>
                <a:spcPct val="125000"/>
              </a:lnSpc>
            </a:pPr>
            <a:r>
              <a:rPr lang="en-US" sz="1000" b="0" i="0" u="none" strike="noStrike">
                <a:solidFill>
                  <a:srgbClr val="666666"/>
                </a:solidFill>
                <a:latin typeface="Noto Sans SC"/>
                <a:ea typeface="Noto Sans SC"/>
                <a:cs typeface="Noto Sans SC"/>
                <a:sym typeface="Noto Sans SC"/>
              </a:rPr>
              <a:t>植入后门篡改网页</a:t>
            </a:r>
          </a:p>
        </p:txBody>
      </p:sp>
      <p:sp>
        <p:nvSpPr>
          <p:cNvPr id="13" name="AutoShape 13"/>
          <p:cNvSpPr/>
          <p:nvPr/>
        </p:nvSpPr>
        <p:spPr>
          <a:xfrm>
            <a:off x="1016000" y="3873500"/>
            <a:ext cx="2222500" cy="889000"/>
          </a:xfrm>
          <a:prstGeom prst="roundRect">
            <a:avLst>
              <a:gd name="adj" fmla="val 11428"/>
            </a:avLst>
          </a:prstGeom>
          <a:solidFill>
            <a:srgbClr val="F9FAFB">
              <a:alpha val="100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  <a:endParaRPr/>
          </a:p>
        </p:txBody>
      </p:sp>
      <p:pic>
        <p:nvPicPr>
          <p:cNvPr id="14" name="Picture 14"/>
          <p:cNvPicPr>
            <a:picLocks noChangeAspect="1"/>
          </p:cNvPicPr>
          <p:nvPr/>
        </p:nvPicPr>
        <p:blipFill>
          <a:blip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p:blipFill>
        <p:spPr>
          <a:xfrm>
            <a:off x="1143000" y="4038600"/>
            <a:ext cx="355600" cy="355600"/>
          </a:xfrm>
          <a:prstGeom prst="rect">
            <a:avLst/>
          </a:prstGeom>
        </p:spPr>
      </p:pic>
      <p:sp>
        <p:nvSpPr>
          <p:cNvPr id="15" name="AutoShape 15"/>
          <p:cNvSpPr/>
          <p:nvPr/>
        </p:nvSpPr>
        <p:spPr>
          <a:xfrm>
            <a:off x="1587500" y="3962400"/>
            <a:ext cx="1651000" cy="6985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indent="0" algn="l">
              <a:lnSpc>
                <a:spcPct val="125000"/>
              </a:lnSpc>
              <a:defRPr/>
            </a:pPr>
            <a:r>
              <a:rPr lang="en-US" sz="1300" b="1" i="0" u="none" strike="noStrike">
                <a:solidFill>
                  <a:srgbClr val="333333"/>
                </a:solidFill>
                <a:latin typeface="Noto Sans SC"/>
                <a:ea typeface="Noto Sans SC"/>
                <a:cs typeface="Noto Sans SC"/>
                <a:sym typeface="Noto Sans SC"/>
              </a:rPr>
              <a:t>服务中断</a:t>
            </a:r>
            <a:endParaRPr lang="en-US" sz="1100"/>
          </a:p>
          <a:p>
            <a:pPr indent="0" algn="l">
              <a:lnSpc>
                <a:spcPct val="125000"/>
              </a:lnSpc>
            </a:pPr>
            <a:r>
              <a:rPr lang="en-US" sz="1000" b="0" i="0" u="none" strike="noStrike">
                <a:solidFill>
                  <a:srgbClr val="666666"/>
                </a:solidFill>
                <a:latin typeface="Noto Sans SC"/>
                <a:ea typeface="Noto Sans SC"/>
                <a:cs typeface="Noto Sans SC"/>
                <a:sym typeface="Noto Sans SC"/>
              </a:rPr>
              <a:t>业务瘫痪损失惨重</a:t>
            </a:r>
          </a:p>
        </p:txBody>
      </p:sp>
      <p:sp>
        <p:nvSpPr>
          <p:cNvPr id="16" name="AutoShape 16"/>
          <p:cNvSpPr/>
          <p:nvPr/>
        </p:nvSpPr>
        <p:spPr>
          <a:xfrm>
            <a:off x="3429000" y="3873500"/>
            <a:ext cx="2222500" cy="889000"/>
          </a:xfrm>
          <a:prstGeom prst="roundRect">
            <a:avLst>
              <a:gd name="adj" fmla="val 11428"/>
            </a:avLst>
          </a:prstGeom>
          <a:solidFill>
            <a:srgbClr val="F9FAFB">
              <a:alpha val="100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  <a:endParaRPr/>
          </a:p>
        </p:txBody>
      </p:sp>
      <p:pic>
        <p:nvPicPr>
          <p:cNvPr id="17" name="Picture 17"/>
          <p:cNvPicPr>
            <a:picLocks noChangeAspect="1"/>
          </p:cNvPicPr>
          <p:nvPr/>
        </p:nvPicPr>
        <p:blipFill>
          <a:blip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7"/>
              </a:ext>
            </a:extLst>
          </a:blip>
          <a:stretch>
            <a:fillRect/>
          </a:stretch>
        </p:blipFill>
        <p:spPr>
          <a:xfrm>
            <a:off x="3556000" y="4038600"/>
            <a:ext cx="355600" cy="355600"/>
          </a:xfrm>
          <a:prstGeom prst="rect">
            <a:avLst/>
          </a:prstGeom>
        </p:spPr>
      </p:pic>
      <p:sp>
        <p:nvSpPr>
          <p:cNvPr id="18" name="AutoShape 18"/>
          <p:cNvSpPr/>
          <p:nvPr/>
        </p:nvSpPr>
        <p:spPr>
          <a:xfrm>
            <a:off x="4000500" y="3962400"/>
            <a:ext cx="1651000" cy="6985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indent="0" algn="l">
              <a:lnSpc>
                <a:spcPct val="125000"/>
              </a:lnSpc>
              <a:defRPr/>
            </a:pPr>
            <a:r>
              <a:rPr lang="en-US" sz="1300" b="1" i="0" u="none" strike="noStrike">
                <a:solidFill>
                  <a:srgbClr val="333333"/>
                </a:solidFill>
                <a:latin typeface="Noto Sans SC"/>
                <a:ea typeface="Noto Sans SC"/>
                <a:cs typeface="Noto Sans SC"/>
                <a:sym typeface="Noto Sans SC"/>
              </a:rPr>
              <a:t>合规风险</a:t>
            </a:r>
            <a:endParaRPr lang="en-US" sz="1100"/>
          </a:p>
          <a:p>
            <a:pPr indent="0" algn="l">
              <a:lnSpc>
                <a:spcPct val="125000"/>
              </a:lnSpc>
            </a:pPr>
            <a:r>
              <a:rPr lang="en-US" sz="1000" b="0" i="0" u="none" strike="noStrike">
                <a:solidFill>
                  <a:srgbClr val="666666"/>
                </a:solidFill>
                <a:latin typeface="Noto Sans SC"/>
                <a:ea typeface="Noto Sans SC"/>
                <a:cs typeface="Noto Sans SC"/>
                <a:sym typeface="Noto Sans SC"/>
              </a:rPr>
              <a:t>违反法规面临重罚</a:t>
            </a:r>
          </a:p>
        </p:txBody>
      </p:sp>
      <p:sp>
        <p:nvSpPr>
          <p:cNvPr id="19" name="AutoShape 19"/>
          <p:cNvSpPr/>
          <p:nvPr/>
        </p:nvSpPr>
        <p:spPr>
          <a:xfrm>
            <a:off x="762000" y="4953000"/>
            <a:ext cx="5080000" cy="1397000"/>
          </a:xfrm>
          <a:prstGeom prst="roundRect">
            <a:avLst>
              <a:gd name="adj" fmla="val 10909"/>
            </a:avLst>
          </a:prstGeom>
          <a:solidFill>
            <a:srgbClr val="FFFFFF">
              <a:alpha val="92000"/>
            </a:srgbClr>
          </a:solidFill>
          <a:ln w="25400" cap="flat" cmpd="sng">
            <a:noFill/>
            <a:prstDash val="solid"/>
            <a:round/>
          </a:ln>
          <a:effectLst>
            <a:outerShdw blurRad="190500" dist="50800" dir="2700000" algn="tl" rotWithShape="0">
              <a:srgbClr val="000000">
                <a:alpha val="8000"/>
              </a:srgbClr>
            </a:outerShdw>
          </a:effectLst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  <a:endParaRPr/>
          </a:p>
        </p:txBody>
      </p:sp>
      <p:sp>
        <p:nvSpPr>
          <p:cNvPr id="20" name="AutoShape 20"/>
          <p:cNvSpPr/>
          <p:nvPr/>
        </p:nvSpPr>
        <p:spPr>
          <a:xfrm>
            <a:off x="1016000" y="5105400"/>
            <a:ext cx="4572000" cy="3302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indent="0" algn="l">
              <a:lnSpc>
                <a:spcPct val="125000"/>
              </a:lnSpc>
              <a:defRPr/>
            </a:pPr>
            <a:r>
              <a:rPr lang="en-US" sz="1600" b="1" i="0" u="none" strike="noStrike">
                <a:solidFill>
                  <a:srgbClr val="2563EB"/>
                </a:solidFill>
                <a:latin typeface="Noto Sans SC"/>
                <a:ea typeface="Noto Sans SC"/>
                <a:cs typeface="Noto Sans SC"/>
                <a:sym typeface="Noto Sans SC"/>
              </a:rPr>
              <a:t>主动防御：安全“左移”的必要性</a:t>
            </a:r>
            <a:endParaRPr lang="en-US" sz="1100"/>
          </a:p>
        </p:txBody>
      </p:sp>
      <p:sp>
        <p:nvSpPr>
          <p:cNvPr id="21" name="AutoShape 21"/>
          <p:cNvSpPr/>
          <p:nvPr/>
        </p:nvSpPr>
        <p:spPr>
          <a:xfrm>
            <a:off x="1016000" y="5524500"/>
            <a:ext cx="4572000" cy="6985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indent="0" algn="l">
              <a:lnSpc>
                <a:spcPct val="108333"/>
              </a:lnSpc>
              <a:defRPr/>
            </a:pPr>
            <a:r>
              <a:rPr lang="en-US" sz="1100" b="0" i="0" u="none" strike="noStrike">
                <a:solidFill>
                  <a:srgbClr val="555555"/>
                </a:solidFill>
                <a:latin typeface="Noto Sans SC"/>
                <a:ea typeface="Noto Sans SC"/>
                <a:cs typeface="Noto Sans SC"/>
                <a:sym typeface="Noto Sans SC"/>
              </a:rPr>
              <a:t>专业的Web漏洞扫描工具能在DevSecOps流程中主动发现隐患，帮助团队在漏洞被利用前进行修复，将安全防线前置到开发阶段。</a:t>
            </a:r>
            <a:endParaRPr lang="en-US" sz="1100"/>
          </a:p>
        </p:txBody>
      </p:sp>
      <p:sp>
        <p:nvSpPr>
          <p:cNvPr id="22" name="AutoShape 22"/>
          <p:cNvSpPr/>
          <p:nvPr/>
        </p:nvSpPr>
        <p:spPr>
          <a:xfrm>
            <a:off x="6096000" y="1524000"/>
            <a:ext cx="5080000" cy="4826000"/>
          </a:xfrm>
          <a:prstGeom prst="roundRect">
            <a:avLst>
              <a:gd name="adj" fmla="val 3157"/>
            </a:avLst>
          </a:prstGeom>
          <a:solidFill>
            <a:srgbClr val="FFFFFF">
              <a:alpha val="92000"/>
            </a:srgbClr>
          </a:solidFill>
          <a:ln w="25400" cap="flat" cmpd="sng">
            <a:noFill/>
            <a:prstDash val="solid"/>
            <a:round/>
          </a:ln>
          <a:effectLst>
            <a:outerShdw blurRad="190500" dist="50800" dir="2700000" algn="tl" rotWithShape="0">
              <a:srgbClr val="000000">
                <a:alpha val="8000"/>
              </a:srgbClr>
            </a:outerShdw>
          </a:effectLst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  <a:endParaRPr/>
          </a:p>
        </p:txBody>
      </p:sp>
      <p:pic>
        <p:nvPicPr>
          <p:cNvPr id="23" name="Picture 23"/>
          <p:cNvPicPr>
            <a:picLocks noChangeAspect="1"/>
          </p:cNvPicPr>
          <p:nvPr/>
        </p:nvPicPr>
        <p:blipFill>
          <a:blip r:embed="rId8"/>
          <a:srcRect l="7142" r="7142"/>
          <a:stretch>
            <a:fillRect/>
          </a:stretch>
        </p:blipFill>
        <p:spPr>
          <a:xfrm>
            <a:off x="6350000" y="1778000"/>
            <a:ext cx="4572000" cy="3048000"/>
          </a:xfrm>
          <a:prstGeom prst="roundRect">
            <a:avLst>
              <a:gd name="adj" fmla="val 4166"/>
            </a:avLst>
          </a:prstGeom>
          <a:noFill/>
          <a:ln w="25400" cap="flat" cmpd="sng">
            <a:noFill/>
            <a:prstDash val="solid"/>
            <a:round/>
          </a:ln>
        </p:spPr>
      </p:pic>
      <p:sp>
        <p:nvSpPr>
          <p:cNvPr id="24" name="AutoShape 24"/>
          <p:cNvSpPr/>
          <p:nvPr/>
        </p:nvSpPr>
        <p:spPr>
          <a:xfrm>
            <a:off x="6350000" y="5016500"/>
            <a:ext cx="4572000" cy="1079500"/>
          </a:xfrm>
          <a:prstGeom prst="roundRect">
            <a:avLst>
              <a:gd name="adj" fmla="val 11764"/>
            </a:avLst>
          </a:prstGeom>
          <a:solidFill>
            <a:srgbClr val="EFF6FF">
              <a:alpha val="100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  <a:endParaRPr/>
          </a:p>
        </p:txBody>
      </p:sp>
      <p:sp>
        <p:nvSpPr>
          <p:cNvPr id="25" name="AutoShape 25"/>
          <p:cNvSpPr/>
          <p:nvPr/>
        </p:nvSpPr>
        <p:spPr>
          <a:xfrm>
            <a:off x="6540500" y="5143500"/>
            <a:ext cx="4191000" cy="3048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indent="0" algn="l">
              <a:lnSpc>
                <a:spcPct val="125000"/>
              </a:lnSpc>
              <a:defRPr/>
            </a:pPr>
            <a:r>
              <a:rPr lang="en-US" sz="1400" b="1" i="0" u="none" strike="noStrike">
                <a:solidFill>
                  <a:srgbClr val="1E40AF"/>
                </a:solidFill>
                <a:latin typeface="Noto Sans SC"/>
                <a:ea typeface="Noto Sans SC"/>
                <a:cs typeface="Noto Sans SC"/>
                <a:sym typeface="Noto Sans SC"/>
              </a:rPr>
              <a:t>SAST 静态应用安全测试</a:t>
            </a:r>
            <a:endParaRPr lang="en-US" sz="1100"/>
          </a:p>
        </p:txBody>
      </p:sp>
      <p:sp>
        <p:nvSpPr>
          <p:cNvPr id="26" name="AutoShape 26"/>
          <p:cNvSpPr/>
          <p:nvPr/>
        </p:nvSpPr>
        <p:spPr>
          <a:xfrm>
            <a:off x="6540500" y="5524500"/>
            <a:ext cx="4191000" cy="508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indent="0" algn="l">
              <a:lnSpc>
                <a:spcPct val="100000"/>
              </a:lnSpc>
              <a:defRPr/>
            </a:pPr>
            <a:r>
              <a:rPr lang="en-US" sz="1100" b="0" i="0" u="none" strike="noStrike">
                <a:solidFill>
                  <a:srgbClr val="4B5563"/>
                </a:solidFill>
                <a:latin typeface="Noto Sans SC"/>
                <a:ea typeface="Noto Sans SC"/>
                <a:cs typeface="Noto Sans SC"/>
                <a:sym typeface="Noto Sans SC"/>
              </a:rPr>
              <a:t>通过自动化分析源代码，在开发阶段建立第一道防线，有效识别潜在的安全漏洞，是实现安全左移的核心技术手段。</a:t>
            </a:r>
            <a:endParaRPr lang="en-US" sz="110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3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AutoShape 2"/>
          <p:cNvSpPr/>
          <p:nvPr/>
        </p:nvSpPr>
        <p:spPr>
          <a:xfrm>
            <a:off x="0" y="0"/>
            <a:ext cx="12192000" cy="6858000"/>
          </a:xfrm>
          <a:prstGeom prst="roundRect">
            <a:avLst>
              <a:gd name="adj" fmla="val 0"/>
            </a:avLst>
          </a:prstGeom>
          <a:solidFill>
            <a:srgbClr val="FFFFFF">
              <a:alpha val="70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  <a:endParaRPr/>
          </a:p>
        </p:txBody>
      </p:sp>
      <p:sp>
        <p:nvSpPr>
          <p:cNvPr id="3" name="AutoShape 3"/>
          <p:cNvSpPr/>
          <p:nvPr/>
        </p:nvSpPr>
        <p:spPr>
          <a:xfrm>
            <a:off x="762000" y="635000"/>
            <a:ext cx="10668000" cy="508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indent="0" algn="l">
              <a:lnSpc>
                <a:spcPct val="125000"/>
              </a:lnSpc>
              <a:defRPr/>
            </a:pPr>
            <a:r>
              <a:rPr lang="en-US" sz="3200" b="1" i="0" u="none" strike="noStrike" dirty="0">
                <a:solidFill>
                  <a:srgbClr val="333333"/>
                </a:solidFill>
                <a:latin typeface="Noto Sans SC"/>
                <a:ea typeface="Noto Sans SC"/>
                <a:cs typeface="Noto Sans SC"/>
                <a:sym typeface="Noto Sans SC"/>
              </a:rPr>
              <a:t>HCL </a:t>
            </a:r>
            <a:r>
              <a:rPr lang="en-US" sz="3200" b="1" i="0" u="none" strike="noStrike" dirty="0" err="1">
                <a:solidFill>
                  <a:srgbClr val="333333"/>
                </a:solidFill>
                <a:latin typeface="Noto Sans SC"/>
                <a:ea typeface="Noto Sans SC"/>
                <a:cs typeface="Noto Sans SC"/>
                <a:sym typeface="Noto Sans SC"/>
              </a:rPr>
              <a:t>AppScan</a:t>
            </a:r>
            <a:r>
              <a:rPr lang="en-US" sz="3200" b="1" i="0" u="none" strike="noStrike" dirty="0">
                <a:solidFill>
                  <a:srgbClr val="333333"/>
                </a:solidFill>
                <a:latin typeface="Noto Sans SC"/>
                <a:ea typeface="Noto Sans SC"/>
                <a:cs typeface="Noto Sans SC"/>
                <a:sym typeface="Noto Sans SC"/>
              </a:rPr>
              <a:t> </a:t>
            </a:r>
            <a:r>
              <a:rPr lang="en-US" sz="3200" b="1" i="0" u="none" strike="noStrike" dirty="0" err="1">
                <a:solidFill>
                  <a:srgbClr val="333333"/>
                </a:solidFill>
                <a:latin typeface="Noto Sans SC"/>
                <a:ea typeface="Noto Sans SC"/>
                <a:cs typeface="Noto Sans SC"/>
                <a:sym typeface="Noto Sans SC"/>
              </a:rPr>
              <a:t>解析</a:t>
            </a:r>
            <a:endParaRPr lang="en-US" sz="1100" dirty="0"/>
          </a:p>
        </p:txBody>
      </p:sp>
      <p:sp>
        <p:nvSpPr>
          <p:cNvPr id="4" name="AutoShape 4"/>
          <p:cNvSpPr/>
          <p:nvPr/>
        </p:nvSpPr>
        <p:spPr>
          <a:xfrm>
            <a:off x="762000" y="1397000"/>
            <a:ext cx="5080000" cy="1524000"/>
          </a:xfrm>
          <a:prstGeom prst="roundRect">
            <a:avLst>
              <a:gd name="adj" fmla="val 10000"/>
            </a:avLst>
          </a:prstGeom>
          <a:solidFill>
            <a:srgbClr val="FFFFFF">
              <a:alpha val="95000"/>
            </a:srgbClr>
          </a:solidFill>
          <a:ln w="25400" cap="flat" cmpd="sng">
            <a:noFill/>
            <a:prstDash val="solid"/>
            <a:round/>
          </a:ln>
          <a:effectLst>
            <a:outerShdw blurRad="152400" dist="50800" dir="2700000" algn="tl" rotWithShape="0">
              <a:srgbClr val="000000">
                <a:alpha val="8000"/>
              </a:srgbClr>
            </a:outerShdw>
          </a:effectLst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  <a:endParaRPr/>
          </a:p>
        </p:txBody>
      </p:sp>
      <p:pic>
        <p:nvPicPr>
          <p:cNvPr id="5" name="Picture 5"/>
          <p:cNvPicPr>
            <a:picLocks noChangeAspect="1"/>
          </p:cNvPicPr>
          <p:nvPr/>
        </p:nvPicPr>
        <p:blipFill>
          <a:blip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1016000" y="1587500"/>
            <a:ext cx="406400" cy="406400"/>
          </a:xfrm>
          <a:prstGeom prst="rect">
            <a:avLst/>
          </a:prstGeom>
        </p:spPr>
      </p:pic>
      <p:sp>
        <p:nvSpPr>
          <p:cNvPr id="6" name="AutoShape 6"/>
          <p:cNvSpPr/>
          <p:nvPr/>
        </p:nvSpPr>
        <p:spPr>
          <a:xfrm>
            <a:off x="1651000" y="1587500"/>
            <a:ext cx="3937000" cy="3048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indent="0" algn="l">
              <a:lnSpc>
                <a:spcPct val="125000"/>
              </a:lnSpc>
              <a:defRPr/>
            </a:pPr>
            <a:r>
              <a:rPr lang="en-US" sz="1600" b="1" i="0" u="none" strike="noStrike">
                <a:solidFill>
                  <a:srgbClr val="0B6E99"/>
                </a:solidFill>
                <a:latin typeface="Noto Sans SC"/>
                <a:ea typeface="Noto Sans SC"/>
                <a:cs typeface="Noto Sans SC"/>
                <a:sym typeface="Noto Sans SC"/>
              </a:rPr>
              <a:t>核心介绍</a:t>
            </a:r>
            <a:endParaRPr lang="en-US" sz="1100"/>
          </a:p>
        </p:txBody>
      </p:sp>
      <p:sp>
        <p:nvSpPr>
          <p:cNvPr id="7" name="AutoShape 7"/>
          <p:cNvSpPr/>
          <p:nvPr/>
        </p:nvSpPr>
        <p:spPr>
          <a:xfrm>
            <a:off x="1651000" y="1968500"/>
            <a:ext cx="3937000" cy="762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t" anchorCtr="0"/>
          <a:lstStyle/>
          <a:p>
            <a:pPr indent="0" algn="l">
              <a:lnSpc>
                <a:spcPct val="108333"/>
              </a:lnSpc>
              <a:defRPr/>
            </a:pPr>
            <a:r>
              <a:rPr lang="en-US" sz="1100" b="0" i="0" u="none" strike="noStrike">
                <a:solidFill>
                  <a:srgbClr val="555555"/>
                </a:solidFill>
                <a:latin typeface="Noto Sans SC"/>
                <a:ea typeface="Noto Sans SC"/>
                <a:cs typeface="Noto Sans SC"/>
                <a:sym typeface="Noto Sans SC"/>
              </a:rPr>
              <a:t>HCL AppScan 是一套领先的应用安全测试解决方案套件。它集成多种技术，为开发、DevOps及安全团队提供贯穿整个软件开发生命周期 (SDLC) 的漏洞检测与修复能力。</a:t>
            </a:r>
            <a:endParaRPr lang="en-US" sz="1100"/>
          </a:p>
        </p:txBody>
      </p:sp>
      <p:sp>
        <p:nvSpPr>
          <p:cNvPr id="8" name="AutoShape 8"/>
          <p:cNvSpPr/>
          <p:nvPr/>
        </p:nvSpPr>
        <p:spPr>
          <a:xfrm>
            <a:off x="762000" y="3048000"/>
            <a:ext cx="5080000" cy="1079500"/>
          </a:xfrm>
          <a:prstGeom prst="roundRect">
            <a:avLst>
              <a:gd name="adj" fmla="val 14117"/>
            </a:avLst>
          </a:prstGeom>
          <a:solidFill>
            <a:srgbClr val="FFFFFF">
              <a:alpha val="95000"/>
            </a:srgbClr>
          </a:solidFill>
          <a:ln w="25400" cap="flat" cmpd="sng">
            <a:noFill/>
            <a:prstDash val="solid"/>
            <a:round/>
          </a:ln>
          <a:effectLst>
            <a:outerShdw blurRad="152400" dist="50800" dir="2700000" algn="tl" rotWithShape="0">
              <a:srgbClr val="000000">
                <a:alpha val="8000"/>
              </a:srgbClr>
            </a:outerShdw>
          </a:effectLst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  <a:endParaRPr/>
          </a:p>
        </p:txBody>
      </p:sp>
      <p:pic>
        <p:nvPicPr>
          <p:cNvPr id="9" name="Picture 9"/>
          <p:cNvPicPr>
            <a:picLocks noChangeAspect="1"/>
          </p:cNvPicPr>
          <p:nvPr/>
        </p:nvPicPr>
        <p:blipFill>
          <a:blip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1016000" y="3276600"/>
            <a:ext cx="406400" cy="406400"/>
          </a:xfrm>
          <a:prstGeom prst="rect">
            <a:avLst/>
          </a:prstGeom>
        </p:spPr>
      </p:pic>
      <p:sp>
        <p:nvSpPr>
          <p:cNvPr id="10" name="AutoShape 10"/>
          <p:cNvSpPr/>
          <p:nvPr/>
        </p:nvSpPr>
        <p:spPr>
          <a:xfrm>
            <a:off x="1651000" y="3200400"/>
            <a:ext cx="3937000" cy="3048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indent="0" algn="l">
              <a:lnSpc>
                <a:spcPct val="125000"/>
              </a:lnSpc>
              <a:defRPr/>
            </a:pPr>
            <a:r>
              <a:rPr lang="en-US" sz="1400" b="1" i="0" u="none" strike="noStrike">
                <a:solidFill>
                  <a:srgbClr val="333333"/>
                </a:solidFill>
                <a:latin typeface="Noto Sans SC"/>
                <a:ea typeface="Noto Sans SC"/>
                <a:cs typeface="Noto Sans SC"/>
                <a:sym typeface="Noto Sans SC"/>
              </a:rPr>
              <a:t>产品定位</a:t>
            </a:r>
            <a:endParaRPr lang="en-US" sz="1100"/>
          </a:p>
        </p:txBody>
      </p:sp>
      <p:sp>
        <p:nvSpPr>
          <p:cNvPr id="11" name="AutoShape 11"/>
          <p:cNvSpPr/>
          <p:nvPr/>
        </p:nvSpPr>
        <p:spPr>
          <a:xfrm>
            <a:off x="1651000" y="3556000"/>
            <a:ext cx="3937000" cy="508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t" anchorCtr="0"/>
          <a:lstStyle/>
          <a:p>
            <a:pPr indent="0" algn="l">
              <a:lnSpc>
                <a:spcPct val="125000"/>
              </a:lnSpc>
              <a:defRPr/>
            </a:pPr>
            <a:r>
              <a:rPr lang="en-US" sz="1100" b="0" i="0" u="none" strike="noStrike">
                <a:solidFill>
                  <a:srgbClr val="555555"/>
                </a:solidFill>
                <a:latin typeface="Noto Sans SC"/>
                <a:ea typeface="Noto Sans SC"/>
                <a:cs typeface="Noto Sans SC"/>
                <a:sym typeface="Noto Sans SC"/>
              </a:rPr>
              <a:t>面向企业级用户，提供全生命周期的应用安全测试与风险管理平台。</a:t>
            </a:r>
            <a:endParaRPr lang="en-US" sz="1100"/>
          </a:p>
        </p:txBody>
      </p:sp>
      <p:sp>
        <p:nvSpPr>
          <p:cNvPr id="12" name="AutoShape 12"/>
          <p:cNvSpPr/>
          <p:nvPr/>
        </p:nvSpPr>
        <p:spPr>
          <a:xfrm>
            <a:off x="762000" y="4254500"/>
            <a:ext cx="5080000" cy="1206500"/>
          </a:xfrm>
          <a:prstGeom prst="roundRect">
            <a:avLst>
              <a:gd name="adj" fmla="val 12631"/>
            </a:avLst>
          </a:prstGeom>
          <a:solidFill>
            <a:srgbClr val="FFFFFF">
              <a:alpha val="95000"/>
            </a:srgbClr>
          </a:solidFill>
          <a:ln w="25400" cap="flat" cmpd="sng">
            <a:noFill/>
            <a:prstDash val="solid"/>
            <a:round/>
          </a:ln>
          <a:effectLst>
            <a:outerShdw blurRad="152400" dist="50800" dir="2700000" algn="tl" rotWithShape="0">
              <a:srgbClr val="000000">
                <a:alpha val="8000"/>
              </a:srgbClr>
            </a:outerShdw>
          </a:effectLst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  <a:endParaRPr/>
          </a:p>
        </p:txBody>
      </p:sp>
      <p:pic>
        <p:nvPicPr>
          <p:cNvPr id="13" name="Picture 13"/>
          <p:cNvPicPr>
            <a:picLocks noChangeAspect="1"/>
          </p:cNvPicPr>
          <p:nvPr/>
        </p:nvPicPr>
        <p:blipFill>
          <a:blip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p:blipFill>
        <p:spPr>
          <a:xfrm>
            <a:off x="1016000" y="4508500"/>
            <a:ext cx="406400" cy="406400"/>
          </a:xfrm>
          <a:prstGeom prst="rect">
            <a:avLst/>
          </a:prstGeom>
        </p:spPr>
      </p:pic>
      <p:sp>
        <p:nvSpPr>
          <p:cNvPr id="14" name="AutoShape 14"/>
          <p:cNvSpPr/>
          <p:nvPr/>
        </p:nvSpPr>
        <p:spPr>
          <a:xfrm>
            <a:off x="1651000" y="4419600"/>
            <a:ext cx="3937000" cy="3048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indent="0" algn="l">
              <a:lnSpc>
                <a:spcPct val="125000"/>
              </a:lnSpc>
              <a:defRPr/>
            </a:pPr>
            <a:r>
              <a:rPr lang="en-US" sz="1400" b="1" i="0" u="none" strike="noStrike">
                <a:solidFill>
                  <a:srgbClr val="333333"/>
                </a:solidFill>
                <a:latin typeface="Noto Sans SC"/>
                <a:ea typeface="Noto Sans SC"/>
                <a:cs typeface="Noto Sans SC"/>
                <a:sym typeface="Noto Sans SC"/>
              </a:rPr>
              <a:t>核心组件能力</a:t>
            </a:r>
            <a:endParaRPr lang="en-US" sz="1100"/>
          </a:p>
        </p:txBody>
      </p:sp>
      <p:sp>
        <p:nvSpPr>
          <p:cNvPr id="15" name="AutoShape 15"/>
          <p:cNvSpPr/>
          <p:nvPr/>
        </p:nvSpPr>
        <p:spPr>
          <a:xfrm>
            <a:off x="1651000" y="4775200"/>
            <a:ext cx="3937000" cy="635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t" anchorCtr="0"/>
          <a:lstStyle/>
          <a:p>
            <a:pPr indent="0" algn="l">
              <a:lnSpc>
                <a:spcPct val="100000"/>
              </a:lnSpc>
              <a:defRPr/>
            </a:pPr>
            <a:r>
              <a:rPr lang="en-US" sz="1100" b="0" i="0" u="none" strike="noStrike">
                <a:solidFill>
                  <a:srgbClr val="555555"/>
                </a:solidFill>
                <a:latin typeface="Noto Sans SC"/>
                <a:ea typeface="Noto Sans SC"/>
                <a:cs typeface="Noto Sans SC"/>
                <a:sym typeface="Noto Sans SC"/>
              </a:rPr>
              <a:t>Standard (DAST) / Source (SAST) / IAST 交互式分析 / SCA 软件成分分析，覆盖多种测试场景。</a:t>
            </a:r>
            <a:endParaRPr lang="en-US" sz="1100"/>
          </a:p>
        </p:txBody>
      </p:sp>
      <p:sp>
        <p:nvSpPr>
          <p:cNvPr id="16" name="AutoShape 16"/>
          <p:cNvSpPr/>
          <p:nvPr/>
        </p:nvSpPr>
        <p:spPr>
          <a:xfrm>
            <a:off x="762000" y="5588000"/>
            <a:ext cx="5080000" cy="952500"/>
          </a:xfrm>
          <a:prstGeom prst="roundRect">
            <a:avLst>
              <a:gd name="adj" fmla="val 16000"/>
            </a:avLst>
          </a:prstGeom>
          <a:solidFill>
            <a:srgbClr val="FFFFFF">
              <a:alpha val="95000"/>
            </a:srgbClr>
          </a:solidFill>
          <a:ln w="25400" cap="flat" cmpd="sng">
            <a:noFill/>
            <a:prstDash val="solid"/>
            <a:round/>
          </a:ln>
          <a:effectLst>
            <a:outerShdw blurRad="152400" dist="50800" dir="2700000" algn="tl" rotWithShape="0">
              <a:srgbClr val="000000">
                <a:alpha val="8000"/>
              </a:srgbClr>
            </a:outerShdw>
          </a:effectLst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  <a:endParaRPr/>
          </a:p>
        </p:txBody>
      </p:sp>
      <p:pic>
        <p:nvPicPr>
          <p:cNvPr id="17" name="Picture 17"/>
          <p:cNvPicPr>
            <a:picLocks noChangeAspect="1"/>
          </p:cNvPicPr>
          <p:nvPr/>
        </p:nvPicPr>
        <p:blipFill>
          <a:blip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7"/>
              </a:ext>
            </a:extLst>
          </a:blip>
          <a:stretch>
            <a:fillRect/>
          </a:stretch>
        </p:blipFill>
        <p:spPr>
          <a:xfrm>
            <a:off x="1016000" y="5791200"/>
            <a:ext cx="406400" cy="406400"/>
          </a:xfrm>
          <a:prstGeom prst="rect">
            <a:avLst/>
          </a:prstGeom>
        </p:spPr>
      </p:pic>
      <p:sp>
        <p:nvSpPr>
          <p:cNvPr id="18" name="AutoShape 18"/>
          <p:cNvSpPr/>
          <p:nvPr/>
        </p:nvSpPr>
        <p:spPr>
          <a:xfrm>
            <a:off x="1651000" y="5740400"/>
            <a:ext cx="3937000" cy="3048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indent="0" algn="l">
              <a:lnSpc>
                <a:spcPct val="125000"/>
              </a:lnSpc>
              <a:defRPr/>
            </a:pPr>
            <a:r>
              <a:rPr lang="en-US" sz="1400" b="1" i="0" u="none" strike="noStrike">
                <a:solidFill>
                  <a:srgbClr val="333333"/>
                </a:solidFill>
                <a:latin typeface="Noto Sans SC"/>
                <a:ea typeface="Noto Sans SC"/>
                <a:cs typeface="Noto Sans SC"/>
                <a:sym typeface="Noto Sans SC"/>
              </a:rPr>
              <a:t>业界领先地位</a:t>
            </a:r>
            <a:endParaRPr lang="en-US" sz="1100"/>
          </a:p>
        </p:txBody>
      </p:sp>
      <p:sp>
        <p:nvSpPr>
          <p:cNvPr id="19" name="AutoShape 19"/>
          <p:cNvSpPr/>
          <p:nvPr/>
        </p:nvSpPr>
        <p:spPr>
          <a:xfrm>
            <a:off x="1651000" y="6070600"/>
            <a:ext cx="3937000" cy="381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t" anchorCtr="0"/>
          <a:lstStyle/>
          <a:p>
            <a:pPr indent="0" algn="l">
              <a:lnSpc>
                <a:spcPct val="125000"/>
              </a:lnSpc>
              <a:defRPr/>
            </a:pPr>
            <a:r>
              <a:rPr lang="en-US" sz="1100" b="0" i="0" u="none" strike="noStrike">
                <a:solidFill>
                  <a:srgbClr val="555555"/>
                </a:solidFill>
                <a:latin typeface="Noto Sans SC"/>
                <a:ea typeface="Noto Sans SC"/>
                <a:cs typeface="Noto Sans SC"/>
                <a:sym typeface="Noto Sans SC"/>
              </a:rPr>
              <a:t>与 AWVS、Burp Suite 并称三大顶级 Web 应用漏洞扫描工具。</a:t>
            </a:r>
            <a:endParaRPr lang="en-US" sz="1100"/>
          </a:p>
        </p:txBody>
      </p:sp>
      <p:sp>
        <p:nvSpPr>
          <p:cNvPr id="20" name="AutoShape 20"/>
          <p:cNvSpPr/>
          <p:nvPr/>
        </p:nvSpPr>
        <p:spPr>
          <a:xfrm>
            <a:off x="6096000" y="1397000"/>
            <a:ext cx="5080000" cy="5143500"/>
          </a:xfrm>
          <a:prstGeom prst="roundRect">
            <a:avLst>
              <a:gd name="adj" fmla="val 3000"/>
            </a:avLst>
          </a:prstGeom>
          <a:solidFill>
            <a:srgbClr val="FFFFFF">
              <a:alpha val="100000"/>
            </a:srgbClr>
          </a:solidFill>
          <a:ln w="25400" cap="flat" cmpd="sng">
            <a:noFill/>
            <a:prstDash val="solid"/>
            <a:round/>
          </a:ln>
          <a:effectLst>
            <a:outerShdw blurRad="203200" dist="76200" dir="2700000" algn="tl" rotWithShape="0">
              <a:srgbClr val="000000">
                <a:alpha val="15000"/>
              </a:srgbClr>
            </a:outerShdw>
          </a:effectLst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  <a:endParaRPr/>
          </a:p>
        </p:txBody>
      </p:sp>
      <p:pic>
        <p:nvPicPr>
          <p:cNvPr id="21" name="Picture 21"/>
          <p:cNvPicPr>
            <a:picLocks noChangeAspect="1"/>
          </p:cNvPicPr>
          <p:nvPr/>
        </p:nvPicPr>
        <p:blipFill>
          <a:blip r:embed="rId8"/>
          <a:srcRect l="23226" r="23226"/>
          <a:stretch>
            <a:fillRect/>
          </a:stretch>
        </p:blipFill>
        <p:spPr>
          <a:xfrm>
            <a:off x="6286500" y="1587500"/>
            <a:ext cx="4699000" cy="4762500"/>
          </a:xfrm>
          <a:prstGeom prst="roundRect">
            <a:avLst>
              <a:gd name="adj" fmla="val 2162"/>
            </a:avLst>
          </a:prstGeom>
          <a:noFill/>
          <a:ln w="25400" cap="flat" cmpd="sng">
            <a:noFill/>
            <a:prstDash val="solid"/>
            <a:round/>
          </a:ln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3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AutoShape 2"/>
          <p:cNvSpPr/>
          <p:nvPr/>
        </p:nvSpPr>
        <p:spPr>
          <a:xfrm>
            <a:off x="0" y="0"/>
            <a:ext cx="12192000" cy="6858000"/>
          </a:xfrm>
          <a:prstGeom prst="roundRect">
            <a:avLst>
              <a:gd name="adj" fmla="val 0"/>
            </a:avLst>
          </a:prstGeom>
          <a:solidFill>
            <a:srgbClr val="FFFFFF">
              <a:alpha val="40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  <a:endParaRPr/>
          </a:p>
        </p:txBody>
      </p:sp>
      <p:sp>
        <p:nvSpPr>
          <p:cNvPr id="3" name="AutoShape 3"/>
          <p:cNvSpPr/>
          <p:nvPr/>
        </p:nvSpPr>
        <p:spPr>
          <a:xfrm>
            <a:off x="762000" y="635000"/>
            <a:ext cx="10668000" cy="508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indent="0" algn="l">
              <a:lnSpc>
                <a:spcPct val="125000"/>
              </a:lnSpc>
              <a:defRPr/>
            </a:pPr>
            <a:r>
              <a:rPr lang="en-US" sz="3200" b="1" i="0" u="none" strike="noStrike">
                <a:solidFill>
                  <a:srgbClr val="333333"/>
                </a:solidFill>
                <a:latin typeface="Noto Sans SC"/>
                <a:ea typeface="Noto Sans SC"/>
                <a:cs typeface="Noto Sans SC"/>
                <a:sym typeface="Noto Sans SC"/>
              </a:rPr>
              <a:t>HCL AppScan：核心技术</a:t>
            </a:r>
            <a:endParaRPr lang="en-US" sz="1100"/>
          </a:p>
        </p:txBody>
      </p:sp>
      <p:sp>
        <p:nvSpPr>
          <p:cNvPr id="4" name="AutoShape 4"/>
          <p:cNvSpPr/>
          <p:nvPr/>
        </p:nvSpPr>
        <p:spPr>
          <a:xfrm>
            <a:off x="762000" y="1524000"/>
            <a:ext cx="4826000" cy="4826000"/>
          </a:xfrm>
          <a:prstGeom prst="roundRect">
            <a:avLst>
              <a:gd name="adj" fmla="val 4210"/>
            </a:avLst>
          </a:prstGeom>
          <a:solidFill>
            <a:srgbClr val="FFFFFF">
              <a:alpha val="95000"/>
            </a:srgbClr>
          </a:solidFill>
          <a:ln w="25400" cap="flat" cmpd="sng">
            <a:noFill/>
            <a:prstDash val="solid"/>
            <a:round/>
          </a:ln>
          <a:effectLst>
            <a:outerShdw blurRad="203200" dist="50800" dir="2700000" algn="tl" rotWithShape="0">
              <a:srgbClr val="000000">
                <a:alpha val="8000"/>
              </a:srgbClr>
            </a:outerShdw>
          </a:effectLst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  <a:endParaRPr/>
          </a:p>
        </p:txBody>
      </p:sp>
      <p:pic>
        <p:nvPicPr>
          <p:cNvPr id="5" name="Picture 5"/>
          <p:cNvPicPr>
            <a:picLocks noChangeAspect="1"/>
          </p:cNvPicPr>
          <p:nvPr/>
        </p:nvPicPr>
        <p:blipFill>
          <a:blip r:embed="rId4"/>
          <a:srcRect l="8984" r="8984"/>
          <a:stretch>
            <a:fillRect/>
          </a:stretch>
        </p:blipFill>
        <p:spPr>
          <a:xfrm>
            <a:off x="952500" y="1778000"/>
            <a:ext cx="4445000" cy="3048000"/>
          </a:xfrm>
          <a:prstGeom prst="roundRect">
            <a:avLst>
              <a:gd name="adj" fmla="val 5000"/>
            </a:avLst>
          </a:prstGeom>
          <a:noFill/>
          <a:ln w="25400" cap="flat" cmpd="sng">
            <a:noFill/>
            <a:prstDash val="solid"/>
            <a:round/>
          </a:ln>
        </p:spPr>
      </p:pic>
      <p:sp>
        <p:nvSpPr>
          <p:cNvPr id="6" name="AutoShape 6"/>
          <p:cNvSpPr/>
          <p:nvPr/>
        </p:nvSpPr>
        <p:spPr>
          <a:xfrm>
            <a:off x="952500" y="5016500"/>
            <a:ext cx="4445000" cy="762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t" anchorCtr="0"/>
          <a:lstStyle/>
          <a:p>
            <a:pPr indent="0" algn="ctr">
              <a:lnSpc>
                <a:spcPct val="116666"/>
              </a:lnSpc>
              <a:defRPr/>
            </a:pPr>
            <a:r>
              <a:rPr lang="en-US" sz="1200" b="0" i="0" u="none" strike="noStrike">
                <a:solidFill>
                  <a:srgbClr val="555555"/>
                </a:solidFill>
                <a:latin typeface="Noto Sans SC"/>
                <a:ea typeface="Noto Sans SC"/>
                <a:cs typeface="Noto Sans SC"/>
                <a:sym typeface="Noto Sans SC"/>
              </a:rPr>
              <a:t>DAST 动态应用安全测试全流程可视化示意</a:t>
            </a:r>
            <a:br>
              <a:rPr lang="en-US" sz="1200" b="0" i="0" u="none" strike="noStrike">
                <a:solidFill>
                  <a:srgbClr val="555555"/>
                </a:solidFill>
                <a:latin typeface="Noto Sans SC"/>
                <a:ea typeface="Noto Sans SC"/>
                <a:cs typeface="Noto Sans SC"/>
                <a:sym typeface="Noto Sans SC"/>
              </a:rPr>
            </a:br>
            <a:r>
              <a:rPr lang="en-US" sz="1200" b="0" i="0" u="none" strike="noStrike">
                <a:solidFill>
                  <a:srgbClr val="555555"/>
                </a:solidFill>
                <a:latin typeface="Noto Sans SC"/>
                <a:ea typeface="Noto Sans SC"/>
                <a:cs typeface="Noto Sans SC"/>
                <a:sym typeface="Noto Sans SC"/>
              </a:rPr>
              <a:t>模拟真实用户行为，深度探索复杂应用路径</a:t>
            </a:r>
            <a:endParaRPr lang="en-US" sz="1100"/>
          </a:p>
        </p:txBody>
      </p:sp>
      <p:sp>
        <p:nvSpPr>
          <p:cNvPr id="7" name="AutoShape 7"/>
          <p:cNvSpPr/>
          <p:nvPr/>
        </p:nvSpPr>
        <p:spPr>
          <a:xfrm>
            <a:off x="5842000" y="1524000"/>
            <a:ext cx="5588000" cy="1397000"/>
          </a:xfrm>
          <a:prstGeom prst="roundRect">
            <a:avLst>
              <a:gd name="adj" fmla="val 10909"/>
            </a:avLst>
          </a:prstGeom>
          <a:solidFill>
            <a:srgbClr val="FFFFFF">
              <a:alpha val="95000"/>
            </a:srgbClr>
          </a:solidFill>
          <a:ln w="25400" cap="flat" cmpd="sng">
            <a:noFill/>
            <a:prstDash val="solid"/>
            <a:round/>
          </a:ln>
          <a:effectLst>
            <a:outerShdw blurRad="152400" dist="25400" dir="2700000" algn="tl" rotWithShape="0">
              <a:srgbClr val="000000">
                <a:alpha val="8000"/>
              </a:srgbClr>
            </a:outerShdw>
          </a:effectLst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  <a:endParaRPr/>
          </a:p>
        </p:txBody>
      </p:sp>
      <p:sp>
        <p:nvSpPr>
          <p:cNvPr id="8" name="AutoShape 8"/>
          <p:cNvSpPr/>
          <p:nvPr/>
        </p:nvSpPr>
        <p:spPr>
          <a:xfrm>
            <a:off x="6032500" y="1714500"/>
            <a:ext cx="609600" cy="609600"/>
          </a:xfrm>
          <a:prstGeom prst="roundRect">
            <a:avLst>
              <a:gd name="adj" fmla="val 25000"/>
            </a:avLst>
          </a:prstGeom>
          <a:solidFill>
            <a:srgbClr val="2563EB">
              <a:alpha val="10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  <a:endParaRPr/>
          </a:p>
        </p:txBody>
      </p:sp>
      <p:pic>
        <p:nvPicPr>
          <p:cNvPr id="9" name="Picture 9"/>
          <p:cNvPicPr>
            <a:picLocks noChangeAspect="1"/>
          </p:cNvPicPr>
          <p:nvPr/>
        </p:nvPicPr>
        <p:blipFill>
          <a:blip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6184900" y="1866900"/>
            <a:ext cx="304800" cy="304800"/>
          </a:xfrm>
          <a:prstGeom prst="rect">
            <a:avLst/>
          </a:prstGeom>
        </p:spPr>
      </p:pic>
      <p:sp>
        <p:nvSpPr>
          <p:cNvPr id="10" name="AutoShape 10"/>
          <p:cNvSpPr/>
          <p:nvPr/>
        </p:nvSpPr>
        <p:spPr>
          <a:xfrm>
            <a:off x="6858000" y="1676400"/>
            <a:ext cx="4318000" cy="3302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indent="0" algn="l">
              <a:lnSpc>
                <a:spcPct val="125000"/>
              </a:lnSpc>
              <a:defRPr/>
            </a:pPr>
            <a:r>
              <a:rPr lang="en-US" sz="1600" b="1" i="0" u="none" strike="noStrike">
                <a:solidFill>
                  <a:srgbClr val="333333"/>
                </a:solidFill>
                <a:latin typeface="Noto Sans SC"/>
                <a:ea typeface="Noto Sans SC"/>
                <a:cs typeface="Noto Sans SC"/>
                <a:sym typeface="Noto Sans SC"/>
              </a:rPr>
              <a:t>强大的 DAST 动态扫描引擎</a:t>
            </a:r>
            <a:endParaRPr lang="en-US" sz="1100"/>
          </a:p>
        </p:txBody>
      </p:sp>
      <p:sp>
        <p:nvSpPr>
          <p:cNvPr id="11" name="AutoShape 11"/>
          <p:cNvSpPr/>
          <p:nvPr/>
        </p:nvSpPr>
        <p:spPr>
          <a:xfrm>
            <a:off x="6858000" y="2057400"/>
            <a:ext cx="4318000" cy="6985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t" anchorCtr="0"/>
          <a:lstStyle/>
          <a:p>
            <a:pPr indent="0" algn="l">
              <a:lnSpc>
                <a:spcPct val="108333"/>
              </a:lnSpc>
              <a:defRPr/>
            </a:pPr>
            <a:r>
              <a:rPr lang="en-US" sz="1100" b="0" i="0" u="none" strike="noStrike">
                <a:solidFill>
                  <a:srgbClr val="666666"/>
                </a:solidFill>
                <a:latin typeface="Noto Sans SC"/>
                <a:ea typeface="Noto Sans SC"/>
                <a:cs typeface="Noto Sans SC"/>
                <a:sym typeface="Noto Sans SC"/>
              </a:rPr>
              <a:t>内置嵌入式浏览器，完美解析 Angular/Vue 等复杂前端技术；自动化探索全站路径并注入攻击载荷，覆盖 OWASP Top 10 等数万个核心漏洞规则。</a:t>
            </a:r>
            <a:endParaRPr lang="en-US" sz="1100"/>
          </a:p>
        </p:txBody>
      </p:sp>
      <p:sp>
        <p:nvSpPr>
          <p:cNvPr id="12" name="AutoShape 12"/>
          <p:cNvSpPr/>
          <p:nvPr/>
        </p:nvSpPr>
        <p:spPr>
          <a:xfrm>
            <a:off x="5842000" y="3175000"/>
            <a:ext cx="5588000" cy="1397000"/>
          </a:xfrm>
          <a:prstGeom prst="roundRect">
            <a:avLst>
              <a:gd name="adj" fmla="val 10909"/>
            </a:avLst>
          </a:prstGeom>
          <a:solidFill>
            <a:srgbClr val="FFFFFF">
              <a:alpha val="95000"/>
            </a:srgbClr>
          </a:solidFill>
          <a:ln w="25400" cap="flat" cmpd="sng">
            <a:noFill/>
            <a:prstDash val="solid"/>
            <a:round/>
          </a:ln>
          <a:effectLst>
            <a:outerShdw blurRad="152400" dist="25400" dir="2700000" algn="tl" rotWithShape="0">
              <a:srgbClr val="000000">
                <a:alpha val="8000"/>
              </a:srgbClr>
            </a:outerShdw>
          </a:effectLst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  <a:endParaRPr/>
          </a:p>
        </p:txBody>
      </p:sp>
      <p:sp>
        <p:nvSpPr>
          <p:cNvPr id="13" name="AutoShape 13"/>
          <p:cNvSpPr/>
          <p:nvPr/>
        </p:nvSpPr>
        <p:spPr>
          <a:xfrm>
            <a:off x="6032500" y="3365500"/>
            <a:ext cx="609600" cy="609600"/>
          </a:xfrm>
          <a:prstGeom prst="roundRect">
            <a:avLst>
              <a:gd name="adj" fmla="val 25000"/>
            </a:avLst>
          </a:prstGeom>
          <a:solidFill>
            <a:srgbClr val="10B981">
              <a:alpha val="10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  <a:endParaRPr/>
          </a:p>
        </p:txBody>
      </p:sp>
      <p:pic>
        <p:nvPicPr>
          <p:cNvPr id="14" name="Picture 14"/>
          <p:cNvPicPr>
            <a:picLocks noChangeAspect="1"/>
          </p:cNvPicPr>
          <p:nvPr/>
        </p:nvPicPr>
        <p:blipFill>
          <a:blip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p:blipFill>
        <p:spPr>
          <a:xfrm>
            <a:off x="6184900" y="3517900"/>
            <a:ext cx="304800" cy="304800"/>
          </a:xfrm>
          <a:prstGeom prst="rect">
            <a:avLst/>
          </a:prstGeom>
        </p:spPr>
      </p:pic>
      <p:sp>
        <p:nvSpPr>
          <p:cNvPr id="15" name="AutoShape 15"/>
          <p:cNvSpPr/>
          <p:nvPr/>
        </p:nvSpPr>
        <p:spPr>
          <a:xfrm>
            <a:off x="6858000" y="3327400"/>
            <a:ext cx="4318000" cy="3302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indent="0" algn="l">
              <a:lnSpc>
                <a:spcPct val="125000"/>
              </a:lnSpc>
              <a:defRPr/>
            </a:pPr>
            <a:r>
              <a:rPr lang="en-US" sz="1600" b="1" i="0" u="none" strike="noStrike">
                <a:solidFill>
                  <a:srgbClr val="333333"/>
                </a:solidFill>
                <a:latin typeface="Noto Sans SC"/>
                <a:ea typeface="Noto Sans SC"/>
                <a:cs typeface="Noto Sans SC"/>
                <a:sym typeface="Noto Sans SC"/>
              </a:rPr>
              <a:t>全栈集成化测试体系 (IAST/SAST/SCA)</a:t>
            </a:r>
            <a:endParaRPr lang="en-US" sz="1100"/>
          </a:p>
        </p:txBody>
      </p:sp>
      <p:sp>
        <p:nvSpPr>
          <p:cNvPr id="16" name="AutoShape 16"/>
          <p:cNvSpPr/>
          <p:nvPr/>
        </p:nvSpPr>
        <p:spPr>
          <a:xfrm>
            <a:off x="6858000" y="3708400"/>
            <a:ext cx="4318000" cy="6985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t" anchorCtr="0"/>
          <a:lstStyle/>
          <a:p>
            <a:pPr indent="0" algn="l">
              <a:lnSpc>
                <a:spcPct val="108333"/>
              </a:lnSpc>
              <a:defRPr/>
            </a:pPr>
            <a:r>
              <a:rPr lang="en-US" sz="1100" b="0" i="0" u="none" strike="noStrike">
                <a:solidFill>
                  <a:srgbClr val="666666"/>
                </a:solidFill>
                <a:latin typeface="Noto Sans SC"/>
                <a:ea typeface="Noto Sans SC"/>
                <a:cs typeface="Noto Sans SC"/>
                <a:sym typeface="Noto Sans SC"/>
              </a:rPr>
              <a:t>IAST 结合攻击与代码执行路径精准定位漏洞；SAST 左移至开发阶段分析源码；SCA 自动扫描 Log4j 等开源组件依赖风险，实现全方位检测。</a:t>
            </a:r>
            <a:endParaRPr lang="en-US" sz="1100"/>
          </a:p>
        </p:txBody>
      </p:sp>
      <p:sp>
        <p:nvSpPr>
          <p:cNvPr id="17" name="AutoShape 17"/>
          <p:cNvSpPr/>
          <p:nvPr/>
        </p:nvSpPr>
        <p:spPr>
          <a:xfrm>
            <a:off x="5842000" y="4826000"/>
            <a:ext cx="5588000" cy="1397000"/>
          </a:xfrm>
          <a:prstGeom prst="roundRect">
            <a:avLst>
              <a:gd name="adj" fmla="val 10909"/>
            </a:avLst>
          </a:prstGeom>
          <a:solidFill>
            <a:srgbClr val="FFFFFF">
              <a:alpha val="95000"/>
            </a:srgbClr>
          </a:solidFill>
          <a:ln w="25400" cap="flat" cmpd="sng">
            <a:noFill/>
            <a:prstDash val="solid"/>
            <a:round/>
          </a:ln>
          <a:effectLst>
            <a:outerShdw blurRad="152400" dist="25400" dir="2700000" algn="tl" rotWithShape="0">
              <a:srgbClr val="000000">
                <a:alpha val="8000"/>
              </a:srgbClr>
            </a:outerShdw>
          </a:effectLst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  <a:endParaRPr/>
          </a:p>
        </p:txBody>
      </p:sp>
      <p:sp>
        <p:nvSpPr>
          <p:cNvPr id="18" name="AutoShape 18"/>
          <p:cNvSpPr/>
          <p:nvPr/>
        </p:nvSpPr>
        <p:spPr>
          <a:xfrm>
            <a:off x="6032500" y="5016500"/>
            <a:ext cx="609600" cy="609600"/>
          </a:xfrm>
          <a:prstGeom prst="roundRect">
            <a:avLst>
              <a:gd name="adj" fmla="val 25000"/>
            </a:avLst>
          </a:prstGeom>
          <a:solidFill>
            <a:srgbClr val="F59E0B">
              <a:alpha val="10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  <a:endParaRPr/>
          </a:p>
        </p:txBody>
      </p:sp>
      <p:pic>
        <p:nvPicPr>
          <p:cNvPr id="19" name="Picture 19"/>
          <p:cNvPicPr>
            <a:picLocks noChangeAspect="1"/>
          </p:cNvPicPr>
          <p:nvPr/>
        </p:nvPicPr>
        <p:blipFill>
          <a:blip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7"/>
              </a:ext>
            </a:extLst>
          </a:blip>
          <a:stretch>
            <a:fillRect/>
          </a:stretch>
        </p:blipFill>
        <p:spPr>
          <a:xfrm>
            <a:off x="6184900" y="5168900"/>
            <a:ext cx="304800" cy="304800"/>
          </a:xfrm>
          <a:prstGeom prst="rect">
            <a:avLst/>
          </a:prstGeom>
        </p:spPr>
      </p:pic>
      <p:sp>
        <p:nvSpPr>
          <p:cNvPr id="20" name="AutoShape 20"/>
          <p:cNvSpPr/>
          <p:nvPr/>
        </p:nvSpPr>
        <p:spPr>
          <a:xfrm>
            <a:off x="6858000" y="4978400"/>
            <a:ext cx="4318000" cy="3302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indent="0" algn="l">
              <a:lnSpc>
                <a:spcPct val="125000"/>
              </a:lnSpc>
              <a:defRPr/>
            </a:pPr>
            <a:r>
              <a:rPr lang="en-US" sz="1600" b="1" i="0" u="none" strike="noStrike">
                <a:solidFill>
                  <a:srgbClr val="333333"/>
                </a:solidFill>
                <a:latin typeface="Noto Sans SC"/>
                <a:ea typeface="Noto Sans SC"/>
                <a:cs typeface="Noto Sans SC"/>
                <a:sym typeface="Noto Sans SC"/>
              </a:rPr>
              <a:t>AI/ML 智能漏洞分析 (IFA)</a:t>
            </a:r>
            <a:endParaRPr lang="en-US" sz="1100"/>
          </a:p>
        </p:txBody>
      </p:sp>
      <p:sp>
        <p:nvSpPr>
          <p:cNvPr id="21" name="AutoShape 21"/>
          <p:cNvSpPr/>
          <p:nvPr/>
        </p:nvSpPr>
        <p:spPr>
          <a:xfrm>
            <a:off x="6858000" y="5359400"/>
            <a:ext cx="4318000" cy="6985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t" anchorCtr="0"/>
          <a:lstStyle/>
          <a:p>
            <a:pPr indent="0" algn="l">
              <a:lnSpc>
                <a:spcPct val="108333"/>
              </a:lnSpc>
              <a:defRPr/>
            </a:pPr>
            <a:r>
              <a:rPr lang="en-US" sz="1100" b="0" i="0" u="none" strike="noStrike">
                <a:solidFill>
                  <a:srgbClr val="666666"/>
                </a:solidFill>
                <a:latin typeface="Noto Sans SC"/>
                <a:ea typeface="Noto Sans SC"/>
                <a:cs typeface="Noto Sans SC"/>
                <a:sym typeface="Noto Sans SC"/>
              </a:rPr>
              <a:t>利用机器学习算法对扫描结果进行智能分析与自动验证，剔除无效告警，显著降低误报率，极大释放安全团队的人工审核时间成本。</a:t>
            </a:r>
            <a:endParaRPr lang="en-US" sz="110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3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AutoShape 2"/>
          <p:cNvSpPr/>
          <p:nvPr/>
        </p:nvSpPr>
        <p:spPr>
          <a:xfrm>
            <a:off x="0" y="0"/>
            <a:ext cx="12192000" cy="6858000"/>
          </a:xfrm>
          <a:prstGeom prst="roundRect">
            <a:avLst>
              <a:gd name="adj" fmla="val 0"/>
            </a:avLst>
          </a:prstGeom>
          <a:solidFill>
            <a:srgbClr val="FFFFFF">
              <a:alpha val="75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  <a:endParaRPr/>
          </a:p>
        </p:txBody>
      </p:sp>
      <p:sp>
        <p:nvSpPr>
          <p:cNvPr id="3" name="AutoShape 3"/>
          <p:cNvSpPr/>
          <p:nvPr/>
        </p:nvSpPr>
        <p:spPr>
          <a:xfrm>
            <a:off x="762000" y="635000"/>
            <a:ext cx="5080000" cy="508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indent="0" algn="l">
              <a:lnSpc>
                <a:spcPct val="125000"/>
              </a:lnSpc>
              <a:defRPr/>
            </a:pPr>
            <a:r>
              <a:rPr lang="en-US" sz="3200" b="1" i="0" u="none" strike="noStrike">
                <a:solidFill>
                  <a:srgbClr val="333333"/>
                </a:solidFill>
                <a:latin typeface="Noto Sans SC"/>
                <a:ea typeface="Noto Sans SC"/>
                <a:cs typeface="Noto Sans SC"/>
                <a:sym typeface="Noto Sans SC"/>
              </a:rPr>
              <a:t>HCL AppScan：核心功能</a:t>
            </a:r>
            <a:endParaRPr lang="en-US" sz="1100"/>
          </a:p>
        </p:txBody>
      </p:sp>
      <p:sp>
        <p:nvSpPr>
          <p:cNvPr id="4" name="AutoShape 4"/>
          <p:cNvSpPr/>
          <p:nvPr/>
        </p:nvSpPr>
        <p:spPr>
          <a:xfrm>
            <a:off x="762000" y="1524000"/>
            <a:ext cx="3302000" cy="4572000"/>
          </a:xfrm>
          <a:prstGeom prst="roundRect">
            <a:avLst>
              <a:gd name="adj" fmla="val 6153"/>
            </a:avLst>
          </a:prstGeom>
          <a:solidFill>
            <a:srgbClr val="FFFFFF">
              <a:alpha val="95000"/>
            </a:srgbClr>
          </a:solidFill>
          <a:ln w="25400" cap="flat" cmpd="sng">
            <a:noFill/>
            <a:prstDash val="solid"/>
            <a:round/>
          </a:ln>
          <a:effectLst>
            <a:outerShdw blurRad="203200" dist="50800" dir="2700000" algn="tl" rotWithShape="0">
              <a:srgbClr val="000000">
                <a:alpha val="8000"/>
              </a:srgbClr>
            </a:outerShdw>
          </a:effectLst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  <a:endParaRPr/>
          </a:p>
        </p:txBody>
      </p:sp>
      <p:sp>
        <p:nvSpPr>
          <p:cNvPr id="5" name="AutoShape 5"/>
          <p:cNvSpPr/>
          <p:nvPr/>
        </p:nvSpPr>
        <p:spPr>
          <a:xfrm>
            <a:off x="1016000" y="1778000"/>
            <a:ext cx="609600" cy="609600"/>
          </a:xfrm>
          <a:prstGeom prst="ellipse">
            <a:avLst/>
          </a:prstGeom>
          <a:solidFill>
            <a:srgbClr val="EFF6FF">
              <a:alpha val="100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  <a:endParaRPr/>
          </a:p>
        </p:txBody>
      </p:sp>
      <p:pic>
        <p:nvPicPr>
          <p:cNvPr id="6" name="Picture 6"/>
          <p:cNvPicPr>
            <a:picLocks noChangeAspect="1"/>
          </p:cNvPicPr>
          <p:nvPr/>
        </p:nvPicPr>
        <p:blipFill>
          <a:blip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1143000" y="1905000"/>
            <a:ext cx="355600" cy="355600"/>
          </a:xfrm>
          <a:prstGeom prst="rect">
            <a:avLst/>
          </a:prstGeom>
        </p:spPr>
      </p:pic>
      <p:sp>
        <p:nvSpPr>
          <p:cNvPr id="7" name="AutoShape 7"/>
          <p:cNvSpPr/>
          <p:nvPr/>
        </p:nvSpPr>
        <p:spPr>
          <a:xfrm>
            <a:off x="1778000" y="1879600"/>
            <a:ext cx="2032000" cy="4064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indent="0" algn="l">
              <a:lnSpc>
                <a:spcPct val="125000"/>
              </a:lnSpc>
              <a:defRPr/>
            </a:pPr>
            <a:r>
              <a:rPr lang="en-US" sz="1800" b="1" i="0" u="none" strike="noStrike">
                <a:solidFill>
                  <a:srgbClr val="333333"/>
                </a:solidFill>
                <a:latin typeface="Noto Sans SC"/>
                <a:ea typeface="Noto Sans SC"/>
                <a:cs typeface="Noto Sans SC"/>
                <a:sym typeface="Noto Sans SC"/>
              </a:rPr>
              <a:t>全面自动化扫描</a:t>
            </a:r>
            <a:endParaRPr lang="en-US" sz="1100"/>
          </a:p>
        </p:txBody>
      </p:sp>
      <p:cxnSp>
        <p:nvCxnSpPr>
          <p:cNvPr id="8" name="Connector 8"/>
          <p:cNvCxnSpPr/>
          <p:nvPr/>
        </p:nvCxnSpPr>
        <p:spPr>
          <a:xfrm rot="-15626">
            <a:off x="1016014" y="2597150"/>
            <a:ext cx="2794000" cy="12700"/>
          </a:xfrm>
          <a:prstGeom prst="straightConnector1">
            <a:avLst/>
          </a:prstGeom>
          <a:solidFill>
            <a:srgbClr val="DEE0E3">
              <a:alpha val="100000"/>
            </a:srgbClr>
          </a:solidFill>
          <a:ln w="12700" cap="flat" cmpd="sng">
            <a:solidFill>
              <a:srgbClr val="E5E7EB">
                <a:alpha val="100000"/>
              </a:srgbClr>
            </a:solidFill>
            <a:prstDash val="solid"/>
            <a:round/>
            <a:headEnd type="none" w="med" len="med"/>
            <a:tailEnd type="none" w="med" len="med"/>
          </a:ln>
        </p:spPr>
      </p:cxnSp>
      <p:sp>
        <p:nvSpPr>
          <p:cNvPr id="9" name="AutoShape 9"/>
          <p:cNvSpPr/>
          <p:nvPr/>
        </p:nvSpPr>
        <p:spPr>
          <a:xfrm>
            <a:off x="1016000" y="2857500"/>
            <a:ext cx="2794000" cy="8255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indent="0" algn="l">
              <a:lnSpc>
                <a:spcPct val="125000"/>
              </a:lnSpc>
              <a:defRPr/>
            </a:pPr>
            <a:r>
              <a:rPr lang="en-US" sz="1300" b="1" i="0" u="none" strike="noStrike">
                <a:solidFill>
                  <a:srgbClr val="4B5563"/>
                </a:solidFill>
                <a:latin typeface="Noto Sans SC"/>
                <a:ea typeface="Noto Sans SC"/>
                <a:cs typeface="Noto Sans SC"/>
                <a:sym typeface="Noto Sans SC"/>
              </a:rPr>
              <a:t>Web应用与API深度测试</a:t>
            </a:r>
            <a:endParaRPr lang="en-US" sz="1100"/>
          </a:p>
          <a:p>
            <a:pPr indent="0" algn="l">
              <a:lnSpc>
                <a:spcPct val="125000"/>
              </a:lnSpc>
            </a:pPr>
            <a:r>
              <a:rPr lang="en-US" sz="1100" b="0" i="0" u="none" strike="noStrike">
                <a:solidFill>
                  <a:srgbClr val="6B7280"/>
                </a:solidFill>
                <a:latin typeface="Noto Sans SC"/>
                <a:ea typeface="Noto Sans SC"/>
                <a:cs typeface="Noto Sans SC"/>
                <a:sym typeface="Noto Sans SC"/>
              </a:rPr>
              <a:t>支持RESTful、SOAP协议，支持直接导入Postman集合定义，覆盖现代应用架构。</a:t>
            </a:r>
          </a:p>
        </p:txBody>
      </p:sp>
      <p:sp>
        <p:nvSpPr>
          <p:cNvPr id="10" name="AutoShape 10"/>
          <p:cNvSpPr/>
          <p:nvPr/>
        </p:nvSpPr>
        <p:spPr>
          <a:xfrm>
            <a:off x="1016000" y="3873500"/>
            <a:ext cx="2794000" cy="8255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indent="0" algn="l">
              <a:lnSpc>
                <a:spcPct val="125000"/>
              </a:lnSpc>
              <a:defRPr/>
            </a:pPr>
            <a:r>
              <a:rPr lang="en-US" sz="1300" b="1" i="0" u="none" strike="noStrike">
                <a:solidFill>
                  <a:srgbClr val="4B5563"/>
                </a:solidFill>
                <a:latin typeface="Noto Sans SC"/>
                <a:ea typeface="Noto Sans SC"/>
                <a:cs typeface="Noto Sans SC"/>
                <a:sym typeface="Noto Sans SC"/>
              </a:rPr>
              <a:t>复杂登录机制智能处理</a:t>
            </a:r>
            <a:endParaRPr lang="en-US" sz="1100"/>
          </a:p>
          <a:p>
            <a:pPr indent="0" algn="l">
              <a:lnSpc>
                <a:spcPct val="125000"/>
              </a:lnSpc>
            </a:pPr>
            <a:r>
              <a:rPr lang="en-US" sz="1100" b="0" i="0" u="none" strike="noStrike">
                <a:solidFill>
                  <a:srgbClr val="6B7280"/>
                </a:solidFill>
                <a:latin typeface="Noto Sans SC"/>
                <a:ea typeface="Noto Sans SC"/>
                <a:cs typeface="Noto Sans SC"/>
                <a:sym typeface="Noto Sans SC"/>
              </a:rPr>
              <a:t>完美支持表单登录、多步骤认证及Token令牌机制，确保扫描深度覆盖受保护区域。</a:t>
            </a:r>
          </a:p>
        </p:txBody>
      </p:sp>
      <p:sp>
        <p:nvSpPr>
          <p:cNvPr id="11" name="AutoShape 11"/>
          <p:cNvSpPr/>
          <p:nvPr/>
        </p:nvSpPr>
        <p:spPr>
          <a:xfrm>
            <a:off x="1016000" y="4889500"/>
            <a:ext cx="2794000" cy="8255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indent="0" algn="l">
              <a:lnSpc>
                <a:spcPct val="125000"/>
              </a:lnSpc>
              <a:defRPr/>
            </a:pPr>
            <a:r>
              <a:rPr lang="en-US" sz="1300" b="1" i="0" u="none" strike="noStrike">
                <a:solidFill>
                  <a:srgbClr val="4B5563"/>
                </a:solidFill>
                <a:latin typeface="Noto Sans SC"/>
                <a:ea typeface="Noto Sans SC"/>
                <a:cs typeface="Noto Sans SC"/>
                <a:sym typeface="Noto Sans SC"/>
              </a:rPr>
              <a:t>自定义脚本精细控制</a:t>
            </a:r>
            <a:endParaRPr lang="en-US" sz="1100"/>
          </a:p>
          <a:p>
            <a:pPr indent="0" algn="l">
              <a:lnSpc>
                <a:spcPct val="125000"/>
              </a:lnSpc>
            </a:pPr>
            <a:r>
              <a:rPr lang="en-US" sz="1100" b="0" i="0" u="none" strike="noStrike">
                <a:solidFill>
                  <a:srgbClr val="6B7280"/>
                </a:solidFill>
                <a:latin typeface="Noto Sans SC"/>
                <a:ea typeface="Noto Sans SC"/>
                <a:cs typeface="Noto Sans SC"/>
                <a:sym typeface="Noto Sans SC"/>
              </a:rPr>
              <a:t>允许编写JavaScript脚本定制扫描逻辑，灵活应对各类复杂的业务场景与交互流程。</a:t>
            </a:r>
          </a:p>
        </p:txBody>
      </p:sp>
      <p:sp>
        <p:nvSpPr>
          <p:cNvPr id="12" name="AutoShape 12"/>
          <p:cNvSpPr/>
          <p:nvPr/>
        </p:nvSpPr>
        <p:spPr>
          <a:xfrm>
            <a:off x="4318000" y="1524000"/>
            <a:ext cx="3302000" cy="4572000"/>
          </a:xfrm>
          <a:prstGeom prst="roundRect">
            <a:avLst>
              <a:gd name="adj" fmla="val 6153"/>
            </a:avLst>
          </a:prstGeom>
          <a:solidFill>
            <a:srgbClr val="FFFFFF">
              <a:alpha val="95000"/>
            </a:srgbClr>
          </a:solidFill>
          <a:ln w="25400" cap="flat" cmpd="sng">
            <a:noFill/>
            <a:prstDash val="solid"/>
            <a:round/>
          </a:ln>
          <a:effectLst>
            <a:outerShdw blurRad="203200" dist="50800" dir="2700000" algn="tl" rotWithShape="0">
              <a:srgbClr val="000000">
                <a:alpha val="8000"/>
              </a:srgbClr>
            </a:outerShdw>
          </a:effectLst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  <a:endParaRPr/>
          </a:p>
        </p:txBody>
      </p:sp>
      <p:sp>
        <p:nvSpPr>
          <p:cNvPr id="13" name="AutoShape 13"/>
          <p:cNvSpPr/>
          <p:nvPr/>
        </p:nvSpPr>
        <p:spPr>
          <a:xfrm>
            <a:off x="4572000" y="1778000"/>
            <a:ext cx="609600" cy="609600"/>
          </a:xfrm>
          <a:prstGeom prst="ellipse">
            <a:avLst/>
          </a:prstGeom>
          <a:solidFill>
            <a:srgbClr val="EFF6FF">
              <a:alpha val="100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  <a:endParaRPr/>
          </a:p>
        </p:txBody>
      </p:sp>
      <p:pic>
        <p:nvPicPr>
          <p:cNvPr id="14" name="Picture 14"/>
          <p:cNvPicPr>
            <a:picLocks noChangeAspect="1"/>
          </p:cNvPicPr>
          <p:nvPr/>
        </p:nvPicPr>
        <p:blipFill>
          <a:blip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4699000" y="1905000"/>
            <a:ext cx="355600" cy="355600"/>
          </a:xfrm>
          <a:prstGeom prst="rect">
            <a:avLst/>
          </a:prstGeom>
        </p:spPr>
      </p:pic>
      <p:sp>
        <p:nvSpPr>
          <p:cNvPr id="15" name="AutoShape 15"/>
          <p:cNvSpPr/>
          <p:nvPr/>
        </p:nvSpPr>
        <p:spPr>
          <a:xfrm>
            <a:off x="5334000" y="1879600"/>
            <a:ext cx="2032000" cy="4064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indent="0" algn="l">
              <a:lnSpc>
                <a:spcPct val="125000"/>
              </a:lnSpc>
              <a:defRPr/>
            </a:pPr>
            <a:r>
              <a:rPr lang="en-US" sz="1800" b="1" i="0" u="none" strike="noStrike">
                <a:solidFill>
                  <a:srgbClr val="333333"/>
                </a:solidFill>
                <a:latin typeface="Noto Sans SC"/>
                <a:ea typeface="Noto Sans SC"/>
                <a:cs typeface="Noto Sans SC"/>
                <a:sym typeface="Noto Sans SC"/>
              </a:rPr>
              <a:t>灵活部署与集成</a:t>
            </a:r>
            <a:endParaRPr lang="en-US" sz="1100"/>
          </a:p>
        </p:txBody>
      </p:sp>
      <p:cxnSp>
        <p:nvCxnSpPr>
          <p:cNvPr id="16" name="Connector 16"/>
          <p:cNvCxnSpPr/>
          <p:nvPr/>
        </p:nvCxnSpPr>
        <p:spPr>
          <a:xfrm rot="-15626">
            <a:off x="4572014" y="2597150"/>
            <a:ext cx="2794000" cy="12700"/>
          </a:xfrm>
          <a:prstGeom prst="straightConnector1">
            <a:avLst/>
          </a:prstGeom>
          <a:solidFill>
            <a:srgbClr val="DEE0E3">
              <a:alpha val="100000"/>
            </a:srgbClr>
          </a:solidFill>
          <a:ln w="12700" cap="flat" cmpd="sng">
            <a:solidFill>
              <a:srgbClr val="E5E7EB">
                <a:alpha val="100000"/>
              </a:srgbClr>
            </a:solidFill>
            <a:prstDash val="solid"/>
            <a:round/>
            <a:headEnd type="none" w="med" len="med"/>
            <a:tailEnd type="none" w="med" len="med"/>
          </a:ln>
        </p:spPr>
      </p:cxnSp>
      <p:sp>
        <p:nvSpPr>
          <p:cNvPr id="17" name="AutoShape 17"/>
          <p:cNvSpPr/>
          <p:nvPr/>
        </p:nvSpPr>
        <p:spPr>
          <a:xfrm>
            <a:off x="4572000" y="2984500"/>
            <a:ext cx="2794000" cy="1143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indent="0" algn="l">
              <a:lnSpc>
                <a:spcPct val="125000"/>
              </a:lnSpc>
              <a:defRPr/>
            </a:pPr>
            <a:r>
              <a:rPr lang="en-US" sz="1300" b="1" i="0" u="none" strike="noStrike">
                <a:solidFill>
                  <a:srgbClr val="4B5563"/>
                </a:solidFill>
                <a:latin typeface="Noto Sans SC"/>
                <a:ea typeface="Noto Sans SC"/>
                <a:cs typeface="Noto Sans SC"/>
                <a:sym typeface="Noto Sans SC"/>
              </a:rPr>
              <a:t>全场景部署方案</a:t>
            </a:r>
            <a:endParaRPr lang="en-US" sz="1100"/>
          </a:p>
          <a:p>
            <a:pPr indent="0" algn="l">
              <a:lnSpc>
                <a:spcPct val="125000"/>
              </a:lnSpc>
            </a:pPr>
            <a:r>
              <a:rPr lang="en-US" sz="1100" b="0" i="0" u="none" strike="noStrike">
                <a:solidFill>
                  <a:srgbClr val="6B7280"/>
                </a:solidFill>
                <a:latin typeface="Noto Sans SC"/>
                <a:ea typeface="Noto Sans SC"/>
                <a:cs typeface="Noto Sans SC"/>
                <a:sym typeface="Noto Sans SC"/>
              </a:rPr>
              <a:t>支持本地私有化安装、AppScan on Cloud 云端服务，以及云原生的 AppScan 360° 解决方案，适应不同安全环境。</a:t>
            </a:r>
          </a:p>
        </p:txBody>
      </p:sp>
      <p:sp>
        <p:nvSpPr>
          <p:cNvPr id="18" name="AutoShape 18"/>
          <p:cNvSpPr/>
          <p:nvPr/>
        </p:nvSpPr>
        <p:spPr>
          <a:xfrm>
            <a:off x="4572000" y="4381500"/>
            <a:ext cx="2794000" cy="1143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indent="0" algn="l">
              <a:lnSpc>
                <a:spcPct val="125000"/>
              </a:lnSpc>
              <a:defRPr/>
            </a:pPr>
            <a:r>
              <a:rPr lang="en-US" sz="1300" b="1" i="0" u="none" strike="noStrike">
                <a:solidFill>
                  <a:srgbClr val="4B5563"/>
                </a:solidFill>
                <a:latin typeface="Noto Sans SC"/>
                <a:ea typeface="Noto Sans SC"/>
                <a:cs typeface="Noto Sans SC"/>
                <a:sym typeface="Noto Sans SC"/>
              </a:rPr>
              <a:t>DevSecOps 无缝融合</a:t>
            </a:r>
            <a:endParaRPr lang="en-US" sz="1100"/>
          </a:p>
          <a:p>
            <a:pPr indent="0" algn="l">
              <a:lnSpc>
                <a:spcPct val="125000"/>
              </a:lnSpc>
            </a:pPr>
            <a:r>
              <a:rPr lang="en-US" sz="1100" b="0" i="0" u="none" strike="noStrike">
                <a:solidFill>
                  <a:srgbClr val="6B7280"/>
                </a:solidFill>
                <a:latin typeface="Noto Sans SC"/>
                <a:ea typeface="Noto Sans SC"/>
                <a:cs typeface="Noto Sans SC"/>
                <a:sym typeface="Noto Sans SC"/>
              </a:rPr>
              <a:t>与 Jenkins、Bamboo 等主流 CI/CD 工具链深度集成，将安全测试嵌入开发流水线，实现左移测试。</a:t>
            </a:r>
          </a:p>
        </p:txBody>
      </p:sp>
      <p:sp>
        <p:nvSpPr>
          <p:cNvPr id="19" name="AutoShape 19"/>
          <p:cNvSpPr/>
          <p:nvPr/>
        </p:nvSpPr>
        <p:spPr>
          <a:xfrm>
            <a:off x="7874000" y="1524000"/>
            <a:ext cx="3556000" cy="4572000"/>
          </a:xfrm>
          <a:prstGeom prst="roundRect">
            <a:avLst>
              <a:gd name="adj" fmla="val 5714"/>
            </a:avLst>
          </a:prstGeom>
          <a:solidFill>
            <a:srgbClr val="FFFFFF">
              <a:alpha val="95000"/>
            </a:srgbClr>
          </a:solidFill>
          <a:ln w="25400" cap="flat" cmpd="sng">
            <a:noFill/>
            <a:prstDash val="solid"/>
            <a:round/>
          </a:ln>
          <a:effectLst>
            <a:outerShdw blurRad="203200" dist="50800" dir="2700000" algn="tl" rotWithShape="0">
              <a:srgbClr val="000000">
                <a:alpha val="8000"/>
              </a:srgbClr>
            </a:outerShdw>
          </a:effectLst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  <a:endParaRPr/>
          </a:p>
        </p:txBody>
      </p:sp>
      <p:sp>
        <p:nvSpPr>
          <p:cNvPr id="20" name="AutoShape 20"/>
          <p:cNvSpPr/>
          <p:nvPr/>
        </p:nvSpPr>
        <p:spPr>
          <a:xfrm>
            <a:off x="8128000" y="1778000"/>
            <a:ext cx="609600" cy="609600"/>
          </a:xfrm>
          <a:prstGeom prst="ellipse">
            <a:avLst/>
          </a:prstGeom>
          <a:solidFill>
            <a:srgbClr val="EFF6FF">
              <a:alpha val="100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  <a:endParaRPr/>
          </a:p>
        </p:txBody>
      </p:sp>
      <p:pic>
        <p:nvPicPr>
          <p:cNvPr id="21" name="Picture 21"/>
          <p:cNvPicPr>
            <a:picLocks noChangeAspect="1"/>
          </p:cNvPicPr>
          <p:nvPr/>
        </p:nvPicPr>
        <p:blipFill>
          <a:blip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p:blipFill>
        <p:spPr>
          <a:xfrm>
            <a:off x="8255000" y="1905000"/>
            <a:ext cx="355600" cy="355600"/>
          </a:xfrm>
          <a:prstGeom prst="rect">
            <a:avLst/>
          </a:prstGeom>
        </p:spPr>
      </p:pic>
      <p:sp>
        <p:nvSpPr>
          <p:cNvPr id="22" name="AutoShape 22"/>
          <p:cNvSpPr/>
          <p:nvPr/>
        </p:nvSpPr>
        <p:spPr>
          <a:xfrm>
            <a:off x="8890000" y="1879600"/>
            <a:ext cx="2032000" cy="4064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indent="0" algn="l">
              <a:lnSpc>
                <a:spcPct val="125000"/>
              </a:lnSpc>
              <a:defRPr/>
            </a:pPr>
            <a:r>
              <a:rPr lang="en-US" sz="1800" b="1" i="0" u="none" strike="noStrike">
                <a:solidFill>
                  <a:srgbClr val="333333"/>
                </a:solidFill>
                <a:latin typeface="Noto Sans SC"/>
                <a:ea typeface="Noto Sans SC"/>
                <a:cs typeface="Noto Sans SC"/>
                <a:sym typeface="Noto Sans SC"/>
              </a:rPr>
              <a:t>合规报告与审计</a:t>
            </a:r>
            <a:endParaRPr lang="en-US" sz="1100"/>
          </a:p>
        </p:txBody>
      </p:sp>
      <p:cxnSp>
        <p:nvCxnSpPr>
          <p:cNvPr id="23" name="Connector 23"/>
          <p:cNvCxnSpPr/>
          <p:nvPr/>
        </p:nvCxnSpPr>
        <p:spPr>
          <a:xfrm rot="-14323">
            <a:off x="8128013" y="2597150"/>
            <a:ext cx="3048000" cy="12700"/>
          </a:xfrm>
          <a:prstGeom prst="straightConnector1">
            <a:avLst/>
          </a:prstGeom>
          <a:solidFill>
            <a:srgbClr val="DEE0E3">
              <a:alpha val="100000"/>
            </a:srgbClr>
          </a:solidFill>
          <a:ln w="12700" cap="flat" cmpd="sng">
            <a:solidFill>
              <a:srgbClr val="E5E7EB">
                <a:alpha val="100000"/>
              </a:srgbClr>
            </a:solidFill>
            <a:prstDash val="solid"/>
            <a:round/>
            <a:headEnd type="none" w="med" len="med"/>
            <a:tailEnd type="none" w="med" len="med"/>
          </a:ln>
        </p:spPr>
      </p:cxnSp>
      <p:pic>
        <p:nvPicPr>
          <p:cNvPr id="24" name="Picture 24"/>
          <p:cNvPicPr>
            <a:picLocks noChangeAspect="1"/>
          </p:cNvPicPr>
          <p:nvPr/>
        </p:nvPicPr>
        <p:blipFill>
          <a:blip r:embed="rId7"/>
          <a:srcRect l="2000" r="2000"/>
          <a:stretch>
            <a:fillRect/>
          </a:stretch>
        </p:blipFill>
        <p:spPr>
          <a:xfrm>
            <a:off x="8128000" y="2857500"/>
            <a:ext cx="3048000" cy="1270000"/>
          </a:xfrm>
          <a:prstGeom prst="roundRect">
            <a:avLst>
              <a:gd name="adj" fmla="val 8000"/>
            </a:avLst>
          </a:prstGeom>
          <a:noFill/>
          <a:ln w="25400" cap="flat" cmpd="sng">
            <a:noFill/>
            <a:prstDash val="solid"/>
            <a:round/>
          </a:ln>
        </p:spPr>
      </p:pic>
      <p:pic>
        <p:nvPicPr>
          <p:cNvPr id="25" name="Picture 25"/>
          <p:cNvPicPr>
            <a:picLocks noChangeAspect="1"/>
          </p:cNvPicPr>
          <p:nvPr/>
        </p:nvPicPr>
        <p:blipFill>
          <a:blip r:embed="rId8"/>
          <a:srcRect/>
          <a:stretch>
            <a:fillRect/>
          </a:stretch>
        </p:blipFill>
        <p:spPr>
          <a:xfrm>
            <a:off x="8128000" y="4318000"/>
            <a:ext cx="1397000" cy="1397000"/>
          </a:xfrm>
          <a:prstGeom prst="roundRect">
            <a:avLst>
              <a:gd name="adj" fmla="val 7272"/>
            </a:avLst>
          </a:prstGeom>
          <a:noFill/>
          <a:ln w="25400" cap="flat" cmpd="sng">
            <a:noFill/>
            <a:prstDash val="solid"/>
            <a:round/>
          </a:ln>
        </p:spPr>
      </p:pic>
      <p:sp>
        <p:nvSpPr>
          <p:cNvPr id="26" name="AutoShape 26"/>
          <p:cNvSpPr/>
          <p:nvPr/>
        </p:nvSpPr>
        <p:spPr>
          <a:xfrm>
            <a:off x="9652000" y="4381500"/>
            <a:ext cx="1524000" cy="1270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indent="0" algn="l">
              <a:lnSpc>
                <a:spcPct val="125000"/>
              </a:lnSpc>
              <a:defRPr/>
            </a:pPr>
            <a:r>
              <a:rPr lang="en-US" sz="1200" b="1" i="0" u="none" strike="noStrike">
                <a:solidFill>
                  <a:srgbClr val="4B5563"/>
                </a:solidFill>
                <a:latin typeface="Noto Sans SC"/>
                <a:ea typeface="Noto Sans SC"/>
                <a:cs typeface="Noto Sans SC"/>
                <a:sym typeface="Noto Sans SC"/>
              </a:rPr>
              <a:t>权威合规支持</a:t>
            </a:r>
            <a:endParaRPr lang="en-US" sz="1100"/>
          </a:p>
          <a:p>
            <a:pPr indent="0" algn="l">
              <a:lnSpc>
                <a:spcPct val="125000"/>
              </a:lnSpc>
            </a:pPr>
            <a:r>
              <a:rPr lang="en-US" sz="1000" b="0" i="0" u="none" strike="noStrike">
                <a:solidFill>
                  <a:srgbClr val="6B7280"/>
                </a:solidFill>
                <a:latin typeface="Noto Sans SC"/>
                <a:ea typeface="Noto Sans SC"/>
                <a:cs typeface="Noto Sans SC"/>
                <a:sym typeface="Noto Sans SC"/>
              </a:rPr>
              <a:t>内置40+模板，完美覆盖OWASP Top 10、PCI DSS、GDPR等审计标准。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3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AutoShape 2"/>
          <p:cNvSpPr/>
          <p:nvPr/>
        </p:nvSpPr>
        <p:spPr>
          <a:xfrm>
            <a:off x="0" y="0"/>
            <a:ext cx="12192000" cy="6858000"/>
          </a:xfrm>
          <a:prstGeom prst="roundRect">
            <a:avLst>
              <a:gd name="adj" fmla="val 0"/>
            </a:avLst>
          </a:prstGeom>
          <a:solidFill>
            <a:srgbClr val="FFFFFF">
              <a:alpha val="40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  <a:endParaRPr/>
          </a:p>
        </p:txBody>
      </p:sp>
      <p:sp>
        <p:nvSpPr>
          <p:cNvPr id="3" name="AutoShape 3"/>
          <p:cNvSpPr/>
          <p:nvPr/>
        </p:nvSpPr>
        <p:spPr>
          <a:xfrm>
            <a:off x="762000" y="635000"/>
            <a:ext cx="10668000" cy="508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indent="0" algn="l">
              <a:lnSpc>
                <a:spcPct val="125000"/>
              </a:lnSpc>
              <a:defRPr/>
            </a:pPr>
            <a:r>
              <a:rPr lang="en-US" sz="3200" b="1" i="0" u="none" strike="noStrike" dirty="0">
                <a:solidFill>
                  <a:srgbClr val="333333"/>
                </a:solidFill>
                <a:latin typeface="Noto Sans SC"/>
                <a:ea typeface="Noto Sans SC"/>
                <a:cs typeface="Noto Sans SC"/>
                <a:sym typeface="Noto Sans SC"/>
              </a:rPr>
              <a:t>HCL </a:t>
            </a:r>
            <a:r>
              <a:rPr lang="en-US" sz="3200" b="1" i="0" u="none" strike="noStrike" dirty="0" err="1">
                <a:solidFill>
                  <a:srgbClr val="333333"/>
                </a:solidFill>
                <a:latin typeface="Noto Sans SC"/>
                <a:ea typeface="Noto Sans SC"/>
                <a:cs typeface="Noto Sans SC"/>
                <a:sym typeface="Noto Sans SC"/>
              </a:rPr>
              <a:t>AppScan：扫描流程</a:t>
            </a:r>
            <a:r>
              <a:rPr lang="zh-CN" altLang="en-US" sz="3200" b="1" i="0" u="none" strike="noStrike" dirty="0">
                <a:solidFill>
                  <a:srgbClr val="333333"/>
                </a:solidFill>
                <a:latin typeface="Noto Sans SC"/>
                <a:ea typeface="Noto Sans SC"/>
                <a:cs typeface="Noto Sans SC"/>
                <a:sym typeface="Noto Sans SC"/>
              </a:rPr>
              <a:t>（见演示视频）</a:t>
            </a:r>
            <a:endParaRPr lang="en-US" sz="1100" dirty="0"/>
          </a:p>
        </p:txBody>
      </p:sp>
      <p:pic>
        <p:nvPicPr>
          <p:cNvPr id="4" name="Picture 4"/>
          <p:cNvPicPr>
            <a:picLocks noChangeAspect="1"/>
          </p:cNvPicPr>
          <p:nvPr/>
        </p:nvPicPr>
        <p:blipFill>
          <a:blip r:embed="rId4"/>
          <a:srcRect l="18251" r="18251"/>
          <a:stretch>
            <a:fillRect/>
          </a:stretch>
        </p:blipFill>
        <p:spPr>
          <a:xfrm>
            <a:off x="762000" y="1524000"/>
            <a:ext cx="4318000" cy="4826000"/>
          </a:xfrm>
          <a:prstGeom prst="roundRect">
            <a:avLst>
              <a:gd name="adj" fmla="val 3529"/>
            </a:avLst>
          </a:prstGeom>
          <a:noFill/>
          <a:ln w="25400" cap="flat" cmpd="sng">
            <a:noFill/>
            <a:prstDash val="solid"/>
            <a:round/>
          </a:ln>
          <a:effectLst>
            <a:outerShdw blurRad="254000" dist="76200" dir="2700000" algn="tl" rotWithShape="0">
              <a:srgbClr val="000000">
                <a:alpha val="15000"/>
              </a:srgbClr>
            </a:outerShdw>
          </a:effectLst>
        </p:spPr>
      </p:pic>
      <p:sp>
        <p:nvSpPr>
          <p:cNvPr id="5" name="AutoShape 5"/>
          <p:cNvSpPr/>
          <p:nvPr/>
        </p:nvSpPr>
        <p:spPr>
          <a:xfrm>
            <a:off x="5334000" y="1524000"/>
            <a:ext cx="6096000" cy="2349500"/>
          </a:xfrm>
          <a:prstGeom prst="roundRect">
            <a:avLst>
              <a:gd name="adj" fmla="val 6486"/>
            </a:avLst>
          </a:prstGeom>
          <a:solidFill>
            <a:srgbClr val="FFFFFF">
              <a:alpha val="92000"/>
            </a:srgbClr>
          </a:solidFill>
          <a:ln w="25400" cap="flat" cmpd="sng">
            <a:noFill/>
            <a:prstDash val="solid"/>
            <a:round/>
          </a:ln>
          <a:effectLst>
            <a:outerShdw blurRad="190500" dist="50800" dir="2700000" algn="tl" rotWithShape="0">
              <a:srgbClr val="000000">
                <a:alpha val="8000"/>
              </a:srgbClr>
            </a:outerShdw>
          </a:effectLst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  <a:endParaRPr/>
          </a:p>
        </p:txBody>
      </p:sp>
      <p:sp>
        <p:nvSpPr>
          <p:cNvPr id="6" name="AutoShape 6"/>
          <p:cNvSpPr/>
          <p:nvPr/>
        </p:nvSpPr>
        <p:spPr>
          <a:xfrm>
            <a:off x="5588000" y="1714500"/>
            <a:ext cx="5588000" cy="381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indent="0" algn="l">
              <a:lnSpc>
                <a:spcPct val="125000"/>
              </a:lnSpc>
              <a:defRPr/>
            </a:pPr>
            <a:r>
              <a:rPr lang="en-US" sz="1800" b="1" i="0" u="none" strike="noStrike">
                <a:solidFill>
                  <a:srgbClr val="2563EB"/>
                </a:solidFill>
                <a:latin typeface="Noto Sans SC"/>
                <a:ea typeface="Noto Sans SC"/>
                <a:cs typeface="Noto Sans SC"/>
                <a:sym typeface="Noto Sans SC"/>
              </a:rPr>
              <a:t>01 / 探索阶段 (Explore) - 构建应用全景</a:t>
            </a:r>
            <a:endParaRPr lang="en-US" sz="1100"/>
          </a:p>
        </p:txBody>
      </p:sp>
      <p:sp>
        <p:nvSpPr>
          <p:cNvPr id="7" name="AutoShape 7"/>
          <p:cNvSpPr/>
          <p:nvPr/>
        </p:nvSpPr>
        <p:spPr>
          <a:xfrm>
            <a:off x="5588000" y="2286000"/>
            <a:ext cx="2667000" cy="952500"/>
          </a:xfrm>
          <a:prstGeom prst="roundRect">
            <a:avLst>
              <a:gd name="adj" fmla="val 10666"/>
            </a:avLst>
          </a:prstGeom>
          <a:solidFill>
            <a:srgbClr val="EFF6FF">
              <a:alpha val="100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  <a:endParaRPr/>
          </a:p>
        </p:txBody>
      </p:sp>
      <p:pic>
        <p:nvPicPr>
          <p:cNvPr id="8" name="Picture 8"/>
          <p:cNvPicPr>
            <a:picLocks noChangeAspect="1"/>
          </p:cNvPicPr>
          <p:nvPr/>
        </p:nvPicPr>
        <p:blipFill>
          <a:blip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5715000" y="2413000"/>
            <a:ext cx="406400" cy="406400"/>
          </a:xfrm>
          <a:prstGeom prst="rect">
            <a:avLst/>
          </a:prstGeom>
        </p:spPr>
      </p:pic>
      <p:sp>
        <p:nvSpPr>
          <p:cNvPr id="9" name="AutoShape 9"/>
          <p:cNvSpPr/>
          <p:nvPr/>
        </p:nvSpPr>
        <p:spPr>
          <a:xfrm>
            <a:off x="6223000" y="2413000"/>
            <a:ext cx="1905000" cy="762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indent="0" algn="l">
              <a:lnSpc>
                <a:spcPct val="125000"/>
              </a:lnSpc>
              <a:defRPr/>
            </a:pPr>
            <a:r>
              <a:rPr lang="en-US" sz="1200" b="1" i="0" u="none" strike="noStrike" dirty="0" err="1">
                <a:solidFill>
                  <a:srgbClr val="333333"/>
                </a:solidFill>
                <a:latin typeface="Noto Sans SC"/>
                <a:ea typeface="Noto Sans SC"/>
                <a:cs typeface="Noto Sans SC"/>
                <a:sym typeface="Noto Sans SC"/>
              </a:rPr>
              <a:t>启动与配置</a:t>
            </a:r>
            <a:endParaRPr lang="en-US" sz="1100" dirty="0"/>
          </a:p>
          <a:p>
            <a:pPr indent="0" algn="l">
              <a:lnSpc>
                <a:spcPct val="125000"/>
              </a:lnSpc>
            </a:pPr>
            <a:r>
              <a:rPr lang="en-US" sz="1000" b="0" i="0" u="none" strike="noStrike" dirty="0" err="1">
                <a:solidFill>
                  <a:srgbClr val="666666"/>
                </a:solidFill>
                <a:latin typeface="Noto Sans SC"/>
                <a:ea typeface="Noto Sans SC"/>
                <a:cs typeface="Noto Sans SC"/>
                <a:sym typeface="Noto Sans SC"/>
              </a:rPr>
              <a:t>输入目标URL，定制扫描策略与范围</a:t>
            </a:r>
            <a:endParaRPr lang="en-US" sz="1000" b="0" i="0" u="none" strike="noStrike" dirty="0">
              <a:solidFill>
                <a:srgbClr val="666666"/>
              </a:solidFill>
              <a:latin typeface="Noto Sans SC"/>
              <a:ea typeface="Noto Sans SC"/>
              <a:cs typeface="Noto Sans SC"/>
              <a:sym typeface="Noto Sans SC"/>
            </a:endParaRPr>
          </a:p>
        </p:txBody>
      </p:sp>
      <p:sp>
        <p:nvSpPr>
          <p:cNvPr id="10" name="AutoShape 10"/>
          <p:cNvSpPr/>
          <p:nvPr/>
        </p:nvSpPr>
        <p:spPr>
          <a:xfrm>
            <a:off x="8509000" y="2286000"/>
            <a:ext cx="2667000" cy="952500"/>
          </a:xfrm>
          <a:prstGeom prst="roundRect">
            <a:avLst>
              <a:gd name="adj" fmla="val 10666"/>
            </a:avLst>
          </a:prstGeom>
          <a:solidFill>
            <a:srgbClr val="EFF6FF">
              <a:alpha val="100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  <a:endParaRPr/>
          </a:p>
        </p:txBody>
      </p:sp>
      <p:pic>
        <p:nvPicPr>
          <p:cNvPr id="11" name="Picture 11"/>
          <p:cNvPicPr>
            <a:picLocks noChangeAspect="1"/>
          </p:cNvPicPr>
          <p:nvPr/>
        </p:nvPicPr>
        <p:blipFill>
          <a:blip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p:blipFill>
        <p:spPr>
          <a:xfrm>
            <a:off x="8636000" y="2413000"/>
            <a:ext cx="406400" cy="406400"/>
          </a:xfrm>
          <a:prstGeom prst="rect">
            <a:avLst/>
          </a:prstGeom>
        </p:spPr>
      </p:pic>
      <p:sp>
        <p:nvSpPr>
          <p:cNvPr id="12" name="AutoShape 12"/>
          <p:cNvSpPr/>
          <p:nvPr/>
        </p:nvSpPr>
        <p:spPr>
          <a:xfrm>
            <a:off x="9144000" y="2413000"/>
            <a:ext cx="1905000" cy="762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indent="0" algn="l">
              <a:lnSpc>
                <a:spcPct val="125000"/>
              </a:lnSpc>
              <a:defRPr/>
            </a:pPr>
            <a:r>
              <a:rPr lang="en-US" sz="1200" b="1" i="0" u="none" strike="noStrike">
                <a:solidFill>
                  <a:srgbClr val="333333"/>
                </a:solidFill>
                <a:latin typeface="Noto Sans SC"/>
                <a:ea typeface="Noto Sans SC"/>
                <a:cs typeface="Noto Sans SC"/>
                <a:sym typeface="Noto Sans SC"/>
              </a:rPr>
              <a:t>智能自动探索</a:t>
            </a:r>
            <a:endParaRPr lang="en-US" sz="1100"/>
          </a:p>
          <a:p>
            <a:pPr indent="0" algn="l">
              <a:lnSpc>
                <a:spcPct val="125000"/>
              </a:lnSpc>
            </a:pPr>
            <a:r>
              <a:rPr lang="en-US" sz="1000" b="0" i="0" u="none" strike="noStrike">
                <a:solidFill>
                  <a:srgbClr val="666666"/>
                </a:solidFill>
                <a:latin typeface="Noto Sans SC"/>
                <a:ea typeface="Noto Sans SC"/>
                <a:cs typeface="Noto Sans SC"/>
                <a:sym typeface="Noto Sans SC"/>
              </a:rPr>
              <a:t>自动跟随链接/表单/脚本，遍历全站资源</a:t>
            </a:r>
          </a:p>
        </p:txBody>
      </p:sp>
      <p:sp>
        <p:nvSpPr>
          <p:cNvPr id="13" name="AutoShape 13"/>
          <p:cNvSpPr/>
          <p:nvPr/>
        </p:nvSpPr>
        <p:spPr>
          <a:xfrm>
            <a:off x="5334000" y="4064000"/>
            <a:ext cx="6096000" cy="2349500"/>
          </a:xfrm>
          <a:prstGeom prst="roundRect">
            <a:avLst>
              <a:gd name="adj" fmla="val 6486"/>
            </a:avLst>
          </a:prstGeom>
          <a:solidFill>
            <a:srgbClr val="FFFFFF">
              <a:alpha val="92000"/>
            </a:srgbClr>
          </a:solidFill>
          <a:ln w="25400" cap="flat" cmpd="sng">
            <a:noFill/>
            <a:prstDash val="solid"/>
            <a:round/>
          </a:ln>
          <a:effectLst>
            <a:outerShdw blurRad="190500" dist="50800" dir="2700000" algn="tl" rotWithShape="0">
              <a:srgbClr val="000000">
                <a:alpha val="8000"/>
              </a:srgbClr>
            </a:outerShdw>
          </a:effectLst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  <a:endParaRPr/>
          </a:p>
        </p:txBody>
      </p:sp>
      <p:sp>
        <p:nvSpPr>
          <p:cNvPr id="14" name="AutoShape 14"/>
          <p:cNvSpPr/>
          <p:nvPr/>
        </p:nvSpPr>
        <p:spPr>
          <a:xfrm>
            <a:off x="5588000" y="4254500"/>
            <a:ext cx="5588000" cy="381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indent="0" algn="l">
              <a:lnSpc>
                <a:spcPct val="125000"/>
              </a:lnSpc>
              <a:defRPr/>
            </a:pPr>
            <a:r>
              <a:rPr lang="en-US" sz="1800" b="1" i="0" u="none" strike="noStrike">
                <a:solidFill>
                  <a:srgbClr val="16A34A"/>
                </a:solidFill>
                <a:latin typeface="Noto Sans SC"/>
                <a:ea typeface="Noto Sans SC"/>
                <a:cs typeface="Noto Sans SC"/>
                <a:sym typeface="Noto Sans SC"/>
              </a:rPr>
              <a:t>02 / 测试阶段 (Test) - 自动化漏洞检测</a:t>
            </a:r>
            <a:endParaRPr lang="en-US" sz="1100"/>
          </a:p>
        </p:txBody>
      </p:sp>
      <p:sp>
        <p:nvSpPr>
          <p:cNvPr id="15" name="AutoShape 15"/>
          <p:cNvSpPr/>
          <p:nvPr/>
        </p:nvSpPr>
        <p:spPr>
          <a:xfrm>
            <a:off x="5588000" y="4826000"/>
            <a:ext cx="2667000" cy="952500"/>
          </a:xfrm>
          <a:prstGeom prst="roundRect">
            <a:avLst>
              <a:gd name="adj" fmla="val 10666"/>
            </a:avLst>
          </a:prstGeom>
          <a:solidFill>
            <a:srgbClr val="F0FDF4">
              <a:alpha val="100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  <a:endParaRPr/>
          </a:p>
        </p:txBody>
      </p:sp>
      <p:pic>
        <p:nvPicPr>
          <p:cNvPr id="16" name="Picture 16"/>
          <p:cNvPicPr>
            <a:picLocks noChangeAspect="1"/>
          </p:cNvPicPr>
          <p:nvPr/>
        </p:nvPicPr>
        <p:blipFill>
          <a:blip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7"/>
              </a:ext>
            </a:extLst>
          </a:blip>
          <a:stretch>
            <a:fillRect/>
          </a:stretch>
        </p:blipFill>
        <p:spPr>
          <a:xfrm>
            <a:off x="5715000" y="4953000"/>
            <a:ext cx="406400" cy="406400"/>
          </a:xfrm>
          <a:prstGeom prst="rect">
            <a:avLst/>
          </a:prstGeom>
        </p:spPr>
      </p:pic>
      <p:sp>
        <p:nvSpPr>
          <p:cNvPr id="17" name="AutoShape 17"/>
          <p:cNvSpPr/>
          <p:nvPr/>
        </p:nvSpPr>
        <p:spPr>
          <a:xfrm>
            <a:off x="6223000" y="4953000"/>
            <a:ext cx="1905000" cy="762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indent="0" algn="l">
              <a:lnSpc>
                <a:spcPct val="125000"/>
              </a:lnSpc>
              <a:defRPr/>
            </a:pPr>
            <a:r>
              <a:rPr lang="en-US" sz="1200" b="1" i="0" u="none" strike="noStrike">
                <a:solidFill>
                  <a:srgbClr val="333333"/>
                </a:solidFill>
                <a:latin typeface="Noto Sans SC"/>
                <a:ea typeface="Noto Sans SC"/>
                <a:cs typeface="Noto Sans SC"/>
                <a:sym typeface="Noto Sans SC"/>
              </a:rPr>
              <a:t>注入攻击载荷</a:t>
            </a:r>
            <a:endParaRPr lang="en-US" sz="1100"/>
          </a:p>
          <a:p>
            <a:pPr indent="0" algn="l">
              <a:lnSpc>
                <a:spcPct val="125000"/>
              </a:lnSpc>
            </a:pPr>
            <a:r>
              <a:rPr lang="en-US" sz="1000" b="0" i="0" u="none" strike="noStrike">
                <a:solidFill>
                  <a:srgbClr val="666666"/>
                </a:solidFill>
                <a:latin typeface="Noto Sans SC"/>
                <a:ea typeface="Noto Sans SC"/>
                <a:cs typeface="Noto Sans SC"/>
                <a:sym typeface="Noto Sans SC"/>
              </a:rPr>
              <a:t>针对所有输入点，自动注入数千种攻击向量</a:t>
            </a:r>
          </a:p>
        </p:txBody>
      </p:sp>
      <p:sp>
        <p:nvSpPr>
          <p:cNvPr id="18" name="AutoShape 18"/>
          <p:cNvSpPr/>
          <p:nvPr/>
        </p:nvSpPr>
        <p:spPr>
          <a:xfrm>
            <a:off x="8509000" y="4826000"/>
            <a:ext cx="2667000" cy="952500"/>
          </a:xfrm>
          <a:prstGeom prst="roundRect">
            <a:avLst>
              <a:gd name="adj" fmla="val 10666"/>
            </a:avLst>
          </a:prstGeom>
          <a:solidFill>
            <a:srgbClr val="F0FDF4">
              <a:alpha val="100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  <a:endParaRPr/>
          </a:p>
        </p:txBody>
      </p:sp>
      <p:pic>
        <p:nvPicPr>
          <p:cNvPr id="19" name="Picture 19"/>
          <p:cNvPicPr>
            <a:picLocks noChangeAspect="1"/>
          </p:cNvPicPr>
          <p:nvPr/>
        </p:nvPicPr>
        <p:blipFill>
          <a:blip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8"/>
              </a:ext>
            </a:extLst>
          </a:blip>
          <a:stretch>
            <a:fillRect/>
          </a:stretch>
        </p:blipFill>
        <p:spPr>
          <a:xfrm>
            <a:off x="8636000" y="4953000"/>
            <a:ext cx="406400" cy="406400"/>
          </a:xfrm>
          <a:prstGeom prst="rect">
            <a:avLst/>
          </a:prstGeom>
        </p:spPr>
      </p:pic>
      <p:sp>
        <p:nvSpPr>
          <p:cNvPr id="20" name="AutoShape 20"/>
          <p:cNvSpPr/>
          <p:nvPr/>
        </p:nvSpPr>
        <p:spPr>
          <a:xfrm>
            <a:off x="9144000" y="4953000"/>
            <a:ext cx="1905000" cy="762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indent="0" algn="l">
              <a:lnSpc>
                <a:spcPct val="125000"/>
              </a:lnSpc>
              <a:defRPr/>
            </a:pPr>
            <a:r>
              <a:rPr lang="en-US" sz="1200" b="1" i="0" u="none" strike="noStrike">
                <a:solidFill>
                  <a:srgbClr val="333333"/>
                </a:solidFill>
                <a:latin typeface="Noto Sans SC"/>
                <a:ea typeface="Noto Sans SC"/>
                <a:cs typeface="Noto Sans SC"/>
                <a:sym typeface="Noto Sans SC"/>
              </a:rPr>
              <a:t>生成风险报告</a:t>
            </a:r>
            <a:endParaRPr lang="en-US" sz="1100"/>
          </a:p>
          <a:p>
            <a:pPr indent="0" algn="l">
              <a:lnSpc>
                <a:spcPct val="125000"/>
              </a:lnSpc>
            </a:pPr>
            <a:r>
              <a:rPr lang="en-US" sz="1000" b="0" i="0" u="none" strike="noStrike">
                <a:solidFill>
                  <a:srgbClr val="666666"/>
                </a:solidFill>
                <a:latin typeface="Noto Sans SC"/>
                <a:ea typeface="Noto Sans SC"/>
                <a:cs typeface="Noto Sans SC"/>
                <a:sym typeface="Noto Sans SC"/>
              </a:rPr>
              <a:t>分析响应判断漏洞，汇总风险评级与修复建议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3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AutoShape 2"/>
          <p:cNvSpPr/>
          <p:nvPr/>
        </p:nvSpPr>
        <p:spPr>
          <a:xfrm>
            <a:off x="0" y="0"/>
            <a:ext cx="12192000" cy="6858000"/>
          </a:xfrm>
          <a:prstGeom prst="roundRect">
            <a:avLst>
              <a:gd name="adj" fmla="val 0"/>
            </a:avLst>
          </a:prstGeom>
          <a:solidFill>
            <a:srgbClr val="FFFFFF">
              <a:alpha val="40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  <a:endParaRPr/>
          </a:p>
        </p:txBody>
      </p:sp>
      <p:sp>
        <p:nvSpPr>
          <p:cNvPr id="3" name="AutoShape 3"/>
          <p:cNvSpPr/>
          <p:nvPr/>
        </p:nvSpPr>
        <p:spPr>
          <a:xfrm>
            <a:off x="762000" y="635000"/>
            <a:ext cx="10668000" cy="508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indent="0" algn="l">
              <a:lnSpc>
                <a:spcPct val="125000"/>
              </a:lnSpc>
              <a:defRPr/>
            </a:pPr>
            <a:r>
              <a:rPr lang="en-US" sz="3200" b="1" i="0" u="none" strike="noStrike" dirty="0" err="1">
                <a:solidFill>
                  <a:srgbClr val="333333"/>
                </a:solidFill>
                <a:latin typeface="Noto Sans SC"/>
                <a:ea typeface="Noto Sans SC"/>
                <a:cs typeface="Noto Sans SC"/>
                <a:sym typeface="Noto Sans SC"/>
              </a:rPr>
              <a:t>Acunetix</a:t>
            </a:r>
            <a:r>
              <a:rPr lang="en-US" sz="3200" b="1" i="0" u="none" strike="noStrike" dirty="0">
                <a:solidFill>
                  <a:srgbClr val="333333"/>
                </a:solidFill>
                <a:latin typeface="Noto Sans SC"/>
                <a:ea typeface="Noto Sans SC"/>
                <a:cs typeface="Noto Sans SC"/>
                <a:sym typeface="Noto Sans SC"/>
              </a:rPr>
              <a:t> AWVS </a:t>
            </a:r>
            <a:r>
              <a:rPr lang="en-US" sz="3200" b="1" i="0" u="none" strike="noStrike" dirty="0" err="1">
                <a:solidFill>
                  <a:srgbClr val="333333"/>
                </a:solidFill>
                <a:latin typeface="Noto Sans SC"/>
                <a:ea typeface="Noto Sans SC"/>
                <a:cs typeface="Noto Sans SC"/>
                <a:sym typeface="Noto Sans SC"/>
              </a:rPr>
              <a:t>解析</a:t>
            </a:r>
            <a:endParaRPr lang="en-US" sz="1100" dirty="0"/>
          </a:p>
        </p:txBody>
      </p:sp>
      <p:sp>
        <p:nvSpPr>
          <p:cNvPr id="4" name="AutoShape 4"/>
          <p:cNvSpPr/>
          <p:nvPr/>
        </p:nvSpPr>
        <p:spPr>
          <a:xfrm>
            <a:off x="762000" y="1524000"/>
            <a:ext cx="3556000" cy="4572000"/>
          </a:xfrm>
          <a:prstGeom prst="roundRect">
            <a:avLst>
              <a:gd name="adj" fmla="val 5714"/>
            </a:avLst>
          </a:prstGeom>
          <a:solidFill>
            <a:srgbClr val="FFFFFF">
              <a:alpha val="95000"/>
            </a:srgbClr>
          </a:solidFill>
          <a:ln w="25400" cap="flat" cmpd="sng">
            <a:noFill/>
            <a:prstDash val="solid"/>
            <a:round/>
          </a:ln>
          <a:effectLst>
            <a:outerShdw blurRad="203200" dist="76200" dir="2700000" algn="tl" rotWithShape="0">
              <a:srgbClr val="000000">
                <a:alpha val="10000"/>
              </a:srgbClr>
            </a:outerShdw>
          </a:effectLst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  <a:endParaRPr/>
          </a:p>
        </p:txBody>
      </p:sp>
      <p:pic>
        <p:nvPicPr>
          <p:cNvPr id="5" name="Picture 5"/>
          <p:cNvPicPr>
            <a:picLocks noChangeAspect="1"/>
          </p:cNvPicPr>
          <p:nvPr/>
        </p:nvPicPr>
        <p:blipFill>
          <a:blip r:embed="rId4"/>
          <a:srcRect l="7812" r="7812"/>
          <a:stretch>
            <a:fillRect/>
          </a:stretch>
        </p:blipFill>
        <p:spPr>
          <a:xfrm>
            <a:off x="1016000" y="2159000"/>
            <a:ext cx="3048000" cy="2032000"/>
          </a:xfrm>
          <a:prstGeom prst="rect">
            <a:avLst/>
          </a:prstGeom>
          <a:noFill/>
          <a:ln w="25400" cap="flat" cmpd="sng">
            <a:noFill/>
            <a:prstDash val="solid"/>
            <a:round/>
          </a:ln>
        </p:spPr>
      </p:pic>
      <p:sp>
        <p:nvSpPr>
          <p:cNvPr id="6" name="AutoShape 6"/>
          <p:cNvSpPr/>
          <p:nvPr/>
        </p:nvSpPr>
        <p:spPr>
          <a:xfrm>
            <a:off x="1016000" y="4445000"/>
            <a:ext cx="3048000" cy="762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indent="0" algn="ctr">
              <a:lnSpc>
                <a:spcPct val="125000"/>
              </a:lnSpc>
              <a:defRPr/>
            </a:pPr>
            <a:r>
              <a:rPr lang="en-US" sz="1600" b="1" i="0" u="none" strike="noStrike">
                <a:solidFill>
                  <a:srgbClr val="F97316"/>
                </a:solidFill>
                <a:latin typeface="Noto Sans SC"/>
                <a:ea typeface="Noto Sans SC"/>
                <a:cs typeface="Noto Sans SC"/>
                <a:sym typeface="Noto Sans SC"/>
              </a:rPr>
              <a:t>Web 安全专家</a:t>
            </a:r>
            <a:endParaRPr lang="en-US" sz="1100"/>
          </a:p>
          <a:p>
            <a:pPr indent="0" algn="ctr">
              <a:lnSpc>
                <a:spcPct val="125000"/>
              </a:lnSpc>
            </a:pPr>
            <a:r>
              <a:rPr lang="en-US" sz="1200" b="0" i="0" u="none" strike="noStrike">
                <a:solidFill>
                  <a:srgbClr val="666666"/>
                </a:solidFill>
                <a:latin typeface="Noto Sans SC"/>
                <a:ea typeface="Noto Sans SC"/>
                <a:cs typeface="Noto Sans SC"/>
                <a:sym typeface="Noto Sans SC"/>
              </a:rPr>
              <a:t>专注于 Web 应用与 API 的</a:t>
            </a:r>
            <a:br>
              <a:rPr lang="en-US" sz="1600" b="0" i="0" u="none" strike="noStrike">
                <a:solidFill>
                  <a:srgbClr val="1F2329"/>
                </a:solidFill>
                <a:latin typeface="Noto Sans SC"/>
                <a:ea typeface="Noto Sans SC"/>
                <a:cs typeface="Noto Sans SC"/>
                <a:sym typeface="Noto Sans SC"/>
              </a:rPr>
            </a:br>
            <a:r>
              <a:rPr lang="en-US" sz="1200" b="0" i="0" u="none" strike="noStrike">
                <a:solidFill>
                  <a:srgbClr val="666666"/>
                </a:solidFill>
                <a:latin typeface="Noto Sans SC"/>
                <a:ea typeface="Noto Sans SC"/>
                <a:cs typeface="Noto Sans SC"/>
                <a:sym typeface="Noto Sans SC"/>
              </a:rPr>
              <a:t>自动化漏洞扫描解决方案</a:t>
            </a:r>
          </a:p>
        </p:txBody>
      </p:sp>
      <p:sp>
        <p:nvSpPr>
          <p:cNvPr id="7" name="AutoShape 7"/>
          <p:cNvSpPr/>
          <p:nvPr/>
        </p:nvSpPr>
        <p:spPr>
          <a:xfrm>
            <a:off x="4572000" y="1524000"/>
            <a:ext cx="3429000" cy="2159000"/>
          </a:xfrm>
          <a:prstGeom prst="roundRect">
            <a:avLst>
              <a:gd name="adj" fmla="val 7058"/>
            </a:avLst>
          </a:prstGeom>
          <a:solidFill>
            <a:srgbClr val="FFFFFF">
              <a:alpha val="95000"/>
            </a:srgbClr>
          </a:solidFill>
          <a:ln w="25400" cap="flat" cmpd="sng">
            <a:noFill/>
            <a:prstDash val="solid"/>
            <a:round/>
          </a:ln>
          <a:effectLst>
            <a:outerShdw blurRad="152400" dist="50800" dir="2700000" algn="tl" rotWithShape="0">
              <a:srgbClr val="000000">
                <a:alpha val="8000"/>
              </a:srgbClr>
            </a:outerShdw>
          </a:effectLst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  <a:endParaRPr/>
          </a:p>
        </p:txBody>
      </p:sp>
      <p:pic>
        <p:nvPicPr>
          <p:cNvPr id="8" name="Picture 8"/>
          <p:cNvPicPr>
            <a:picLocks noChangeAspect="1"/>
          </p:cNvPicPr>
          <p:nvPr/>
        </p:nvPicPr>
        <p:blipFill>
          <a:blip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4826000" y="1778000"/>
            <a:ext cx="457200" cy="457200"/>
          </a:xfrm>
          <a:prstGeom prst="rect">
            <a:avLst/>
          </a:prstGeom>
        </p:spPr>
      </p:pic>
      <p:sp>
        <p:nvSpPr>
          <p:cNvPr id="9" name="AutoShape 9"/>
          <p:cNvSpPr/>
          <p:nvPr/>
        </p:nvSpPr>
        <p:spPr>
          <a:xfrm>
            <a:off x="5461000" y="1778000"/>
            <a:ext cx="2413000" cy="381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indent="0" algn="l">
              <a:lnSpc>
                <a:spcPct val="125000"/>
              </a:lnSpc>
              <a:defRPr/>
            </a:pPr>
            <a:r>
              <a:rPr lang="en-US" sz="1600" b="1" i="0" u="none" strike="noStrike">
                <a:solidFill>
                  <a:srgbClr val="333333"/>
                </a:solidFill>
                <a:latin typeface="Noto Sans SC"/>
                <a:ea typeface="Noto Sans SC"/>
                <a:cs typeface="Noto Sans SC"/>
                <a:sym typeface="Noto Sans SC"/>
              </a:rPr>
              <a:t>核心定位</a:t>
            </a:r>
            <a:endParaRPr lang="en-US" sz="1100"/>
          </a:p>
        </p:txBody>
      </p:sp>
      <p:sp>
        <p:nvSpPr>
          <p:cNvPr id="10" name="AutoShape 10"/>
          <p:cNvSpPr/>
          <p:nvPr/>
        </p:nvSpPr>
        <p:spPr>
          <a:xfrm>
            <a:off x="4826000" y="2413000"/>
            <a:ext cx="2921000" cy="1016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indent="0" algn="l">
              <a:lnSpc>
                <a:spcPct val="116666"/>
              </a:lnSpc>
              <a:defRPr/>
            </a:pPr>
            <a:r>
              <a:rPr lang="en-US" sz="1200" b="0" i="0" u="none" strike="noStrike">
                <a:solidFill>
                  <a:srgbClr val="555555"/>
                </a:solidFill>
                <a:latin typeface="Noto Sans SC"/>
                <a:ea typeface="Noto Sans SC"/>
                <a:cs typeface="Noto Sans SC"/>
                <a:sym typeface="Noto Sans SC"/>
              </a:rPr>
              <a:t>专注于</a:t>
            </a:r>
            <a:r>
              <a:rPr lang="en-US" sz="1200" b="1" i="0" u="none" strike="noStrike">
                <a:solidFill>
                  <a:srgbClr val="555555"/>
                </a:solidFill>
                <a:latin typeface="Noto Sans SC"/>
                <a:ea typeface="Noto Sans SC"/>
                <a:cs typeface="Noto Sans SC"/>
                <a:sym typeface="Noto Sans SC"/>
              </a:rPr>
              <a:t>Web应用、API及网站</a:t>
            </a:r>
            <a:r>
              <a:rPr lang="en-US" sz="1200" b="0" i="0" u="none" strike="noStrike">
                <a:solidFill>
                  <a:srgbClr val="555555"/>
                </a:solidFill>
                <a:latin typeface="Noto Sans SC"/>
                <a:ea typeface="Noto Sans SC"/>
                <a:cs typeface="Noto Sans SC"/>
                <a:sym typeface="Noto Sans SC"/>
              </a:rPr>
              <a:t>的自动化安全漏洞扫描工具。以</a:t>
            </a:r>
            <a:r>
              <a:rPr lang="en-US" sz="1200" b="1" i="0" u="none" strike="noStrike">
                <a:solidFill>
                  <a:srgbClr val="F97316"/>
                </a:solidFill>
                <a:latin typeface="Noto Sans SC"/>
                <a:ea typeface="Noto Sans SC"/>
                <a:cs typeface="Noto Sans SC"/>
                <a:sym typeface="Noto Sans SC"/>
              </a:rPr>
              <a:t>快速、精准、轻量</a:t>
            </a:r>
            <a:r>
              <a:rPr lang="en-US" sz="1200" b="0" i="0" u="none" strike="noStrike">
                <a:solidFill>
                  <a:srgbClr val="555555"/>
                </a:solidFill>
                <a:latin typeface="Noto Sans SC"/>
                <a:ea typeface="Noto Sans SC"/>
                <a:cs typeface="Noto Sans SC"/>
                <a:sym typeface="Noto Sans SC"/>
              </a:rPr>
              <a:t>的特性，成为Web层漏洞检测的首选方案。</a:t>
            </a:r>
            <a:endParaRPr lang="en-US" sz="1100"/>
          </a:p>
        </p:txBody>
      </p:sp>
      <p:sp>
        <p:nvSpPr>
          <p:cNvPr id="11" name="AutoShape 11"/>
          <p:cNvSpPr/>
          <p:nvPr/>
        </p:nvSpPr>
        <p:spPr>
          <a:xfrm>
            <a:off x="8128000" y="1524000"/>
            <a:ext cx="3429000" cy="2159000"/>
          </a:xfrm>
          <a:prstGeom prst="roundRect">
            <a:avLst>
              <a:gd name="adj" fmla="val 7058"/>
            </a:avLst>
          </a:prstGeom>
          <a:solidFill>
            <a:srgbClr val="FFFFFF">
              <a:alpha val="95000"/>
            </a:srgbClr>
          </a:solidFill>
          <a:ln w="25400" cap="flat" cmpd="sng">
            <a:noFill/>
            <a:prstDash val="solid"/>
            <a:round/>
          </a:ln>
          <a:effectLst>
            <a:outerShdw blurRad="152400" dist="50800" dir="2700000" algn="tl" rotWithShape="0">
              <a:srgbClr val="000000">
                <a:alpha val="8000"/>
              </a:srgbClr>
            </a:outerShdw>
          </a:effectLst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  <a:endParaRPr/>
          </a:p>
        </p:txBody>
      </p:sp>
      <p:pic>
        <p:nvPicPr>
          <p:cNvPr id="12" name="Picture 12"/>
          <p:cNvPicPr>
            <a:picLocks noChangeAspect="1"/>
          </p:cNvPicPr>
          <p:nvPr/>
        </p:nvPicPr>
        <p:blipFill>
          <a:blip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p:blipFill>
        <p:spPr>
          <a:xfrm>
            <a:off x="8382000" y="1778000"/>
            <a:ext cx="457200" cy="457200"/>
          </a:xfrm>
          <a:prstGeom prst="rect">
            <a:avLst/>
          </a:prstGeom>
        </p:spPr>
      </p:pic>
      <p:sp>
        <p:nvSpPr>
          <p:cNvPr id="13" name="AutoShape 13"/>
          <p:cNvSpPr/>
          <p:nvPr/>
        </p:nvSpPr>
        <p:spPr>
          <a:xfrm>
            <a:off x="9017000" y="1778000"/>
            <a:ext cx="2413000" cy="381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indent="0" algn="l">
              <a:lnSpc>
                <a:spcPct val="125000"/>
              </a:lnSpc>
              <a:defRPr/>
            </a:pPr>
            <a:r>
              <a:rPr lang="en-US" sz="1600" b="1" i="0" u="none" strike="noStrike">
                <a:solidFill>
                  <a:srgbClr val="333333"/>
                </a:solidFill>
                <a:latin typeface="Noto Sans SC"/>
                <a:ea typeface="Noto Sans SC"/>
                <a:cs typeface="Noto Sans SC"/>
                <a:sym typeface="Noto Sans SC"/>
              </a:rPr>
              <a:t>核心引擎</a:t>
            </a:r>
            <a:endParaRPr lang="en-US" sz="1100"/>
          </a:p>
        </p:txBody>
      </p:sp>
      <p:sp>
        <p:nvSpPr>
          <p:cNvPr id="14" name="AutoShape 14"/>
          <p:cNvSpPr/>
          <p:nvPr/>
        </p:nvSpPr>
        <p:spPr>
          <a:xfrm>
            <a:off x="8382000" y="2413000"/>
            <a:ext cx="2921000" cy="1016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indent="0" algn="l">
              <a:lnSpc>
                <a:spcPct val="116666"/>
              </a:lnSpc>
              <a:defRPr/>
            </a:pPr>
            <a:r>
              <a:rPr lang="en-US" sz="1200" b="0" i="0" u="none" strike="noStrike">
                <a:solidFill>
                  <a:srgbClr val="555555"/>
                </a:solidFill>
                <a:latin typeface="Noto Sans SC"/>
                <a:ea typeface="Noto Sans SC"/>
                <a:cs typeface="Noto Sans SC"/>
                <a:sym typeface="Noto Sans SC"/>
              </a:rPr>
              <a:t>基于深度</a:t>
            </a:r>
            <a:r>
              <a:rPr lang="en-US" sz="1200" b="1" i="0" u="none" strike="noStrike">
                <a:solidFill>
                  <a:srgbClr val="555555"/>
                </a:solidFill>
                <a:latin typeface="Noto Sans SC"/>
                <a:ea typeface="Noto Sans SC"/>
                <a:cs typeface="Noto Sans SC"/>
                <a:sym typeface="Noto Sans SC"/>
              </a:rPr>
              <a:t>DAST动态扫描</a:t>
            </a:r>
            <a:r>
              <a:rPr lang="en-US" sz="1200" b="0" i="0" u="none" strike="noStrike">
                <a:solidFill>
                  <a:srgbClr val="555555"/>
                </a:solidFill>
                <a:latin typeface="Noto Sans SC"/>
                <a:ea typeface="Noto Sans SC"/>
                <a:cs typeface="Noto Sans SC"/>
                <a:sym typeface="Noto Sans SC"/>
              </a:rPr>
              <a:t>技术，智能结合</a:t>
            </a:r>
            <a:r>
              <a:rPr lang="en-US" sz="1200" b="1" i="0" u="none" strike="noStrike">
                <a:solidFill>
                  <a:srgbClr val="555555"/>
                </a:solidFill>
                <a:latin typeface="Noto Sans SC"/>
                <a:ea typeface="Noto Sans SC"/>
                <a:cs typeface="Noto Sans SC"/>
                <a:sym typeface="Noto Sans SC"/>
              </a:rPr>
              <a:t>被动扫描</a:t>
            </a:r>
            <a:r>
              <a:rPr lang="en-US" sz="1200" b="0" i="0" u="none" strike="noStrike">
                <a:solidFill>
                  <a:srgbClr val="555555"/>
                </a:solidFill>
                <a:latin typeface="Noto Sans SC"/>
                <a:ea typeface="Noto Sans SC"/>
                <a:cs typeface="Noto Sans SC"/>
                <a:sym typeface="Noto Sans SC"/>
              </a:rPr>
              <a:t>与</a:t>
            </a:r>
            <a:r>
              <a:rPr lang="en-US" sz="1200" b="1" i="0" u="none" strike="noStrike">
                <a:solidFill>
                  <a:srgbClr val="555555"/>
                </a:solidFill>
                <a:latin typeface="Noto Sans SC"/>
                <a:ea typeface="Noto Sans SC"/>
                <a:cs typeface="Noto Sans SC"/>
                <a:sym typeface="Noto Sans SC"/>
              </a:rPr>
              <a:t>主动爬虫</a:t>
            </a:r>
            <a:r>
              <a:rPr lang="en-US" sz="1200" b="0" i="0" u="none" strike="noStrike">
                <a:solidFill>
                  <a:srgbClr val="555555"/>
                </a:solidFill>
                <a:latin typeface="Noto Sans SC"/>
                <a:ea typeface="Noto Sans SC"/>
                <a:cs typeface="Noto Sans SC"/>
                <a:sym typeface="Noto Sans SC"/>
              </a:rPr>
              <a:t>能力，能够深度遍历复杂的现代Web应用结构，挖掘潜在安全隐患。</a:t>
            </a:r>
            <a:endParaRPr lang="en-US" sz="1100"/>
          </a:p>
        </p:txBody>
      </p:sp>
      <p:sp>
        <p:nvSpPr>
          <p:cNvPr id="15" name="AutoShape 15"/>
          <p:cNvSpPr/>
          <p:nvPr/>
        </p:nvSpPr>
        <p:spPr>
          <a:xfrm>
            <a:off x="4572000" y="3937000"/>
            <a:ext cx="3429000" cy="2159000"/>
          </a:xfrm>
          <a:prstGeom prst="roundRect">
            <a:avLst>
              <a:gd name="adj" fmla="val 7058"/>
            </a:avLst>
          </a:prstGeom>
          <a:solidFill>
            <a:srgbClr val="FFFFFF">
              <a:alpha val="95000"/>
            </a:srgbClr>
          </a:solidFill>
          <a:ln w="25400" cap="flat" cmpd="sng">
            <a:noFill/>
            <a:prstDash val="solid"/>
            <a:round/>
          </a:ln>
          <a:effectLst>
            <a:outerShdw blurRad="152400" dist="50800" dir="2700000" algn="tl" rotWithShape="0">
              <a:srgbClr val="000000">
                <a:alpha val="8000"/>
              </a:srgbClr>
            </a:outerShdw>
          </a:effectLst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  <a:endParaRPr/>
          </a:p>
        </p:txBody>
      </p:sp>
      <p:pic>
        <p:nvPicPr>
          <p:cNvPr id="16" name="Picture 16"/>
          <p:cNvPicPr>
            <a:picLocks noChangeAspect="1"/>
          </p:cNvPicPr>
          <p:nvPr/>
        </p:nvPicPr>
        <p:blipFill>
          <a:blip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7"/>
              </a:ext>
            </a:extLst>
          </a:blip>
          <a:stretch>
            <a:fillRect/>
          </a:stretch>
        </p:blipFill>
        <p:spPr>
          <a:xfrm>
            <a:off x="4826000" y="4191000"/>
            <a:ext cx="457200" cy="457200"/>
          </a:xfrm>
          <a:prstGeom prst="rect">
            <a:avLst/>
          </a:prstGeom>
        </p:spPr>
      </p:pic>
      <p:sp>
        <p:nvSpPr>
          <p:cNvPr id="17" name="AutoShape 17"/>
          <p:cNvSpPr/>
          <p:nvPr/>
        </p:nvSpPr>
        <p:spPr>
          <a:xfrm>
            <a:off x="5461000" y="4191000"/>
            <a:ext cx="2413000" cy="381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indent="0" algn="l">
              <a:lnSpc>
                <a:spcPct val="125000"/>
              </a:lnSpc>
              <a:defRPr/>
            </a:pPr>
            <a:r>
              <a:rPr lang="en-US" sz="1600" b="1" i="0" u="none" strike="noStrike">
                <a:solidFill>
                  <a:srgbClr val="333333"/>
                </a:solidFill>
                <a:latin typeface="Noto Sans SC"/>
                <a:ea typeface="Noto Sans SC"/>
                <a:cs typeface="Noto Sans SC"/>
                <a:sym typeface="Noto Sans SC"/>
              </a:rPr>
              <a:t>三大优势</a:t>
            </a:r>
            <a:endParaRPr lang="en-US" sz="1100"/>
          </a:p>
        </p:txBody>
      </p:sp>
      <p:sp>
        <p:nvSpPr>
          <p:cNvPr id="18" name="AutoShape 18"/>
          <p:cNvSpPr/>
          <p:nvPr/>
        </p:nvSpPr>
        <p:spPr>
          <a:xfrm>
            <a:off x="4826000" y="4826000"/>
            <a:ext cx="2921000" cy="1016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indent="0" algn="l">
              <a:lnSpc>
                <a:spcPct val="108333"/>
              </a:lnSpc>
              <a:defRPr/>
            </a:pPr>
            <a:r>
              <a:rPr lang="en-US" sz="1200" b="0" i="0" u="none" strike="noStrike">
                <a:solidFill>
                  <a:srgbClr val="555555"/>
                </a:solidFill>
                <a:latin typeface="Noto Sans SC"/>
                <a:ea typeface="Noto Sans SC"/>
                <a:cs typeface="Noto Sans SC"/>
                <a:sym typeface="Noto Sans SC"/>
              </a:rPr>
              <a:t>•</a:t>
            </a:r>
            <a:r>
              <a:rPr lang="en-US" sz="1200" b="1" i="0" u="none" strike="noStrike">
                <a:solidFill>
                  <a:srgbClr val="555555"/>
                </a:solidFill>
                <a:latin typeface="Noto Sans SC"/>
                <a:ea typeface="Noto Sans SC"/>
                <a:cs typeface="Noto Sans SC"/>
                <a:sym typeface="Noto Sans SC"/>
              </a:rPr>
              <a:t>极速扫描：</a:t>
            </a:r>
            <a:r>
              <a:rPr lang="en-US" sz="1200" b="0" i="0" u="none" strike="noStrike">
                <a:solidFill>
                  <a:srgbClr val="555555"/>
                </a:solidFill>
                <a:latin typeface="Noto Sans SC"/>
                <a:ea typeface="Noto Sans SC"/>
                <a:cs typeface="Noto Sans SC"/>
                <a:sym typeface="Noto Sans SC"/>
              </a:rPr>
              <a:t>针对大型站点依然保持高效率。</a:t>
            </a:r>
            <a:br>
              <a:rPr lang="en-US" sz="1200" b="0" i="0" u="none" strike="noStrike">
                <a:solidFill>
                  <a:srgbClr val="555555"/>
                </a:solidFill>
                <a:latin typeface="Noto Sans SC"/>
                <a:ea typeface="Noto Sans SC"/>
                <a:cs typeface="Noto Sans SC"/>
                <a:sym typeface="Noto Sans SC"/>
              </a:rPr>
            </a:br>
            <a:r>
              <a:rPr lang="en-US" sz="1200" b="0" i="0" u="none" strike="noStrike">
                <a:solidFill>
                  <a:srgbClr val="555555"/>
                </a:solidFill>
                <a:latin typeface="Noto Sans SC"/>
                <a:ea typeface="Noto Sans SC"/>
                <a:cs typeface="Noto Sans SC"/>
                <a:sym typeface="Noto Sans SC"/>
              </a:rPr>
              <a:t>•</a:t>
            </a:r>
            <a:r>
              <a:rPr lang="en-US" sz="1200" b="1" i="0" u="none" strike="noStrike">
                <a:solidFill>
                  <a:srgbClr val="555555"/>
                </a:solidFill>
                <a:latin typeface="Noto Sans SC"/>
                <a:ea typeface="Noto Sans SC"/>
                <a:cs typeface="Noto Sans SC"/>
                <a:sym typeface="Noto Sans SC"/>
              </a:rPr>
              <a:t>精准识别：</a:t>
            </a:r>
            <a:r>
              <a:rPr lang="en-US" sz="1200" b="0" i="0" u="none" strike="noStrike">
                <a:solidFill>
                  <a:srgbClr val="555555"/>
                </a:solidFill>
                <a:latin typeface="Noto Sans SC"/>
                <a:ea typeface="Noto Sans SC"/>
                <a:cs typeface="Noto Sans SC"/>
                <a:sym typeface="Noto Sans SC"/>
              </a:rPr>
              <a:t>AI辅助分析，误报率显著降低。</a:t>
            </a:r>
            <a:br>
              <a:rPr lang="en-US" sz="1200" b="0" i="0" u="none" strike="noStrike">
                <a:solidFill>
                  <a:srgbClr val="555555"/>
                </a:solidFill>
                <a:latin typeface="Noto Sans SC"/>
                <a:ea typeface="Noto Sans SC"/>
                <a:cs typeface="Noto Sans SC"/>
                <a:sym typeface="Noto Sans SC"/>
              </a:rPr>
            </a:br>
            <a:r>
              <a:rPr lang="en-US" sz="1200" b="0" i="0" u="none" strike="noStrike">
                <a:solidFill>
                  <a:srgbClr val="555555"/>
                </a:solidFill>
                <a:latin typeface="Noto Sans SC"/>
                <a:ea typeface="Noto Sans SC"/>
                <a:cs typeface="Noto Sans SC"/>
                <a:sym typeface="Noto Sans SC"/>
              </a:rPr>
              <a:t>•</a:t>
            </a:r>
            <a:r>
              <a:rPr lang="en-US" sz="1200" b="1" i="0" u="none" strike="noStrike">
                <a:solidFill>
                  <a:srgbClr val="555555"/>
                </a:solidFill>
                <a:latin typeface="Noto Sans SC"/>
                <a:ea typeface="Noto Sans SC"/>
                <a:cs typeface="Noto Sans SC"/>
                <a:sym typeface="Noto Sans SC"/>
              </a:rPr>
              <a:t>极简部署：</a:t>
            </a:r>
            <a:r>
              <a:rPr lang="en-US" sz="1200" b="0" i="0" u="none" strike="noStrike">
                <a:solidFill>
                  <a:srgbClr val="555555"/>
                </a:solidFill>
                <a:latin typeface="Noto Sans SC"/>
                <a:ea typeface="Noto Sans SC"/>
                <a:cs typeface="Noto Sans SC"/>
                <a:sym typeface="Noto Sans SC"/>
              </a:rPr>
              <a:t>资源占用低，安装配置零门槛。</a:t>
            </a:r>
            <a:endParaRPr lang="en-US" sz="1100"/>
          </a:p>
        </p:txBody>
      </p:sp>
      <p:sp>
        <p:nvSpPr>
          <p:cNvPr id="19" name="AutoShape 19"/>
          <p:cNvSpPr/>
          <p:nvPr/>
        </p:nvSpPr>
        <p:spPr>
          <a:xfrm>
            <a:off x="8128000" y="3937000"/>
            <a:ext cx="3429000" cy="2159000"/>
          </a:xfrm>
          <a:prstGeom prst="roundRect">
            <a:avLst>
              <a:gd name="adj" fmla="val 7058"/>
            </a:avLst>
          </a:prstGeom>
          <a:solidFill>
            <a:srgbClr val="FFFFFF">
              <a:alpha val="95000"/>
            </a:srgbClr>
          </a:solidFill>
          <a:ln w="25400" cap="flat" cmpd="sng">
            <a:noFill/>
            <a:prstDash val="solid"/>
            <a:round/>
          </a:ln>
          <a:effectLst>
            <a:outerShdw blurRad="152400" dist="50800" dir="2700000" algn="tl" rotWithShape="0">
              <a:srgbClr val="000000">
                <a:alpha val="8000"/>
              </a:srgbClr>
            </a:outerShdw>
          </a:effectLst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  <a:endParaRPr/>
          </a:p>
        </p:txBody>
      </p:sp>
      <p:pic>
        <p:nvPicPr>
          <p:cNvPr id="20" name="Picture 20"/>
          <p:cNvPicPr>
            <a:picLocks noChangeAspect="1"/>
          </p:cNvPicPr>
          <p:nvPr/>
        </p:nvPicPr>
        <p:blipFill>
          <a:blip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8"/>
              </a:ext>
            </a:extLst>
          </a:blip>
          <a:stretch>
            <a:fillRect/>
          </a:stretch>
        </p:blipFill>
        <p:spPr>
          <a:xfrm>
            <a:off x="8382000" y="4191000"/>
            <a:ext cx="457200" cy="457200"/>
          </a:xfrm>
          <a:prstGeom prst="rect">
            <a:avLst/>
          </a:prstGeom>
        </p:spPr>
      </p:pic>
      <p:sp>
        <p:nvSpPr>
          <p:cNvPr id="21" name="AutoShape 21"/>
          <p:cNvSpPr/>
          <p:nvPr/>
        </p:nvSpPr>
        <p:spPr>
          <a:xfrm>
            <a:off x="9017000" y="4191000"/>
            <a:ext cx="2413000" cy="381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indent="0" algn="l">
              <a:lnSpc>
                <a:spcPct val="125000"/>
              </a:lnSpc>
              <a:defRPr/>
            </a:pPr>
            <a:r>
              <a:rPr lang="en-US" sz="1600" b="1" i="0" u="none" strike="noStrike">
                <a:solidFill>
                  <a:srgbClr val="333333"/>
                </a:solidFill>
                <a:latin typeface="Noto Sans SC"/>
                <a:ea typeface="Noto Sans SC"/>
                <a:cs typeface="Noto Sans SC"/>
                <a:sym typeface="Noto Sans SC"/>
              </a:rPr>
              <a:t>适用对象</a:t>
            </a:r>
            <a:endParaRPr lang="en-US" sz="1100"/>
          </a:p>
        </p:txBody>
      </p:sp>
      <p:sp>
        <p:nvSpPr>
          <p:cNvPr id="22" name="AutoShape 22"/>
          <p:cNvSpPr/>
          <p:nvPr/>
        </p:nvSpPr>
        <p:spPr>
          <a:xfrm>
            <a:off x="8382000" y="4826000"/>
            <a:ext cx="2921000" cy="1016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indent="0" algn="l">
              <a:lnSpc>
                <a:spcPct val="116666"/>
              </a:lnSpc>
              <a:defRPr/>
            </a:pPr>
            <a:r>
              <a:rPr lang="en-US" sz="1200" b="0" i="0" u="none" strike="noStrike">
                <a:solidFill>
                  <a:srgbClr val="555555"/>
                </a:solidFill>
                <a:latin typeface="Noto Sans SC"/>
                <a:ea typeface="Noto Sans SC"/>
                <a:cs typeface="Noto Sans SC"/>
                <a:sym typeface="Noto Sans SC"/>
              </a:rPr>
              <a:t>完美适配</a:t>
            </a:r>
            <a:r>
              <a:rPr lang="en-US" sz="1200" b="1" i="0" u="none" strike="noStrike">
                <a:solidFill>
                  <a:srgbClr val="555555"/>
                </a:solidFill>
                <a:latin typeface="Noto Sans SC"/>
                <a:ea typeface="Noto Sans SC"/>
                <a:cs typeface="Noto Sans SC"/>
                <a:sym typeface="Noto Sans SC"/>
              </a:rPr>
              <a:t>中小型企业</a:t>
            </a:r>
            <a:r>
              <a:rPr lang="en-US" sz="1200" b="0" i="0" u="none" strike="noStrike">
                <a:solidFill>
                  <a:srgbClr val="555555"/>
                </a:solidFill>
                <a:latin typeface="Noto Sans SC"/>
                <a:ea typeface="Noto Sans SC"/>
                <a:cs typeface="Noto Sans SC"/>
                <a:sym typeface="Noto Sans SC"/>
              </a:rPr>
              <a:t>及</a:t>
            </a:r>
            <a:r>
              <a:rPr lang="en-US" sz="1200" b="1" i="0" u="none" strike="noStrike">
                <a:solidFill>
                  <a:srgbClr val="555555"/>
                </a:solidFill>
                <a:latin typeface="Noto Sans SC"/>
                <a:ea typeface="Noto Sans SC"/>
                <a:cs typeface="Noto Sans SC"/>
                <a:sym typeface="Noto Sans SC"/>
              </a:rPr>
              <a:t>敏捷开发团队</a:t>
            </a:r>
            <a:r>
              <a:rPr lang="en-US" sz="1200" b="0" i="0" u="none" strike="noStrike">
                <a:solidFill>
                  <a:srgbClr val="555555"/>
                </a:solidFill>
                <a:latin typeface="Noto Sans SC"/>
                <a:ea typeface="Noto Sans SC"/>
                <a:cs typeface="Noto Sans SC"/>
                <a:sym typeface="Noto Sans SC"/>
              </a:rPr>
              <a:t>。非常适合需要在产品迭代周期中，快速验证Web应用安全性的DevSecOps场景。</a:t>
            </a:r>
            <a:endParaRPr lang="en-US" sz="110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3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AutoShape 2"/>
          <p:cNvSpPr/>
          <p:nvPr/>
        </p:nvSpPr>
        <p:spPr>
          <a:xfrm>
            <a:off x="0" y="0"/>
            <a:ext cx="12192000" cy="6858000"/>
          </a:xfrm>
          <a:prstGeom prst="roundRect">
            <a:avLst>
              <a:gd name="adj" fmla="val 0"/>
            </a:avLst>
          </a:prstGeom>
          <a:solidFill>
            <a:srgbClr val="FFFFFF">
              <a:alpha val="30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  <a:endParaRPr/>
          </a:p>
        </p:txBody>
      </p:sp>
      <p:sp>
        <p:nvSpPr>
          <p:cNvPr id="3" name="AutoShape 3"/>
          <p:cNvSpPr/>
          <p:nvPr/>
        </p:nvSpPr>
        <p:spPr>
          <a:xfrm>
            <a:off x="762000" y="635000"/>
            <a:ext cx="10668000" cy="508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indent="0" algn="l">
              <a:lnSpc>
                <a:spcPct val="125000"/>
              </a:lnSpc>
              <a:defRPr/>
            </a:pPr>
            <a:r>
              <a:rPr lang="en-US" sz="3200" b="1" i="0" u="none" strike="noStrike">
                <a:solidFill>
                  <a:srgbClr val="333333"/>
                </a:solidFill>
                <a:latin typeface="Noto Sans SC"/>
                <a:ea typeface="Noto Sans SC"/>
                <a:cs typeface="Noto Sans SC"/>
                <a:sym typeface="Noto Sans SC"/>
              </a:rPr>
              <a:t>Acunetix AWVS：核心技术</a:t>
            </a:r>
            <a:endParaRPr lang="en-US" sz="1100"/>
          </a:p>
        </p:txBody>
      </p:sp>
      <p:sp>
        <p:nvSpPr>
          <p:cNvPr id="4" name="AutoShape 4"/>
          <p:cNvSpPr/>
          <p:nvPr/>
        </p:nvSpPr>
        <p:spPr>
          <a:xfrm>
            <a:off x="762000" y="1524000"/>
            <a:ext cx="4572000" cy="4826000"/>
          </a:xfrm>
          <a:prstGeom prst="roundRect">
            <a:avLst>
              <a:gd name="adj" fmla="val 4444"/>
            </a:avLst>
          </a:prstGeom>
          <a:solidFill>
            <a:srgbClr val="FFFFFF">
              <a:alpha val="95000"/>
            </a:srgbClr>
          </a:solidFill>
          <a:ln w="25400" cap="flat" cmpd="sng">
            <a:noFill/>
            <a:prstDash val="solid"/>
            <a:round/>
          </a:ln>
          <a:effectLst>
            <a:outerShdw blurRad="254000" dist="63500" dir="5400000" algn="tl" rotWithShape="0">
              <a:srgbClr val="000000">
                <a:alpha val="12000"/>
              </a:srgbClr>
            </a:outerShdw>
          </a:effectLst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  <a:endParaRPr/>
          </a:p>
        </p:txBody>
      </p:sp>
      <p:pic>
        <p:nvPicPr>
          <p:cNvPr id="5" name="Picture 5"/>
          <p:cNvPicPr>
            <a:picLocks noChangeAspect="1"/>
          </p:cNvPicPr>
          <p:nvPr/>
        </p:nvPicPr>
        <p:blipFill>
          <a:blip r:embed="rId4"/>
          <a:srcRect l="12499" r="12499"/>
          <a:stretch>
            <a:fillRect/>
          </a:stretch>
        </p:blipFill>
        <p:spPr>
          <a:xfrm>
            <a:off x="1016000" y="1778000"/>
            <a:ext cx="4064000" cy="3048000"/>
          </a:xfrm>
          <a:prstGeom prst="roundRect">
            <a:avLst>
              <a:gd name="adj" fmla="val 5000"/>
            </a:avLst>
          </a:prstGeom>
          <a:noFill/>
          <a:ln w="25400" cap="flat" cmpd="sng">
            <a:noFill/>
            <a:prstDash val="solid"/>
            <a:round/>
          </a:ln>
        </p:spPr>
      </p:pic>
      <p:sp>
        <p:nvSpPr>
          <p:cNvPr id="6" name="AutoShape 6"/>
          <p:cNvSpPr/>
          <p:nvPr/>
        </p:nvSpPr>
        <p:spPr>
          <a:xfrm>
            <a:off x="1016000" y="4953000"/>
            <a:ext cx="4064000" cy="762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indent="0" algn="ctr">
              <a:lnSpc>
                <a:spcPct val="125000"/>
              </a:lnSpc>
              <a:defRPr/>
            </a:pPr>
            <a:r>
              <a:rPr lang="en-US" sz="1400" b="1" i="0" u="none" strike="noStrike">
                <a:solidFill>
                  <a:srgbClr val="333333"/>
                </a:solidFill>
                <a:latin typeface="Noto Sans SC"/>
                <a:ea typeface="Noto Sans SC"/>
                <a:cs typeface="Noto Sans SC"/>
                <a:sym typeface="Noto Sans SC"/>
              </a:rPr>
              <a:t>DAST 动态扫描引擎</a:t>
            </a:r>
            <a:endParaRPr lang="en-US" sz="1100"/>
          </a:p>
          <a:p>
            <a:pPr indent="0" algn="ctr">
              <a:lnSpc>
                <a:spcPct val="125000"/>
              </a:lnSpc>
            </a:pPr>
            <a:r>
              <a:rPr lang="en-US" sz="1200" b="0" i="0" u="none" strike="noStrike">
                <a:solidFill>
                  <a:srgbClr val="666666"/>
                </a:solidFill>
                <a:latin typeface="Noto Sans SC"/>
                <a:ea typeface="Noto Sans SC"/>
                <a:cs typeface="Noto Sans SC"/>
                <a:sym typeface="Noto Sans SC"/>
              </a:rPr>
              <a:t>模拟黑客攻击路径，深度检测运行时漏洞与逻辑缺陷</a:t>
            </a:r>
          </a:p>
        </p:txBody>
      </p:sp>
      <p:sp>
        <p:nvSpPr>
          <p:cNvPr id="7" name="AutoShape 7"/>
          <p:cNvSpPr/>
          <p:nvPr/>
        </p:nvSpPr>
        <p:spPr>
          <a:xfrm>
            <a:off x="5588000" y="1524000"/>
            <a:ext cx="5842000" cy="1397000"/>
          </a:xfrm>
          <a:prstGeom prst="roundRect">
            <a:avLst>
              <a:gd name="adj" fmla="val 10909"/>
            </a:avLst>
          </a:prstGeom>
          <a:solidFill>
            <a:srgbClr val="FFFFFF">
              <a:alpha val="95000"/>
            </a:srgbClr>
          </a:solidFill>
          <a:ln w="25400" cap="flat" cmpd="sng">
            <a:noFill/>
            <a:prstDash val="solid"/>
            <a:round/>
          </a:ln>
          <a:effectLst>
            <a:outerShdw blurRad="190500" dist="50800" dir="5400000" algn="tl" rotWithShape="0">
              <a:srgbClr val="000000">
                <a:alpha val="8000"/>
              </a:srgbClr>
            </a:outerShdw>
          </a:effectLst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  <a:endParaRPr/>
          </a:p>
        </p:txBody>
      </p:sp>
      <p:sp>
        <p:nvSpPr>
          <p:cNvPr id="8" name="AutoShape 8"/>
          <p:cNvSpPr/>
          <p:nvPr/>
        </p:nvSpPr>
        <p:spPr>
          <a:xfrm>
            <a:off x="5778500" y="1778000"/>
            <a:ext cx="762000" cy="762000"/>
          </a:xfrm>
          <a:prstGeom prst="ellipse">
            <a:avLst/>
          </a:prstGeom>
          <a:solidFill>
            <a:srgbClr val="2563EB">
              <a:alpha val="10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  <a:endParaRPr/>
          </a:p>
        </p:txBody>
      </p:sp>
      <p:pic>
        <p:nvPicPr>
          <p:cNvPr id="9" name="Picture 9"/>
          <p:cNvPicPr>
            <a:picLocks noChangeAspect="1"/>
          </p:cNvPicPr>
          <p:nvPr/>
        </p:nvPicPr>
        <p:blipFill>
          <a:blip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5969000" y="1968500"/>
            <a:ext cx="381000" cy="381000"/>
          </a:xfrm>
          <a:prstGeom prst="rect">
            <a:avLst/>
          </a:prstGeom>
        </p:spPr>
      </p:pic>
      <p:sp>
        <p:nvSpPr>
          <p:cNvPr id="10" name="AutoShape 10"/>
          <p:cNvSpPr/>
          <p:nvPr/>
        </p:nvSpPr>
        <p:spPr>
          <a:xfrm>
            <a:off x="6731000" y="1714500"/>
            <a:ext cx="4445000" cy="381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indent="0" algn="l">
              <a:lnSpc>
                <a:spcPct val="125000"/>
              </a:lnSpc>
              <a:defRPr/>
            </a:pPr>
            <a:r>
              <a:rPr lang="en-US" sz="1800" b="1" i="0" u="none" strike="noStrike">
                <a:solidFill>
                  <a:srgbClr val="333333"/>
                </a:solidFill>
                <a:latin typeface="Noto Sans SC"/>
                <a:ea typeface="Noto Sans SC"/>
                <a:cs typeface="Noto Sans SC"/>
                <a:sym typeface="Noto Sans SC"/>
              </a:rPr>
              <a:t>深度 DAST 动态扫描</a:t>
            </a:r>
            <a:endParaRPr lang="en-US" sz="1100"/>
          </a:p>
        </p:txBody>
      </p:sp>
      <p:sp>
        <p:nvSpPr>
          <p:cNvPr id="11" name="AutoShape 11"/>
          <p:cNvSpPr/>
          <p:nvPr/>
        </p:nvSpPr>
        <p:spPr>
          <a:xfrm>
            <a:off x="6731000" y="2159000"/>
            <a:ext cx="4445000" cy="635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t" anchorCtr="0"/>
          <a:lstStyle/>
          <a:p>
            <a:pPr indent="0" algn="l">
              <a:lnSpc>
                <a:spcPct val="108333"/>
              </a:lnSpc>
              <a:defRPr/>
            </a:pPr>
            <a:r>
              <a:rPr lang="en-US" sz="1200" b="0" i="0" u="none" strike="noStrike">
                <a:solidFill>
                  <a:srgbClr val="555555"/>
                </a:solidFill>
                <a:latin typeface="Noto Sans SC"/>
                <a:ea typeface="Noto Sans SC"/>
                <a:cs typeface="Noto Sans SC"/>
                <a:sym typeface="Noto Sans SC"/>
              </a:rPr>
              <a:t>主动爬取站点结构并模拟攻击；全面支持 HTTP/2 等现代协议；原生支持 OpenAPI/Swagger 等各类 API 接口深度检测。</a:t>
            </a:r>
            <a:endParaRPr lang="en-US" sz="1100"/>
          </a:p>
        </p:txBody>
      </p:sp>
      <p:sp>
        <p:nvSpPr>
          <p:cNvPr id="12" name="AutoShape 12"/>
          <p:cNvSpPr/>
          <p:nvPr/>
        </p:nvSpPr>
        <p:spPr>
          <a:xfrm>
            <a:off x="5588000" y="3175000"/>
            <a:ext cx="5842000" cy="1397000"/>
          </a:xfrm>
          <a:prstGeom prst="roundRect">
            <a:avLst>
              <a:gd name="adj" fmla="val 10909"/>
            </a:avLst>
          </a:prstGeom>
          <a:solidFill>
            <a:srgbClr val="FFFFFF">
              <a:alpha val="95000"/>
            </a:srgbClr>
          </a:solidFill>
          <a:ln w="25400" cap="flat" cmpd="sng">
            <a:noFill/>
            <a:prstDash val="solid"/>
            <a:round/>
          </a:ln>
          <a:effectLst>
            <a:outerShdw blurRad="190500" dist="50800" dir="5400000" algn="tl" rotWithShape="0">
              <a:srgbClr val="000000">
                <a:alpha val="8000"/>
              </a:srgbClr>
            </a:outerShdw>
          </a:effectLst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  <a:endParaRPr/>
          </a:p>
        </p:txBody>
      </p:sp>
      <p:sp>
        <p:nvSpPr>
          <p:cNvPr id="13" name="AutoShape 13"/>
          <p:cNvSpPr/>
          <p:nvPr/>
        </p:nvSpPr>
        <p:spPr>
          <a:xfrm>
            <a:off x="5778500" y="3429000"/>
            <a:ext cx="762000" cy="762000"/>
          </a:xfrm>
          <a:prstGeom prst="ellipse">
            <a:avLst/>
          </a:prstGeom>
          <a:solidFill>
            <a:srgbClr val="10B981">
              <a:alpha val="10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  <a:endParaRPr/>
          </a:p>
        </p:txBody>
      </p:sp>
      <p:pic>
        <p:nvPicPr>
          <p:cNvPr id="14" name="Picture 14"/>
          <p:cNvPicPr>
            <a:picLocks noChangeAspect="1"/>
          </p:cNvPicPr>
          <p:nvPr/>
        </p:nvPicPr>
        <p:blipFill>
          <a:blip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p:blipFill>
        <p:spPr>
          <a:xfrm>
            <a:off x="5969000" y="3619500"/>
            <a:ext cx="381000" cy="381000"/>
          </a:xfrm>
          <a:prstGeom prst="rect">
            <a:avLst/>
          </a:prstGeom>
        </p:spPr>
      </p:pic>
      <p:sp>
        <p:nvSpPr>
          <p:cNvPr id="15" name="AutoShape 15"/>
          <p:cNvSpPr/>
          <p:nvPr/>
        </p:nvSpPr>
        <p:spPr>
          <a:xfrm>
            <a:off x="6731000" y="3365500"/>
            <a:ext cx="4445000" cy="381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indent="0" algn="l">
              <a:lnSpc>
                <a:spcPct val="125000"/>
              </a:lnSpc>
              <a:defRPr/>
            </a:pPr>
            <a:r>
              <a:rPr lang="en-US" sz="1800" b="1" i="0" u="none" strike="noStrike">
                <a:solidFill>
                  <a:srgbClr val="333333"/>
                </a:solidFill>
                <a:latin typeface="Noto Sans SC"/>
                <a:ea typeface="Noto Sans SC"/>
                <a:cs typeface="Noto Sans SC"/>
                <a:sym typeface="Noto Sans SC"/>
              </a:rPr>
              <a:t>AI 驱动的智能扫描策略</a:t>
            </a:r>
            <a:endParaRPr lang="en-US" sz="1100"/>
          </a:p>
        </p:txBody>
      </p:sp>
      <p:sp>
        <p:nvSpPr>
          <p:cNvPr id="16" name="AutoShape 16"/>
          <p:cNvSpPr/>
          <p:nvPr/>
        </p:nvSpPr>
        <p:spPr>
          <a:xfrm>
            <a:off x="6731000" y="3810000"/>
            <a:ext cx="4445000" cy="635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t" anchorCtr="0"/>
          <a:lstStyle/>
          <a:p>
            <a:pPr indent="0" algn="l">
              <a:lnSpc>
                <a:spcPct val="108333"/>
              </a:lnSpc>
              <a:defRPr/>
            </a:pPr>
            <a:r>
              <a:rPr lang="en-US" sz="1200" b="0" i="0" u="none" strike="noStrike">
                <a:solidFill>
                  <a:srgbClr val="555555"/>
                </a:solidFill>
                <a:latin typeface="Noto Sans SC"/>
                <a:ea typeface="Noto Sans SC"/>
                <a:cs typeface="Noto Sans SC"/>
                <a:sym typeface="Noto Sans SC"/>
              </a:rPr>
              <a:t>被动信息收集与主动精准攻击相结合，大幅降低误报率；针对 SQL 注入、XSS 等高危漏洞配备专门优化的检测算法。</a:t>
            </a:r>
            <a:endParaRPr lang="en-US" sz="1100"/>
          </a:p>
        </p:txBody>
      </p:sp>
      <p:sp>
        <p:nvSpPr>
          <p:cNvPr id="17" name="AutoShape 17"/>
          <p:cNvSpPr/>
          <p:nvPr/>
        </p:nvSpPr>
        <p:spPr>
          <a:xfrm>
            <a:off x="5588000" y="4826000"/>
            <a:ext cx="5842000" cy="1397000"/>
          </a:xfrm>
          <a:prstGeom prst="roundRect">
            <a:avLst>
              <a:gd name="adj" fmla="val 10909"/>
            </a:avLst>
          </a:prstGeom>
          <a:solidFill>
            <a:srgbClr val="FFFFFF">
              <a:alpha val="95000"/>
            </a:srgbClr>
          </a:solidFill>
          <a:ln w="25400" cap="flat" cmpd="sng">
            <a:noFill/>
            <a:prstDash val="solid"/>
            <a:round/>
          </a:ln>
          <a:effectLst>
            <a:outerShdw blurRad="190500" dist="50800" dir="5400000" algn="tl" rotWithShape="0">
              <a:srgbClr val="000000">
                <a:alpha val="8000"/>
              </a:srgbClr>
            </a:outerShdw>
          </a:effectLst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  <a:endParaRPr/>
          </a:p>
        </p:txBody>
      </p:sp>
      <p:sp>
        <p:nvSpPr>
          <p:cNvPr id="18" name="AutoShape 18"/>
          <p:cNvSpPr/>
          <p:nvPr/>
        </p:nvSpPr>
        <p:spPr>
          <a:xfrm>
            <a:off x="5778500" y="5080000"/>
            <a:ext cx="762000" cy="762000"/>
          </a:xfrm>
          <a:prstGeom prst="ellipse">
            <a:avLst/>
          </a:prstGeom>
          <a:solidFill>
            <a:srgbClr val="F59E0B">
              <a:alpha val="10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  <a:endParaRPr/>
          </a:p>
        </p:txBody>
      </p:sp>
      <p:pic>
        <p:nvPicPr>
          <p:cNvPr id="19" name="Picture 19"/>
          <p:cNvPicPr>
            <a:picLocks noChangeAspect="1"/>
          </p:cNvPicPr>
          <p:nvPr/>
        </p:nvPicPr>
        <p:blipFill>
          <a:blip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7"/>
              </a:ext>
            </a:extLst>
          </a:blip>
          <a:stretch>
            <a:fillRect/>
          </a:stretch>
        </p:blipFill>
        <p:spPr>
          <a:xfrm>
            <a:off x="5969000" y="5270500"/>
            <a:ext cx="381000" cy="381000"/>
          </a:xfrm>
          <a:prstGeom prst="rect">
            <a:avLst/>
          </a:prstGeom>
        </p:spPr>
      </p:pic>
      <p:sp>
        <p:nvSpPr>
          <p:cNvPr id="20" name="AutoShape 20"/>
          <p:cNvSpPr/>
          <p:nvPr/>
        </p:nvSpPr>
        <p:spPr>
          <a:xfrm>
            <a:off x="6731000" y="5016500"/>
            <a:ext cx="4445000" cy="381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indent="0" algn="l">
              <a:lnSpc>
                <a:spcPct val="125000"/>
              </a:lnSpc>
              <a:defRPr/>
            </a:pPr>
            <a:r>
              <a:rPr lang="en-US" sz="1800" b="1" i="0" u="none" strike="noStrike">
                <a:solidFill>
                  <a:srgbClr val="333333"/>
                </a:solidFill>
                <a:latin typeface="Noto Sans SC"/>
                <a:ea typeface="Noto Sans SC"/>
                <a:cs typeface="Noto Sans SC"/>
                <a:sym typeface="Noto Sans SC"/>
              </a:rPr>
              <a:t>适配现代 Web 架构</a:t>
            </a:r>
            <a:endParaRPr lang="en-US" sz="1100"/>
          </a:p>
        </p:txBody>
      </p:sp>
      <p:sp>
        <p:nvSpPr>
          <p:cNvPr id="21" name="AutoShape 21"/>
          <p:cNvSpPr/>
          <p:nvPr/>
        </p:nvSpPr>
        <p:spPr>
          <a:xfrm>
            <a:off x="6731000" y="5461000"/>
            <a:ext cx="4445000" cy="635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t" anchorCtr="0"/>
          <a:lstStyle/>
          <a:p>
            <a:pPr indent="0" algn="l">
              <a:lnSpc>
                <a:spcPct val="108333"/>
              </a:lnSpc>
              <a:defRPr/>
            </a:pPr>
            <a:r>
              <a:rPr lang="en-US" sz="1200" b="0" i="0" u="none" strike="noStrike">
                <a:solidFill>
                  <a:srgbClr val="555555"/>
                </a:solidFill>
                <a:latin typeface="Noto Sans SC"/>
                <a:ea typeface="Noto Sans SC"/>
                <a:cs typeface="Noto Sans SC"/>
                <a:sym typeface="Noto Sans SC"/>
              </a:rPr>
              <a:t>内置 JavaScript 渲染引擎，完美解析 Angular、React 等框架构建的单页应用 (SPA)，消除传统扫描的盲区。</a:t>
            </a:r>
            <a:endParaRPr lang="en-US" sz="110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3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AutoShape 2"/>
          <p:cNvSpPr/>
          <p:nvPr/>
        </p:nvSpPr>
        <p:spPr>
          <a:xfrm>
            <a:off x="0" y="0"/>
            <a:ext cx="12192000" cy="6858000"/>
          </a:xfrm>
          <a:prstGeom prst="roundRect">
            <a:avLst>
              <a:gd name="adj" fmla="val 0"/>
            </a:avLst>
          </a:prstGeom>
          <a:solidFill>
            <a:srgbClr val="FFFFFF">
              <a:alpha val="40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  <a:endParaRPr/>
          </a:p>
        </p:txBody>
      </p:sp>
      <p:sp>
        <p:nvSpPr>
          <p:cNvPr id="3" name="AutoShape 3"/>
          <p:cNvSpPr/>
          <p:nvPr/>
        </p:nvSpPr>
        <p:spPr>
          <a:xfrm>
            <a:off x="762000" y="635000"/>
            <a:ext cx="10668000" cy="508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indent="0" algn="l">
              <a:lnSpc>
                <a:spcPct val="125000"/>
              </a:lnSpc>
              <a:defRPr/>
            </a:pPr>
            <a:r>
              <a:rPr lang="en-US" sz="3200" b="1" i="0" u="none" strike="noStrike">
                <a:solidFill>
                  <a:srgbClr val="333333"/>
                </a:solidFill>
                <a:latin typeface="Noto Sans SC"/>
                <a:ea typeface="Noto Sans SC"/>
                <a:cs typeface="Noto Sans SC"/>
                <a:sym typeface="Noto Sans SC"/>
              </a:rPr>
              <a:t>Acunetix AWVS：核心功能</a:t>
            </a:r>
            <a:endParaRPr lang="en-US" sz="1100"/>
          </a:p>
        </p:txBody>
      </p:sp>
      <p:sp>
        <p:nvSpPr>
          <p:cNvPr id="4" name="AutoShape 4"/>
          <p:cNvSpPr/>
          <p:nvPr/>
        </p:nvSpPr>
        <p:spPr>
          <a:xfrm>
            <a:off x="762000" y="1524000"/>
            <a:ext cx="3048000" cy="1524000"/>
          </a:xfrm>
          <a:prstGeom prst="roundRect">
            <a:avLst>
              <a:gd name="adj" fmla="val 10000"/>
            </a:avLst>
          </a:prstGeom>
          <a:solidFill>
            <a:srgbClr val="FFFFFF">
              <a:alpha val="92000"/>
            </a:srgbClr>
          </a:solidFill>
          <a:ln w="25400" cap="flat" cmpd="sng">
            <a:noFill/>
            <a:prstDash val="solid"/>
            <a:round/>
          </a:ln>
          <a:effectLst>
            <a:outerShdw blurRad="152400" dist="50800" dir="2700000" algn="tl" rotWithShape="0">
              <a:srgbClr val="000000">
                <a:alpha val="8000"/>
              </a:srgbClr>
            </a:outerShdw>
          </a:effectLst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  <a:endParaRPr/>
          </a:p>
        </p:txBody>
      </p:sp>
      <p:pic>
        <p:nvPicPr>
          <p:cNvPr id="5" name="Picture 5"/>
          <p:cNvPicPr>
            <a:picLocks noChangeAspect="1"/>
          </p:cNvPicPr>
          <p:nvPr/>
        </p:nvPicPr>
        <p:blipFill>
          <a:blip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1016000" y="1841500"/>
            <a:ext cx="609600" cy="609600"/>
          </a:xfrm>
          <a:prstGeom prst="rect">
            <a:avLst/>
          </a:prstGeom>
        </p:spPr>
      </p:pic>
      <p:sp>
        <p:nvSpPr>
          <p:cNvPr id="6" name="AutoShape 6"/>
          <p:cNvSpPr/>
          <p:nvPr/>
        </p:nvSpPr>
        <p:spPr>
          <a:xfrm>
            <a:off x="1778000" y="1778000"/>
            <a:ext cx="1778000" cy="3302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indent="0" algn="l">
              <a:lnSpc>
                <a:spcPct val="125000"/>
              </a:lnSpc>
              <a:defRPr/>
            </a:pPr>
            <a:r>
              <a:rPr lang="en-US" sz="1500" b="1" i="0" u="none" strike="noStrike">
                <a:solidFill>
                  <a:srgbClr val="333333"/>
                </a:solidFill>
                <a:latin typeface="Noto Sans SC"/>
                <a:ea typeface="Noto Sans SC"/>
                <a:cs typeface="Noto Sans SC"/>
                <a:sym typeface="Noto Sans SC"/>
              </a:rPr>
              <a:t>高危漏洞精准检测</a:t>
            </a:r>
            <a:endParaRPr lang="en-US" sz="1100"/>
          </a:p>
        </p:txBody>
      </p:sp>
      <p:sp>
        <p:nvSpPr>
          <p:cNvPr id="7" name="AutoShape 7"/>
          <p:cNvSpPr/>
          <p:nvPr/>
        </p:nvSpPr>
        <p:spPr>
          <a:xfrm>
            <a:off x="1778000" y="2222500"/>
            <a:ext cx="1778000" cy="762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indent="0" algn="l">
              <a:lnSpc>
                <a:spcPct val="108333"/>
              </a:lnSpc>
              <a:defRPr/>
            </a:pPr>
            <a:r>
              <a:rPr lang="en-US" sz="1100" b="0" i="0" u="none" strike="noStrike">
                <a:solidFill>
                  <a:srgbClr val="666666"/>
                </a:solidFill>
                <a:latin typeface="Noto Sans SC"/>
                <a:ea typeface="Noto Sans SC"/>
                <a:cs typeface="Noto Sans SC"/>
                <a:sym typeface="Noto Sans SC"/>
              </a:rPr>
              <a:t>自动识别SQL注入、XSS、命令注入等高危风险，不放过任何潜在威胁。</a:t>
            </a:r>
            <a:endParaRPr lang="en-US" sz="1100"/>
          </a:p>
        </p:txBody>
      </p:sp>
      <p:sp>
        <p:nvSpPr>
          <p:cNvPr id="8" name="AutoShape 8"/>
          <p:cNvSpPr/>
          <p:nvPr/>
        </p:nvSpPr>
        <p:spPr>
          <a:xfrm>
            <a:off x="762000" y="3302000"/>
            <a:ext cx="3048000" cy="1524000"/>
          </a:xfrm>
          <a:prstGeom prst="roundRect">
            <a:avLst>
              <a:gd name="adj" fmla="val 10000"/>
            </a:avLst>
          </a:prstGeom>
          <a:solidFill>
            <a:srgbClr val="FFFFFF">
              <a:alpha val="92000"/>
            </a:srgbClr>
          </a:solidFill>
          <a:ln w="25400" cap="flat" cmpd="sng">
            <a:noFill/>
            <a:prstDash val="solid"/>
            <a:round/>
          </a:ln>
          <a:effectLst>
            <a:outerShdw blurRad="152400" dist="50800" dir="2700000" algn="tl" rotWithShape="0">
              <a:srgbClr val="000000">
                <a:alpha val="8000"/>
              </a:srgbClr>
            </a:outerShdw>
          </a:effectLst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  <a:endParaRPr/>
          </a:p>
        </p:txBody>
      </p:sp>
      <p:pic>
        <p:nvPicPr>
          <p:cNvPr id="9" name="Picture 9"/>
          <p:cNvPicPr>
            <a:picLocks noChangeAspect="1"/>
          </p:cNvPicPr>
          <p:nvPr/>
        </p:nvPicPr>
        <p:blipFill>
          <a:blip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1016000" y="3619500"/>
            <a:ext cx="609600" cy="609600"/>
          </a:xfrm>
          <a:prstGeom prst="rect">
            <a:avLst/>
          </a:prstGeom>
        </p:spPr>
      </p:pic>
      <p:sp>
        <p:nvSpPr>
          <p:cNvPr id="10" name="AutoShape 10"/>
          <p:cNvSpPr/>
          <p:nvPr/>
        </p:nvSpPr>
        <p:spPr>
          <a:xfrm>
            <a:off x="1778000" y="3556000"/>
            <a:ext cx="1778000" cy="3302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indent="0" algn="l">
              <a:lnSpc>
                <a:spcPct val="125000"/>
              </a:lnSpc>
              <a:defRPr/>
            </a:pPr>
            <a:r>
              <a:rPr lang="en-US" sz="1500" b="1" i="0" u="none" strike="noStrike">
                <a:solidFill>
                  <a:srgbClr val="333333"/>
                </a:solidFill>
                <a:latin typeface="Noto Sans SC"/>
                <a:ea typeface="Noto Sans SC"/>
                <a:cs typeface="Noto Sans SC"/>
                <a:sym typeface="Noto Sans SC"/>
              </a:rPr>
              <a:t>强大的认证扫描</a:t>
            </a:r>
            <a:endParaRPr lang="en-US" sz="1100"/>
          </a:p>
        </p:txBody>
      </p:sp>
      <p:sp>
        <p:nvSpPr>
          <p:cNvPr id="11" name="AutoShape 11"/>
          <p:cNvSpPr/>
          <p:nvPr/>
        </p:nvSpPr>
        <p:spPr>
          <a:xfrm>
            <a:off x="1778000" y="4000500"/>
            <a:ext cx="1778000" cy="762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indent="0" algn="l">
              <a:lnSpc>
                <a:spcPct val="108333"/>
              </a:lnSpc>
              <a:defRPr/>
            </a:pPr>
            <a:r>
              <a:rPr lang="en-US" sz="1100" b="0" i="0" u="none" strike="noStrike">
                <a:solidFill>
                  <a:srgbClr val="666666"/>
                </a:solidFill>
                <a:latin typeface="Noto Sans SC"/>
                <a:ea typeface="Noto Sans SC"/>
                <a:cs typeface="Noto Sans SC"/>
                <a:sym typeface="Noto Sans SC"/>
              </a:rPr>
              <a:t>支持录制登录脚本，携带Cookie/Token扫描，覆盖需鉴权的后台页面。</a:t>
            </a:r>
            <a:endParaRPr lang="en-US" sz="1100"/>
          </a:p>
        </p:txBody>
      </p:sp>
      <p:sp>
        <p:nvSpPr>
          <p:cNvPr id="12" name="AutoShape 12"/>
          <p:cNvSpPr/>
          <p:nvPr/>
        </p:nvSpPr>
        <p:spPr>
          <a:xfrm>
            <a:off x="762000" y="5080000"/>
            <a:ext cx="3048000" cy="1397000"/>
          </a:xfrm>
          <a:prstGeom prst="roundRect">
            <a:avLst>
              <a:gd name="adj" fmla="val 10909"/>
            </a:avLst>
          </a:prstGeom>
          <a:solidFill>
            <a:srgbClr val="FFFFFF">
              <a:alpha val="92000"/>
            </a:srgbClr>
          </a:solidFill>
          <a:ln w="25400" cap="flat" cmpd="sng">
            <a:noFill/>
            <a:prstDash val="solid"/>
            <a:round/>
          </a:ln>
          <a:effectLst>
            <a:outerShdw blurRad="152400" dist="50800" dir="2700000" algn="tl" rotWithShape="0">
              <a:srgbClr val="000000">
                <a:alpha val="8000"/>
              </a:srgbClr>
            </a:outerShdw>
          </a:effectLst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  <a:endParaRPr/>
          </a:p>
        </p:txBody>
      </p:sp>
      <p:pic>
        <p:nvPicPr>
          <p:cNvPr id="13" name="Picture 13"/>
          <p:cNvPicPr>
            <a:picLocks noChangeAspect="1"/>
          </p:cNvPicPr>
          <p:nvPr/>
        </p:nvPicPr>
        <p:blipFill>
          <a:blip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p:blipFill>
        <p:spPr>
          <a:xfrm>
            <a:off x="1016000" y="5397500"/>
            <a:ext cx="609600" cy="609600"/>
          </a:xfrm>
          <a:prstGeom prst="rect">
            <a:avLst/>
          </a:prstGeom>
        </p:spPr>
      </p:pic>
      <p:sp>
        <p:nvSpPr>
          <p:cNvPr id="14" name="AutoShape 14"/>
          <p:cNvSpPr/>
          <p:nvPr/>
        </p:nvSpPr>
        <p:spPr>
          <a:xfrm>
            <a:off x="1778000" y="5334000"/>
            <a:ext cx="1778000" cy="3302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indent="0" algn="l">
              <a:lnSpc>
                <a:spcPct val="125000"/>
              </a:lnSpc>
              <a:defRPr/>
            </a:pPr>
            <a:r>
              <a:rPr lang="en-US" sz="1500" b="1" i="0" u="none" strike="noStrike">
                <a:solidFill>
                  <a:srgbClr val="333333"/>
                </a:solidFill>
                <a:latin typeface="Noto Sans SC"/>
                <a:ea typeface="Noto Sans SC"/>
                <a:cs typeface="Noto Sans SC"/>
                <a:sym typeface="Noto Sans SC"/>
              </a:rPr>
              <a:t>自动化报告生成</a:t>
            </a:r>
            <a:endParaRPr lang="en-US" sz="1100"/>
          </a:p>
        </p:txBody>
      </p:sp>
      <p:sp>
        <p:nvSpPr>
          <p:cNvPr id="15" name="AutoShape 15"/>
          <p:cNvSpPr/>
          <p:nvPr/>
        </p:nvSpPr>
        <p:spPr>
          <a:xfrm>
            <a:off x="1778000" y="5778500"/>
            <a:ext cx="1778000" cy="635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indent="0" algn="l">
              <a:lnSpc>
                <a:spcPct val="100000"/>
              </a:lnSpc>
              <a:defRPr/>
            </a:pPr>
            <a:r>
              <a:rPr lang="en-US" sz="1100" b="0" i="0" u="none" strike="noStrike">
                <a:solidFill>
                  <a:srgbClr val="666666"/>
                </a:solidFill>
                <a:latin typeface="Noto Sans SC"/>
                <a:ea typeface="Noto Sans SC"/>
                <a:cs typeface="Noto Sans SC"/>
                <a:sym typeface="Noto Sans SC"/>
              </a:rPr>
              <a:t>自动生成多语言报告，包含复现步骤与修复方案，降低审计成本。</a:t>
            </a:r>
            <a:endParaRPr lang="en-US" sz="1100"/>
          </a:p>
        </p:txBody>
      </p:sp>
      <p:sp>
        <p:nvSpPr>
          <p:cNvPr id="16" name="AutoShape 16"/>
          <p:cNvSpPr/>
          <p:nvPr/>
        </p:nvSpPr>
        <p:spPr>
          <a:xfrm>
            <a:off x="4064000" y="1524000"/>
            <a:ext cx="3048000" cy="1524000"/>
          </a:xfrm>
          <a:prstGeom prst="roundRect">
            <a:avLst>
              <a:gd name="adj" fmla="val 10000"/>
            </a:avLst>
          </a:prstGeom>
          <a:solidFill>
            <a:srgbClr val="FFFFFF">
              <a:alpha val="92000"/>
            </a:srgbClr>
          </a:solidFill>
          <a:ln w="25400" cap="flat" cmpd="sng">
            <a:noFill/>
            <a:prstDash val="solid"/>
            <a:round/>
          </a:ln>
          <a:effectLst>
            <a:outerShdw blurRad="152400" dist="50800" dir="2700000" algn="tl" rotWithShape="0">
              <a:srgbClr val="000000">
                <a:alpha val="8000"/>
              </a:srgbClr>
            </a:outerShdw>
          </a:effectLst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  <a:endParaRPr/>
          </a:p>
        </p:txBody>
      </p:sp>
      <p:pic>
        <p:nvPicPr>
          <p:cNvPr id="17" name="Picture 17"/>
          <p:cNvPicPr>
            <a:picLocks noChangeAspect="1"/>
          </p:cNvPicPr>
          <p:nvPr/>
        </p:nvPicPr>
        <p:blipFill>
          <a:blip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7"/>
              </a:ext>
            </a:extLst>
          </a:blip>
          <a:stretch>
            <a:fillRect/>
          </a:stretch>
        </p:blipFill>
        <p:spPr>
          <a:xfrm>
            <a:off x="4318000" y="1841500"/>
            <a:ext cx="609600" cy="609600"/>
          </a:xfrm>
          <a:prstGeom prst="rect">
            <a:avLst/>
          </a:prstGeom>
        </p:spPr>
      </p:pic>
      <p:sp>
        <p:nvSpPr>
          <p:cNvPr id="18" name="AutoShape 18"/>
          <p:cNvSpPr/>
          <p:nvPr/>
        </p:nvSpPr>
        <p:spPr>
          <a:xfrm>
            <a:off x="5080000" y="1778000"/>
            <a:ext cx="1778000" cy="3302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indent="0" algn="l">
              <a:lnSpc>
                <a:spcPct val="125000"/>
              </a:lnSpc>
              <a:defRPr/>
            </a:pPr>
            <a:r>
              <a:rPr lang="en-US" sz="1500" b="1" i="0" u="none" strike="noStrike">
                <a:solidFill>
                  <a:srgbClr val="333333"/>
                </a:solidFill>
                <a:latin typeface="Noto Sans SC"/>
                <a:ea typeface="Noto Sans SC"/>
                <a:cs typeface="Noto Sans SC"/>
                <a:sym typeface="Noto Sans SC"/>
              </a:rPr>
              <a:t>灵活的扫描调度</a:t>
            </a:r>
            <a:endParaRPr lang="en-US" sz="1100"/>
          </a:p>
        </p:txBody>
      </p:sp>
      <p:sp>
        <p:nvSpPr>
          <p:cNvPr id="19" name="AutoShape 19"/>
          <p:cNvSpPr/>
          <p:nvPr/>
        </p:nvSpPr>
        <p:spPr>
          <a:xfrm>
            <a:off x="5080000" y="2222500"/>
            <a:ext cx="1778000" cy="762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indent="0" algn="l">
              <a:lnSpc>
                <a:spcPct val="108333"/>
              </a:lnSpc>
              <a:defRPr/>
            </a:pPr>
            <a:r>
              <a:rPr lang="en-US" sz="1100" b="0" i="0" u="none" strike="noStrike">
                <a:solidFill>
                  <a:srgbClr val="666666"/>
                </a:solidFill>
                <a:latin typeface="Noto Sans SC"/>
                <a:ea typeface="Noto Sans SC"/>
                <a:cs typeface="Noto Sans SC"/>
                <a:sym typeface="Noto Sans SC"/>
              </a:rPr>
              <a:t>支持批量与定时任务，无缝集成CI/CD流程，实现DevSecOps自动化。</a:t>
            </a:r>
            <a:endParaRPr lang="en-US" sz="1100"/>
          </a:p>
        </p:txBody>
      </p:sp>
      <p:sp>
        <p:nvSpPr>
          <p:cNvPr id="20" name="AutoShape 20"/>
          <p:cNvSpPr/>
          <p:nvPr/>
        </p:nvSpPr>
        <p:spPr>
          <a:xfrm>
            <a:off x="4064000" y="3302000"/>
            <a:ext cx="3048000" cy="1524000"/>
          </a:xfrm>
          <a:prstGeom prst="roundRect">
            <a:avLst>
              <a:gd name="adj" fmla="val 10000"/>
            </a:avLst>
          </a:prstGeom>
          <a:solidFill>
            <a:srgbClr val="FFFFFF">
              <a:alpha val="92000"/>
            </a:srgbClr>
          </a:solidFill>
          <a:ln w="25400" cap="flat" cmpd="sng">
            <a:noFill/>
            <a:prstDash val="solid"/>
            <a:round/>
          </a:ln>
          <a:effectLst>
            <a:outerShdw blurRad="152400" dist="50800" dir="2700000" algn="tl" rotWithShape="0">
              <a:srgbClr val="000000">
                <a:alpha val="8000"/>
              </a:srgbClr>
            </a:outerShdw>
          </a:effectLst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  <a:endParaRPr/>
          </a:p>
        </p:txBody>
      </p:sp>
      <p:pic>
        <p:nvPicPr>
          <p:cNvPr id="21" name="Picture 21"/>
          <p:cNvPicPr>
            <a:picLocks noChangeAspect="1"/>
          </p:cNvPicPr>
          <p:nvPr/>
        </p:nvPicPr>
        <p:blipFill>
          <a:blip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8"/>
              </a:ext>
            </a:extLst>
          </a:blip>
          <a:stretch>
            <a:fillRect/>
          </a:stretch>
        </p:blipFill>
        <p:spPr>
          <a:xfrm>
            <a:off x="4318000" y="3619500"/>
            <a:ext cx="609600" cy="609600"/>
          </a:xfrm>
          <a:prstGeom prst="rect">
            <a:avLst/>
          </a:prstGeom>
        </p:spPr>
      </p:pic>
      <p:sp>
        <p:nvSpPr>
          <p:cNvPr id="22" name="AutoShape 22"/>
          <p:cNvSpPr/>
          <p:nvPr/>
        </p:nvSpPr>
        <p:spPr>
          <a:xfrm>
            <a:off x="5080000" y="3556000"/>
            <a:ext cx="1778000" cy="3302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indent="0" algn="l">
              <a:lnSpc>
                <a:spcPct val="125000"/>
              </a:lnSpc>
              <a:defRPr/>
            </a:pPr>
            <a:r>
              <a:rPr lang="en-US" sz="1500" b="1" i="0" u="none" strike="noStrike">
                <a:solidFill>
                  <a:srgbClr val="333333"/>
                </a:solidFill>
                <a:latin typeface="Noto Sans SC"/>
                <a:ea typeface="Noto Sans SC"/>
                <a:cs typeface="Noto Sans SC"/>
                <a:sym typeface="Noto Sans SC"/>
              </a:rPr>
              <a:t>深度技术栈识别</a:t>
            </a:r>
            <a:endParaRPr lang="en-US" sz="1100"/>
          </a:p>
        </p:txBody>
      </p:sp>
      <p:sp>
        <p:nvSpPr>
          <p:cNvPr id="23" name="AutoShape 23"/>
          <p:cNvSpPr/>
          <p:nvPr/>
        </p:nvSpPr>
        <p:spPr>
          <a:xfrm>
            <a:off x="5080000" y="4000500"/>
            <a:ext cx="1778000" cy="762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indent="0" algn="l">
              <a:lnSpc>
                <a:spcPct val="108333"/>
              </a:lnSpc>
              <a:defRPr/>
            </a:pPr>
            <a:r>
              <a:rPr lang="en-US" sz="1100" b="0" i="0" u="none" strike="noStrike">
                <a:solidFill>
                  <a:srgbClr val="666666"/>
                </a:solidFill>
                <a:latin typeface="Noto Sans SC"/>
                <a:ea typeface="Noto Sans SC"/>
                <a:cs typeface="Noto Sans SC"/>
                <a:sym typeface="Noto Sans SC"/>
              </a:rPr>
              <a:t>精准探测Web框架、CMS及中间件版本，快速匹配对应已知漏洞库。</a:t>
            </a:r>
            <a:endParaRPr lang="en-US" sz="1100"/>
          </a:p>
        </p:txBody>
      </p:sp>
      <p:sp>
        <p:nvSpPr>
          <p:cNvPr id="24" name="AutoShape 24"/>
          <p:cNvSpPr/>
          <p:nvPr/>
        </p:nvSpPr>
        <p:spPr>
          <a:xfrm>
            <a:off x="4064000" y="5080000"/>
            <a:ext cx="3048000" cy="1397000"/>
          </a:xfrm>
          <a:prstGeom prst="roundRect">
            <a:avLst>
              <a:gd name="adj" fmla="val 10909"/>
            </a:avLst>
          </a:prstGeom>
          <a:solidFill>
            <a:srgbClr val="FFFFFF">
              <a:alpha val="92000"/>
            </a:srgbClr>
          </a:solidFill>
          <a:ln w="25400" cap="flat" cmpd="sng">
            <a:noFill/>
            <a:prstDash val="solid"/>
            <a:round/>
          </a:ln>
          <a:effectLst>
            <a:outerShdw blurRad="152400" dist="50800" dir="2700000" algn="tl" rotWithShape="0">
              <a:srgbClr val="000000">
                <a:alpha val="8000"/>
              </a:srgbClr>
            </a:outerShdw>
          </a:effectLst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  <a:endParaRPr/>
          </a:p>
        </p:txBody>
      </p:sp>
      <p:pic>
        <p:nvPicPr>
          <p:cNvPr id="25" name="Picture 25"/>
          <p:cNvPicPr>
            <a:picLocks noChangeAspect="1"/>
          </p:cNvPicPr>
          <p:nvPr/>
        </p:nvPicPr>
        <p:blipFill>
          <a:blip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9"/>
              </a:ext>
            </a:extLst>
          </a:blip>
          <a:stretch>
            <a:fillRect/>
          </a:stretch>
        </p:blipFill>
        <p:spPr>
          <a:xfrm>
            <a:off x="4318000" y="5397500"/>
            <a:ext cx="609600" cy="609600"/>
          </a:xfrm>
          <a:prstGeom prst="rect">
            <a:avLst/>
          </a:prstGeom>
        </p:spPr>
      </p:pic>
      <p:sp>
        <p:nvSpPr>
          <p:cNvPr id="26" name="AutoShape 26"/>
          <p:cNvSpPr/>
          <p:nvPr/>
        </p:nvSpPr>
        <p:spPr>
          <a:xfrm>
            <a:off x="5080000" y="5334000"/>
            <a:ext cx="1778000" cy="3302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indent="0" algn="l">
              <a:lnSpc>
                <a:spcPct val="125000"/>
              </a:lnSpc>
              <a:defRPr/>
            </a:pPr>
            <a:r>
              <a:rPr lang="en-US" sz="1500" b="1" i="0" u="none" strike="noStrike">
                <a:solidFill>
                  <a:srgbClr val="333333"/>
                </a:solidFill>
                <a:latin typeface="Noto Sans SC"/>
                <a:ea typeface="Noto Sans SC"/>
                <a:cs typeface="Noto Sans SC"/>
                <a:sym typeface="Noto Sans SC"/>
              </a:rPr>
              <a:t>持续安全监控</a:t>
            </a:r>
            <a:endParaRPr lang="en-US" sz="1100"/>
          </a:p>
        </p:txBody>
      </p:sp>
      <p:sp>
        <p:nvSpPr>
          <p:cNvPr id="27" name="AutoShape 27"/>
          <p:cNvSpPr/>
          <p:nvPr/>
        </p:nvSpPr>
        <p:spPr>
          <a:xfrm>
            <a:off x="5080000" y="5778500"/>
            <a:ext cx="1778000" cy="635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indent="0" algn="l">
              <a:lnSpc>
                <a:spcPct val="100000"/>
              </a:lnSpc>
              <a:defRPr/>
            </a:pPr>
            <a:r>
              <a:rPr lang="en-US" sz="1100" b="0" i="0" u="none" strike="noStrike">
                <a:solidFill>
                  <a:srgbClr val="666666"/>
                </a:solidFill>
                <a:latin typeface="Noto Sans SC"/>
                <a:ea typeface="Noto Sans SC"/>
                <a:cs typeface="Noto Sans SC"/>
                <a:sym typeface="Noto Sans SC"/>
              </a:rPr>
              <a:t>定期重扫资产，及时发现新引入的安全漏洞，保障业务持续安全。</a:t>
            </a:r>
            <a:endParaRPr lang="en-US" sz="1100"/>
          </a:p>
        </p:txBody>
      </p:sp>
      <p:sp>
        <p:nvSpPr>
          <p:cNvPr id="28" name="AutoShape 28"/>
          <p:cNvSpPr/>
          <p:nvPr/>
        </p:nvSpPr>
        <p:spPr>
          <a:xfrm>
            <a:off x="7366000" y="1524000"/>
            <a:ext cx="3810000" cy="4953000"/>
          </a:xfrm>
          <a:prstGeom prst="roundRect">
            <a:avLst>
              <a:gd name="adj" fmla="val 5333"/>
            </a:avLst>
          </a:prstGeom>
          <a:solidFill>
            <a:srgbClr val="FFFFFF">
              <a:alpha val="100000"/>
            </a:srgbClr>
          </a:solidFill>
          <a:ln w="25400" cap="flat" cmpd="sng">
            <a:noFill/>
            <a:prstDash val="solid"/>
            <a:round/>
          </a:ln>
          <a:effectLst>
            <a:outerShdw blurRad="254000" dist="76200" dir="2700000" algn="tl" rotWithShape="0">
              <a:srgbClr val="000000">
                <a:alpha val="15000"/>
              </a:srgbClr>
            </a:outerShdw>
          </a:effectLst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  <a:endParaRPr/>
          </a:p>
        </p:txBody>
      </p:sp>
      <p:pic>
        <p:nvPicPr>
          <p:cNvPr id="33" name="图片 32">
            <a:extLst>
              <a:ext uri="{FF2B5EF4-FFF2-40B4-BE49-F238E27FC236}">
                <a16:creationId xmlns:a16="http://schemas.microsoft.com/office/drawing/2014/main" id="{E55A8691-D23D-37D7-51AE-7C0A0A12A2A8}"/>
              </a:ext>
            </a:extLst>
          </p:cNvPr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7663487" y="1730262"/>
            <a:ext cx="3251845" cy="4492738"/>
          </a:xfrm>
          <a:prstGeom prst="rect">
            <a:avLst/>
          </a:prstGeom>
        </p:spPr>
      </p:pic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3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AutoShape 2"/>
          <p:cNvSpPr/>
          <p:nvPr/>
        </p:nvSpPr>
        <p:spPr>
          <a:xfrm>
            <a:off x="0" y="0"/>
            <a:ext cx="12192000" cy="6858000"/>
          </a:xfrm>
          <a:prstGeom prst="roundRect">
            <a:avLst>
              <a:gd name="adj" fmla="val 0"/>
            </a:avLst>
          </a:prstGeom>
          <a:solidFill>
            <a:srgbClr val="FFFFFF">
              <a:alpha val="70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  <a:endParaRPr/>
          </a:p>
        </p:txBody>
      </p:sp>
      <p:sp>
        <p:nvSpPr>
          <p:cNvPr id="3" name="AutoShape 3"/>
          <p:cNvSpPr/>
          <p:nvPr/>
        </p:nvSpPr>
        <p:spPr>
          <a:xfrm>
            <a:off x="762000" y="635000"/>
            <a:ext cx="10668000" cy="508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indent="0" algn="l">
              <a:lnSpc>
                <a:spcPct val="125000"/>
              </a:lnSpc>
              <a:defRPr/>
            </a:pPr>
            <a:r>
              <a:rPr lang="en-US" sz="3200" b="1" i="0" u="none" strike="noStrike" dirty="0" err="1">
                <a:solidFill>
                  <a:srgbClr val="333333"/>
                </a:solidFill>
                <a:latin typeface="Noto Sans SC"/>
                <a:ea typeface="Noto Sans SC"/>
                <a:cs typeface="Noto Sans SC"/>
                <a:sym typeface="Noto Sans SC"/>
              </a:rPr>
              <a:t>Acunetix</a:t>
            </a:r>
            <a:r>
              <a:rPr lang="en-US" sz="3200" b="1" i="0" u="none" strike="noStrike" dirty="0">
                <a:solidFill>
                  <a:srgbClr val="333333"/>
                </a:solidFill>
                <a:latin typeface="Noto Sans SC"/>
                <a:ea typeface="Noto Sans SC"/>
                <a:cs typeface="Noto Sans SC"/>
                <a:sym typeface="Noto Sans SC"/>
              </a:rPr>
              <a:t> </a:t>
            </a:r>
            <a:r>
              <a:rPr lang="en-US" sz="3200" b="1" i="0" u="none" strike="noStrike" dirty="0" err="1">
                <a:solidFill>
                  <a:srgbClr val="333333"/>
                </a:solidFill>
                <a:latin typeface="Noto Sans SC"/>
                <a:ea typeface="Noto Sans SC"/>
                <a:cs typeface="Noto Sans SC"/>
                <a:sym typeface="Noto Sans SC"/>
              </a:rPr>
              <a:t>AWVS：扫描流程</a:t>
            </a:r>
            <a:r>
              <a:rPr lang="zh-CN" altLang="en-US" sz="3200" b="1" i="0" u="none" strike="noStrike" dirty="0">
                <a:solidFill>
                  <a:srgbClr val="333333"/>
                </a:solidFill>
                <a:latin typeface="Noto Sans SC"/>
                <a:ea typeface="Noto Sans SC"/>
                <a:cs typeface="Noto Sans SC"/>
                <a:sym typeface="Noto Sans SC"/>
              </a:rPr>
              <a:t>（见演示视频）</a:t>
            </a:r>
            <a:endParaRPr lang="en-US" sz="1100" dirty="0"/>
          </a:p>
        </p:txBody>
      </p:sp>
      <p:sp>
        <p:nvSpPr>
          <p:cNvPr id="4" name="AutoShape 4"/>
          <p:cNvSpPr/>
          <p:nvPr/>
        </p:nvSpPr>
        <p:spPr>
          <a:xfrm>
            <a:off x="762000" y="1524000"/>
            <a:ext cx="4826000" cy="952500"/>
          </a:xfrm>
          <a:prstGeom prst="roundRect">
            <a:avLst>
              <a:gd name="adj" fmla="val 13333"/>
            </a:avLst>
          </a:prstGeom>
          <a:solidFill>
            <a:srgbClr val="FFFFFF">
              <a:alpha val="90000"/>
            </a:srgbClr>
          </a:solidFill>
          <a:ln w="25400" cap="flat" cmpd="sng">
            <a:noFill/>
            <a:prstDash val="solid"/>
            <a:round/>
          </a:ln>
          <a:effectLst>
            <a:outerShdw blurRad="127000" dist="38100" dir="2700000" algn="tl" rotWithShape="0">
              <a:srgbClr val="000000">
                <a:alpha val="8000"/>
              </a:srgbClr>
            </a:outerShdw>
          </a:effectLst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  <a:endParaRPr/>
          </a:p>
        </p:txBody>
      </p:sp>
      <p:sp>
        <p:nvSpPr>
          <p:cNvPr id="5" name="AutoShape 5"/>
          <p:cNvSpPr/>
          <p:nvPr/>
        </p:nvSpPr>
        <p:spPr>
          <a:xfrm>
            <a:off x="952500" y="1739900"/>
            <a:ext cx="508000" cy="508000"/>
          </a:xfrm>
          <a:prstGeom prst="ellipse">
            <a:avLst/>
          </a:prstGeom>
          <a:solidFill>
            <a:srgbClr val="2563EB">
              <a:alpha val="100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  <a:endParaRPr/>
          </a:p>
        </p:txBody>
      </p:sp>
      <p:sp>
        <p:nvSpPr>
          <p:cNvPr id="6" name="AutoShape 6"/>
          <p:cNvSpPr/>
          <p:nvPr/>
        </p:nvSpPr>
        <p:spPr>
          <a:xfrm>
            <a:off x="952500" y="1841500"/>
            <a:ext cx="508000" cy="3048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indent="0" algn="ctr">
              <a:lnSpc>
                <a:spcPct val="125000"/>
              </a:lnSpc>
              <a:defRPr/>
            </a:pPr>
            <a:r>
              <a:rPr lang="en-US" sz="1800" b="1" i="0" u="none" strike="noStrike">
                <a:solidFill>
                  <a:srgbClr val="FFFFFF"/>
                </a:solidFill>
                <a:latin typeface="Noto Sans SC"/>
                <a:ea typeface="Noto Sans SC"/>
                <a:cs typeface="Noto Sans SC"/>
                <a:sym typeface="Noto Sans SC"/>
              </a:rPr>
              <a:t>01</a:t>
            </a:r>
            <a:endParaRPr lang="en-US" sz="1100"/>
          </a:p>
        </p:txBody>
      </p:sp>
      <p:sp>
        <p:nvSpPr>
          <p:cNvPr id="7" name="AutoShape 7"/>
          <p:cNvSpPr/>
          <p:nvPr/>
        </p:nvSpPr>
        <p:spPr>
          <a:xfrm>
            <a:off x="1651000" y="1676400"/>
            <a:ext cx="3810000" cy="3048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indent="0" algn="l">
              <a:lnSpc>
                <a:spcPct val="125000"/>
              </a:lnSpc>
              <a:defRPr/>
            </a:pPr>
            <a:r>
              <a:rPr lang="en-US" sz="1500" b="1" i="0" u="none" strike="noStrike">
                <a:solidFill>
                  <a:srgbClr val="333333"/>
                </a:solidFill>
                <a:latin typeface="Noto Sans SC"/>
                <a:ea typeface="Noto Sans SC"/>
                <a:cs typeface="Noto Sans SC"/>
                <a:sym typeface="Noto Sans SC"/>
              </a:rPr>
              <a:t>添加扫描目标</a:t>
            </a:r>
            <a:endParaRPr lang="en-US" sz="1100"/>
          </a:p>
        </p:txBody>
      </p:sp>
      <p:sp>
        <p:nvSpPr>
          <p:cNvPr id="8" name="AutoShape 8"/>
          <p:cNvSpPr/>
          <p:nvPr/>
        </p:nvSpPr>
        <p:spPr>
          <a:xfrm>
            <a:off x="1651000" y="2032000"/>
            <a:ext cx="3683000" cy="381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indent="0" algn="l">
              <a:lnSpc>
                <a:spcPct val="100000"/>
              </a:lnSpc>
              <a:defRPr/>
            </a:pPr>
            <a:r>
              <a:rPr lang="en-US" sz="1100" b="0" i="0" u="none" strike="noStrike">
                <a:solidFill>
                  <a:srgbClr val="6B7280"/>
                </a:solidFill>
                <a:latin typeface="Noto Sans SC"/>
                <a:ea typeface="Noto Sans SC"/>
                <a:cs typeface="Noto Sans SC"/>
                <a:sym typeface="Noto Sans SC"/>
              </a:rPr>
              <a:t>输入待检测的 Web 站点 URL 或 API 接口地址，支持 HTTP/HTTPS 协议。</a:t>
            </a:r>
            <a:endParaRPr lang="en-US" sz="1100"/>
          </a:p>
        </p:txBody>
      </p:sp>
      <p:sp>
        <p:nvSpPr>
          <p:cNvPr id="9" name="AutoShape 9"/>
          <p:cNvSpPr/>
          <p:nvPr/>
        </p:nvSpPr>
        <p:spPr>
          <a:xfrm>
            <a:off x="762000" y="2603500"/>
            <a:ext cx="4826000" cy="952500"/>
          </a:xfrm>
          <a:prstGeom prst="roundRect">
            <a:avLst>
              <a:gd name="adj" fmla="val 13333"/>
            </a:avLst>
          </a:prstGeom>
          <a:solidFill>
            <a:srgbClr val="FFFFFF">
              <a:alpha val="90000"/>
            </a:srgbClr>
          </a:solidFill>
          <a:ln w="25400" cap="flat" cmpd="sng">
            <a:noFill/>
            <a:prstDash val="solid"/>
            <a:round/>
          </a:ln>
          <a:effectLst>
            <a:outerShdw blurRad="127000" dist="38100" dir="2700000" algn="tl" rotWithShape="0">
              <a:srgbClr val="000000">
                <a:alpha val="8000"/>
              </a:srgbClr>
            </a:outerShdw>
          </a:effectLst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  <a:endParaRPr/>
          </a:p>
        </p:txBody>
      </p:sp>
      <p:sp>
        <p:nvSpPr>
          <p:cNvPr id="10" name="AutoShape 10"/>
          <p:cNvSpPr/>
          <p:nvPr/>
        </p:nvSpPr>
        <p:spPr>
          <a:xfrm>
            <a:off x="952500" y="2819400"/>
            <a:ext cx="508000" cy="508000"/>
          </a:xfrm>
          <a:prstGeom prst="ellipse">
            <a:avLst/>
          </a:prstGeom>
          <a:solidFill>
            <a:srgbClr val="2563EB">
              <a:alpha val="100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  <a:endParaRPr/>
          </a:p>
        </p:txBody>
      </p:sp>
      <p:sp>
        <p:nvSpPr>
          <p:cNvPr id="11" name="AutoShape 11"/>
          <p:cNvSpPr/>
          <p:nvPr/>
        </p:nvSpPr>
        <p:spPr>
          <a:xfrm>
            <a:off x="952500" y="2921000"/>
            <a:ext cx="508000" cy="3048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indent="0" algn="ctr">
              <a:lnSpc>
                <a:spcPct val="125000"/>
              </a:lnSpc>
              <a:defRPr/>
            </a:pPr>
            <a:r>
              <a:rPr lang="en-US" sz="1800" b="1" i="0" u="none" strike="noStrike">
                <a:solidFill>
                  <a:srgbClr val="FFFFFF"/>
                </a:solidFill>
                <a:latin typeface="Noto Sans SC"/>
                <a:ea typeface="Noto Sans SC"/>
                <a:cs typeface="Noto Sans SC"/>
                <a:sym typeface="Noto Sans SC"/>
              </a:rPr>
              <a:t>02</a:t>
            </a:r>
            <a:endParaRPr lang="en-US" sz="1100"/>
          </a:p>
        </p:txBody>
      </p:sp>
      <p:sp>
        <p:nvSpPr>
          <p:cNvPr id="12" name="AutoShape 12"/>
          <p:cNvSpPr/>
          <p:nvPr/>
        </p:nvSpPr>
        <p:spPr>
          <a:xfrm>
            <a:off x="1651000" y="2755900"/>
            <a:ext cx="3810000" cy="3048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indent="0" algn="l">
              <a:lnSpc>
                <a:spcPct val="125000"/>
              </a:lnSpc>
              <a:defRPr/>
            </a:pPr>
            <a:r>
              <a:rPr lang="en-US" sz="1500" b="1" i="0" u="none" strike="noStrike">
                <a:solidFill>
                  <a:srgbClr val="333333"/>
                </a:solidFill>
                <a:latin typeface="Noto Sans SC"/>
                <a:ea typeface="Noto Sans SC"/>
                <a:cs typeface="Noto Sans SC"/>
                <a:sym typeface="Noto Sans SC"/>
              </a:rPr>
              <a:t>配置扫描策略</a:t>
            </a:r>
            <a:endParaRPr lang="en-US" sz="1100"/>
          </a:p>
        </p:txBody>
      </p:sp>
      <p:sp>
        <p:nvSpPr>
          <p:cNvPr id="13" name="AutoShape 13"/>
          <p:cNvSpPr/>
          <p:nvPr/>
        </p:nvSpPr>
        <p:spPr>
          <a:xfrm>
            <a:off x="1651000" y="3111500"/>
            <a:ext cx="3683000" cy="381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indent="0" algn="l">
              <a:lnSpc>
                <a:spcPct val="100000"/>
              </a:lnSpc>
              <a:defRPr/>
            </a:pPr>
            <a:r>
              <a:rPr lang="en-US" sz="1100" b="0" i="0" u="none" strike="noStrike">
                <a:solidFill>
                  <a:srgbClr val="6B7280"/>
                </a:solidFill>
                <a:latin typeface="Noto Sans SC"/>
                <a:ea typeface="Noto Sans SC"/>
                <a:cs typeface="Noto Sans SC"/>
                <a:sym typeface="Noto Sans SC"/>
              </a:rPr>
              <a:t>灵活选择“快速/完全/自定义”模式，按需配置扫描速度、并发线程及深度。</a:t>
            </a:r>
            <a:endParaRPr lang="en-US" sz="1100"/>
          </a:p>
        </p:txBody>
      </p:sp>
      <p:sp>
        <p:nvSpPr>
          <p:cNvPr id="14" name="AutoShape 14"/>
          <p:cNvSpPr/>
          <p:nvPr/>
        </p:nvSpPr>
        <p:spPr>
          <a:xfrm>
            <a:off x="762000" y="3683000"/>
            <a:ext cx="4826000" cy="952500"/>
          </a:xfrm>
          <a:prstGeom prst="roundRect">
            <a:avLst>
              <a:gd name="adj" fmla="val 13333"/>
            </a:avLst>
          </a:prstGeom>
          <a:solidFill>
            <a:srgbClr val="FFFFFF">
              <a:alpha val="90000"/>
            </a:srgbClr>
          </a:solidFill>
          <a:ln w="25400" cap="flat" cmpd="sng">
            <a:noFill/>
            <a:prstDash val="solid"/>
            <a:round/>
          </a:ln>
          <a:effectLst>
            <a:outerShdw blurRad="127000" dist="38100" dir="2700000" algn="tl" rotWithShape="0">
              <a:srgbClr val="000000">
                <a:alpha val="8000"/>
              </a:srgbClr>
            </a:outerShdw>
          </a:effectLst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  <a:endParaRPr/>
          </a:p>
        </p:txBody>
      </p:sp>
      <p:sp>
        <p:nvSpPr>
          <p:cNvPr id="15" name="AutoShape 15"/>
          <p:cNvSpPr/>
          <p:nvPr/>
        </p:nvSpPr>
        <p:spPr>
          <a:xfrm>
            <a:off x="952500" y="3898900"/>
            <a:ext cx="508000" cy="508000"/>
          </a:xfrm>
          <a:prstGeom prst="ellipse">
            <a:avLst/>
          </a:prstGeom>
          <a:solidFill>
            <a:srgbClr val="2563EB">
              <a:alpha val="100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  <a:endParaRPr/>
          </a:p>
        </p:txBody>
      </p:sp>
      <p:sp>
        <p:nvSpPr>
          <p:cNvPr id="16" name="AutoShape 16"/>
          <p:cNvSpPr/>
          <p:nvPr/>
        </p:nvSpPr>
        <p:spPr>
          <a:xfrm>
            <a:off x="952500" y="4000500"/>
            <a:ext cx="508000" cy="3048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indent="0" algn="ctr">
              <a:lnSpc>
                <a:spcPct val="125000"/>
              </a:lnSpc>
              <a:defRPr/>
            </a:pPr>
            <a:r>
              <a:rPr lang="en-US" sz="1800" b="1" i="0" u="none" strike="noStrike">
                <a:solidFill>
                  <a:srgbClr val="FFFFFF"/>
                </a:solidFill>
                <a:latin typeface="Noto Sans SC"/>
                <a:ea typeface="Noto Sans SC"/>
                <a:cs typeface="Noto Sans SC"/>
                <a:sym typeface="Noto Sans SC"/>
              </a:rPr>
              <a:t>03</a:t>
            </a:r>
            <a:endParaRPr lang="en-US" sz="1100"/>
          </a:p>
        </p:txBody>
      </p:sp>
      <p:sp>
        <p:nvSpPr>
          <p:cNvPr id="17" name="AutoShape 17"/>
          <p:cNvSpPr/>
          <p:nvPr/>
        </p:nvSpPr>
        <p:spPr>
          <a:xfrm>
            <a:off x="1651000" y="3835400"/>
            <a:ext cx="3810000" cy="3048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indent="0" algn="l">
              <a:lnSpc>
                <a:spcPct val="125000"/>
              </a:lnSpc>
              <a:defRPr/>
            </a:pPr>
            <a:r>
              <a:rPr lang="en-US" sz="1500" b="1" i="0" u="none" strike="noStrike">
                <a:solidFill>
                  <a:srgbClr val="333333"/>
                </a:solidFill>
                <a:latin typeface="Noto Sans SC"/>
                <a:ea typeface="Noto Sans SC"/>
                <a:cs typeface="Noto Sans SC"/>
                <a:sym typeface="Noto Sans SC"/>
              </a:rPr>
              <a:t>设置认证信息 (可选)</a:t>
            </a:r>
            <a:endParaRPr lang="en-US" sz="1100"/>
          </a:p>
        </p:txBody>
      </p:sp>
      <p:sp>
        <p:nvSpPr>
          <p:cNvPr id="18" name="AutoShape 18"/>
          <p:cNvSpPr/>
          <p:nvPr/>
        </p:nvSpPr>
        <p:spPr>
          <a:xfrm>
            <a:off x="1651000" y="4191000"/>
            <a:ext cx="3683000" cy="381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indent="0" algn="l">
              <a:lnSpc>
                <a:spcPct val="100000"/>
              </a:lnSpc>
              <a:defRPr/>
            </a:pPr>
            <a:r>
              <a:rPr lang="en-US" sz="1100" b="0" i="0" u="none" strike="noStrike">
                <a:solidFill>
                  <a:srgbClr val="6B7280"/>
                </a:solidFill>
                <a:latin typeface="Noto Sans SC"/>
                <a:ea typeface="Noto Sans SC"/>
                <a:cs typeface="Noto Sans SC"/>
                <a:sym typeface="Noto Sans SC"/>
              </a:rPr>
              <a:t>针对需登录的系统，录制登录宏或配置 Cookie/Token，实现鉴权后的深度扫描。</a:t>
            </a:r>
            <a:endParaRPr lang="en-US" sz="1100"/>
          </a:p>
        </p:txBody>
      </p:sp>
      <p:sp>
        <p:nvSpPr>
          <p:cNvPr id="19" name="AutoShape 19"/>
          <p:cNvSpPr/>
          <p:nvPr/>
        </p:nvSpPr>
        <p:spPr>
          <a:xfrm>
            <a:off x="762000" y="4762500"/>
            <a:ext cx="4826000" cy="952500"/>
          </a:xfrm>
          <a:prstGeom prst="roundRect">
            <a:avLst>
              <a:gd name="adj" fmla="val 13333"/>
            </a:avLst>
          </a:prstGeom>
          <a:solidFill>
            <a:srgbClr val="FFFFFF">
              <a:alpha val="90000"/>
            </a:srgbClr>
          </a:solidFill>
          <a:ln w="25400" cap="flat" cmpd="sng">
            <a:noFill/>
            <a:prstDash val="solid"/>
            <a:round/>
          </a:ln>
          <a:effectLst>
            <a:outerShdw blurRad="127000" dist="38100" dir="2700000" algn="tl" rotWithShape="0">
              <a:srgbClr val="000000">
                <a:alpha val="8000"/>
              </a:srgbClr>
            </a:outerShdw>
          </a:effectLst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  <a:endParaRPr/>
          </a:p>
        </p:txBody>
      </p:sp>
      <p:sp>
        <p:nvSpPr>
          <p:cNvPr id="20" name="AutoShape 20"/>
          <p:cNvSpPr/>
          <p:nvPr/>
        </p:nvSpPr>
        <p:spPr>
          <a:xfrm>
            <a:off x="952500" y="4978400"/>
            <a:ext cx="508000" cy="508000"/>
          </a:xfrm>
          <a:prstGeom prst="ellipse">
            <a:avLst/>
          </a:prstGeom>
          <a:solidFill>
            <a:srgbClr val="2563EB">
              <a:alpha val="100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  <a:endParaRPr/>
          </a:p>
        </p:txBody>
      </p:sp>
      <p:sp>
        <p:nvSpPr>
          <p:cNvPr id="21" name="AutoShape 21"/>
          <p:cNvSpPr/>
          <p:nvPr/>
        </p:nvSpPr>
        <p:spPr>
          <a:xfrm>
            <a:off x="952500" y="5080000"/>
            <a:ext cx="508000" cy="3048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indent="0" algn="ctr">
              <a:lnSpc>
                <a:spcPct val="125000"/>
              </a:lnSpc>
              <a:defRPr/>
            </a:pPr>
            <a:r>
              <a:rPr lang="en-US" sz="1800" b="1" i="0" u="none" strike="noStrike">
                <a:solidFill>
                  <a:srgbClr val="FFFFFF"/>
                </a:solidFill>
                <a:latin typeface="Noto Sans SC"/>
                <a:ea typeface="Noto Sans SC"/>
                <a:cs typeface="Noto Sans SC"/>
                <a:sym typeface="Noto Sans SC"/>
              </a:rPr>
              <a:t>04</a:t>
            </a:r>
            <a:endParaRPr lang="en-US" sz="1100"/>
          </a:p>
        </p:txBody>
      </p:sp>
      <p:sp>
        <p:nvSpPr>
          <p:cNvPr id="22" name="AutoShape 22"/>
          <p:cNvSpPr/>
          <p:nvPr/>
        </p:nvSpPr>
        <p:spPr>
          <a:xfrm>
            <a:off x="1651000" y="4914900"/>
            <a:ext cx="3810000" cy="3048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indent="0" algn="l">
              <a:lnSpc>
                <a:spcPct val="125000"/>
              </a:lnSpc>
              <a:defRPr/>
            </a:pPr>
            <a:r>
              <a:rPr lang="en-US" sz="1500" b="1" i="0" u="none" strike="noStrike">
                <a:solidFill>
                  <a:srgbClr val="333333"/>
                </a:solidFill>
                <a:latin typeface="Noto Sans SC"/>
                <a:ea typeface="Noto Sans SC"/>
                <a:cs typeface="Noto Sans SC"/>
                <a:sym typeface="Noto Sans SC"/>
              </a:rPr>
              <a:t>启动自动化扫描</a:t>
            </a:r>
            <a:endParaRPr lang="en-US" sz="1100"/>
          </a:p>
        </p:txBody>
      </p:sp>
      <p:sp>
        <p:nvSpPr>
          <p:cNvPr id="23" name="AutoShape 23"/>
          <p:cNvSpPr/>
          <p:nvPr/>
        </p:nvSpPr>
        <p:spPr>
          <a:xfrm>
            <a:off x="1651000" y="5270500"/>
            <a:ext cx="3683000" cy="381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indent="0" algn="l">
              <a:lnSpc>
                <a:spcPct val="100000"/>
              </a:lnSpc>
              <a:defRPr/>
            </a:pPr>
            <a:r>
              <a:rPr lang="en-US" sz="1100" b="0" i="0" u="none" strike="noStrike">
                <a:solidFill>
                  <a:srgbClr val="6B7280"/>
                </a:solidFill>
                <a:latin typeface="Noto Sans SC"/>
                <a:ea typeface="Noto Sans SC"/>
                <a:cs typeface="Noto Sans SC"/>
                <a:sym typeface="Noto Sans SC"/>
              </a:rPr>
              <a:t>系统自动执行爬虫遍历与漏洞检测，支持实时查看进度条与已发现的高危漏洞。</a:t>
            </a:r>
            <a:endParaRPr lang="en-US" sz="1100"/>
          </a:p>
        </p:txBody>
      </p:sp>
      <p:sp>
        <p:nvSpPr>
          <p:cNvPr id="24" name="AutoShape 24"/>
          <p:cNvSpPr/>
          <p:nvPr/>
        </p:nvSpPr>
        <p:spPr>
          <a:xfrm>
            <a:off x="762000" y="5842000"/>
            <a:ext cx="4826000" cy="825500"/>
          </a:xfrm>
          <a:prstGeom prst="roundRect">
            <a:avLst>
              <a:gd name="adj" fmla="val 15384"/>
            </a:avLst>
          </a:prstGeom>
          <a:solidFill>
            <a:srgbClr val="FFFFFF">
              <a:alpha val="90000"/>
            </a:srgbClr>
          </a:solidFill>
          <a:ln w="25400" cap="flat" cmpd="sng">
            <a:noFill/>
            <a:prstDash val="solid"/>
            <a:round/>
          </a:ln>
          <a:effectLst>
            <a:outerShdw blurRad="127000" dist="38100" dir="2700000" algn="tl" rotWithShape="0">
              <a:srgbClr val="000000">
                <a:alpha val="8000"/>
              </a:srgbClr>
            </a:outerShdw>
          </a:effectLst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  <a:endParaRPr/>
          </a:p>
        </p:txBody>
      </p:sp>
      <p:sp>
        <p:nvSpPr>
          <p:cNvPr id="25" name="AutoShape 25"/>
          <p:cNvSpPr/>
          <p:nvPr/>
        </p:nvSpPr>
        <p:spPr>
          <a:xfrm>
            <a:off x="952500" y="6032500"/>
            <a:ext cx="457200" cy="457200"/>
          </a:xfrm>
          <a:prstGeom prst="ellipse">
            <a:avLst/>
          </a:prstGeom>
          <a:solidFill>
            <a:srgbClr val="2563EB">
              <a:alpha val="100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  <a:endParaRPr/>
          </a:p>
        </p:txBody>
      </p:sp>
      <p:sp>
        <p:nvSpPr>
          <p:cNvPr id="26" name="AutoShape 26"/>
          <p:cNvSpPr/>
          <p:nvPr/>
        </p:nvSpPr>
        <p:spPr>
          <a:xfrm>
            <a:off x="952500" y="6121400"/>
            <a:ext cx="457200" cy="3048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indent="0" algn="ctr">
              <a:lnSpc>
                <a:spcPct val="125000"/>
              </a:lnSpc>
              <a:defRPr/>
            </a:pPr>
            <a:r>
              <a:rPr lang="en-US" sz="1600" b="1" i="0" u="none" strike="noStrike">
                <a:solidFill>
                  <a:srgbClr val="FFFFFF"/>
                </a:solidFill>
                <a:latin typeface="Noto Sans SC"/>
                <a:ea typeface="Noto Sans SC"/>
                <a:cs typeface="Noto Sans SC"/>
                <a:sym typeface="Noto Sans SC"/>
              </a:rPr>
              <a:t>05</a:t>
            </a:r>
            <a:endParaRPr lang="en-US" sz="1100"/>
          </a:p>
        </p:txBody>
      </p:sp>
      <p:sp>
        <p:nvSpPr>
          <p:cNvPr id="27" name="AutoShape 27"/>
          <p:cNvSpPr/>
          <p:nvPr/>
        </p:nvSpPr>
        <p:spPr>
          <a:xfrm>
            <a:off x="1651000" y="5969000"/>
            <a:ext cx="3810000" cy="254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indent="0" algn="l">
              <a:lnSpc>
                <a:spcPct val="125000"/>
              </a:lnSpc>
              <a:defRPr/>
            </a:pPr>
            <a:r>
              <a:rPr lang="en-US" sz="1400" b="1" i="0" u="none" strike="noStrike">
                <a:solidFill>
                  <a:srgbClr val="333333"/>
                </a:solidFill>
                <a:latin typeface="Noto Sans SC"/>
                <a:ea typeface="Noto Sans SC"/>
                <a:cs typeface="Noto Sans SC"/>
                <a:sym typeface="Noto Sans SC"/>
              </a:rPr>
              <a:t>生成与分析报告</a:t>
            </a:r>
            <a:endParaRPr lang="en-US" sz="1100"/>
          </a:p>
        </p:txBody>
      </p:sp>
      <p:sp>
        <p:nvSpPr>
          <p:cNvPr id="28" name="AutoShape 28"/>
          <p:cNvSpPr/>
          <p:nvPr/>
        </p:nvSpPr>
        <p:spPr>
          <a:xfrm>
            <a:off x="1651000" y="6248400"/>
            <a:ext cx="3683000" cy="254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indent="0" algn="l">
              <a:lnSpc>
                <a:spcPct val="125000"/>
              </a:lnSpc>
              <a:defRPr/>
            </a:pPr>
            <a:r>
              <a:rPr lang="en-US" sz="1000" b="0" i="0" u="none" strike="noStrike">
                <a:solidFill>
                  <a:srgbClr val="6B7280"/>
                </a:solidFill>
                <a:latin typeface="Noto Sans SC"/>
                <a:ea typeface="Noto Sans SC"/>
                <a:cs typeface="Noto Sans SC"/>
                <a:sym typeface="Noto Sans SC"/>
              </a:rPr>
              <a:t>生成含修复建议的可视化报告，用于漏洞分析与整改。</a:t>
            </a:r>
            <a:endParaRPr lang="en-US" sz="1100"/>
          </a:p>
        </p:txBody>
      </p:sp>
      <p:sp>
        <p:nvSpPr>
          <p:cNvPr id="29" name="AutoShape 29"/>
          <p:cNvSpPr/>
          <p:nvPr/>
        </p:nvSpPr>
        <p:spPr>
          <a:xfrm>
            <a:off x="5842000" y="1524000"/>
            <a:ext cx="5334000" cy="5016500"/>
          </a:xfrm>
          <a:prstGeom prst="roundRect">
            <a:avLst>
              <a:gd name="adj" fmla="val 3037"/>
            </a:avLst>
          </a:prstGeom>
          <a:solidFill>
            <a:srgbClr val="FFFFFF">
              <a:alpha val="95000"/>
            </a:srgbClr>
          </a:solidFill>
          <a:ln w="25400" cap="flat" cmpd="sng">
            <a:noFill/>
            <a:prstDash val="solid"/>
            <a:round/>
          </a:ln>
          <a:effectLst>
            <a:outerShdw blurRad="254000" dist="63500" dir="2700000" algn="tl" rotWithShape="0">
              <a:srgbClr val="000000">
                <a:alpha val="15000"/>
              </a:srgbClr>
            </a:outerShdw>
          </a:effectLst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  <a:endParaRPr/>
          </a:p>
        </p:txBody>
      </p:sp>
      <p:sp>
        <p:nvSpPr>
          <p:cNvPr id="30" name="AutoShape 30"/>
          <p:cNvSpPr/>
          <p:nvPr/>
        </p:nvSpPr>
        <p:spPr>
          <a:xfrm>
            <a:off x="5842000" y="1778000"/>
            <a:ext cx="5334000" cy="381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indent="0" algn="ctr">
              <a:lnSpc>
                <a:spcPct val="125000"/>
              </a:lnSpc>
              <a:defRPr/>
            </a:pPr>
            <a:r>
              <a:rPr lang="en-US" sz="1600" b="1" i="0" u="none" strike="noStrike" dirty="0">
                <a:solidFill>
                  <a:srgbClr val="2563EB"/>
                </a:solidFill>
                <a:latin typeface="Noto Sans SC"/>
                <a:ea typeface="Noto Sans SC"/>
                <a:cs typeface="Noto Sans SC"/>
                <a:sym typeface="Noto Sans SC"/>
              </a:rPr>
              <a:t>▍ </a:t>
            </a:r>
            <a:r>
              <a:rPr lang="en-US" sz="1600" b="1" i="0" u="none" strike="noStrike" dirty="0" err="1">
                <a:solidFill>
                  <a:srgbClr val="2563EB"/>
                </a:solidFill>
                <a:latin typeface="Noto Sans SC"/>
                <a:ea typeface="Noto Sans SC"/>
                <a:cs typeface="Noto Sans SC"/>
                <a:sym typeface="Noto Sans SC"/>
              </a:rPr>
              <a:t>扫描监控与结果界面</a:t>
            </a:r>
            <a:endParaRPr lang="en-US" sz="1100" dirty="0"/>
          </a:p>
        </p:txBody>
      </p:sp>
      <p:sp>
        <p:nvSpPr>
          <p:cNvPr id="32" name="AutoShape 32"/>
          <p:cNvSpPr/>
          <p:nvPr/>
        </p:nvSpPr>
        <p:spPr>
          <a:xfrm>
            <a:off x="6096000" y="5588000"/>
            <a:ext cx="4826000" cy="635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indent="0" algn="ctr">
              <a:lnSpc>
                <a:spcPct val="108333"/>
              </a:lnSpc>
              <a:defRPr/>
            </a:pPr>
            <a:r>
              <a:rPr lang="en-US" sz="1200" b="0" i="0" u="none" strike="noStrike">
                <a:solidFill>
                  <a:srgbClr val="525252"/>
                </a:solidFill>
                <a:latin typeface="Noto Sans SC"/>
                <a:ea typeface="Noto Sans SC"/>
                <a:cs typeface="Noto Sans SC"/>
                <a:sym typeface="Noto Sans SC"/>
              </a:rPr>
              <a:t>界面实时展示扫描进度、风险等级分布及漏洞详情，支持一键导出 PDF/HTML 格式报告。</a:t>
            </a:r>
            <a:endParaRPr lang="en-US" sz="1100"/>
          </a:p>
        </p:txBody>
      </p:sp>
      <p:pic>
        <p:nvPicPr>
          <p:cNvPr id="34" name="图片 33">
            <a:extLst>
              <a:ext uri="{FF2B5EF4-FFF2-40B4-BE49-F238E27FC236}">
                <a16:creationId xmlns:a16="http://schemas.microsoft.com/office/drawing/2014/main" id="{E58BD6B2-CB44-3F11-62C6-5017173D19CE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223000" y="2247900"/>
            <a:ext cx="4545407" cy="3238500"/>
          </a:xfrm>
          <a:prstGeom prst="rect">
            <a:avLst/>
          </a:prstGeom>
        </p:spPr>
      </p:pic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3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AutoShape 2"/>
          <p:cNvSpPr/>
          <p:nvPr/>
        </p:nvSpPr>
        <p:spPr>
          <a:xfrm>
            <a:off x="0" y="0"/>
            <a:ext cx="12192000" cy="6858000"/>
          </a:xfrm>
          <a:prstGeom prst="roundRect">
            <a:avLst>
              <a:gd name="adj" fmla="val 0"/>
            </a:avLst>
          </a:prstGeom>
          <a:solidFill>
            <a:srgbClr val="FFFFFF">
              <a:alpha val="40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  <a:endParaRPr/>
          </a:p>
        </p:txBody>
      </p:sp>
      <p:sp>
        <p:nvSpPr>
          <p:cNvPr id="3" name="AutoShape 3"/>
          <p:cNvSpPr/>
          <p:nvPr/>
        </p:nvSpPr>
        <p:spPr>
          <a:xfrm>
            <a:off x="762000" y="635000"/>
            <a:ext cx="10668000" cy="508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indent="0" algn="l">
              <a:lnSpc>
                <a:spcPct val="125000"/>
              </a:lnSpc>
              <a:defRPr/>
            </a:pPr>
            <a:r>
              <a:rPr lang="en-US" sz="3200" b="1" i="0" u="none" strike="noStrike" dirty="0" err="1">
                <a:solidFill>
                  <a:srgbClr val="333333"/>
                </a:solidFill>
                <a:latin typeface="Noto Sans SC"/>
                <a:ea typeface="Noto Sans SC"/>
                <a:cs typeface="Noto Sans SC"/>
                <a:sym typeface="Noto Sans SC"/>
              </a:rPr>
              <a:t>总结与选型建议</a:t>
            </a:r>
            <a:endParaRPr lang="en-US" sz="1100" dirty="0"/>
          </a:p>
        </p:txBody>
      </p:sp>
      <p:sp>
        <p:nvSpPr>
          <p:cNvPr id="4" name="AutoShape 4"/>
          <p:cNvSpPr/>
          <p:nvPr/>
        </p:nvSpPr>
        <p:spPr>
          <a:xfrm>
            <a:off x="762000" y="1524000"/>
            <a:ext cx="5207000" cy="1905000"/>
          </a:xfrm>
          <a:prstGeom prst="roundRect">
            <a:avLst>
              <a:gd name="adj" fmla="val 8000"/>
            </a:avLst>
          </a:prstGeom>
          <a:solidFill>
            <a:srgbClr val="FFFFFF">
              <a:alpha val="95000"/>
            </a:srgbClr>
          </a:solidFill>
          <a:ln w="25400" cap="flat" cmpd="sng">
            <a:noFill/>
            <a:prstDash val="solid"/>
            <a:round/>
          </a:ln>
          <a:effectLst>
            <a:outerShdw blurRad="190500" dist="50800" dir="2700000" algn="tl" rotWithShape="0">
              <a:srgbClr val="000000">
                <a:alpha val="8000"/>
              </a:srgbClr>
            </a:outerShdw>
          </a:effectLst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  <a:endParaRPr/>
          </a:p>
        </p:txBody>
      </p:sp>
      <p:sp>
        <p:nvSpPr>
          <p:cNvPr id="5" name="AutoShape 5"/>
          <p:cNvSpPr/>
          <p:nvPr/>
        </p:nvSpPr>
        <p:spPr>
          <a:xfrm>
            <a:off x="1016000" y="1841500"/>
            <a:ext cx="889000" cy="889000"/>
          </a:xfrm>
          <a:prstGeom prst="ellipse">
            <a:avLst/>
          </a:prstGeom>
          <a:solidFill>
            <a:srgbClr val="DBEAFE">
              <a:alpha val="100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  <a:endParaRPr/>
          </a:p>
        </p:txBody>
      </p:sp>
      <p:pic>
        <p:nvPicPr>
          <p:cNvPr id="6" name="Picture 6"/>
          <p:cNvPicPr>
            <a:picLocks noChangeAspect="1"/>
          </p:cNvPicPr>
          <p:nvPr/>
        </p:nvPicPr>
        <p:blipFill>
          <a:blip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1206500" y="2032000"/>
            <a:ext cx="508000" cy="508000"/>
          </a:xfrm>
          <a:prstGeom prst="rect">
            <a:avLst/>
          </a:prstGeom>
        </p:spPr>
      </p:pic>
      <p:sp>
        <p:nvSpPr>
          <p:cNvPr id="7" name="AutoShape 7"/>
          <p:cNvSpPr/>
          <p:nvPr/>
        </p:nvSpPr>
        <p:spPr>
          <a:xfrm>
            <a:off x="2159000" y="1841500"/>
            <a:ext cx="3556000" cy="381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indent="0" algn="l">
              <a:lnSpc>
                <a:spcPct val="125000"/>
              </a:lnSpc>
              <a:defRPr/>
            </a:pPr>
            <a:r>
              <a:rPr lang="en-US" sz="1800" b="1" i="0" u="none" strike="noStrike">
                <a:solidFill>
                  <a:srgbClr val="333333"/>
                </a:solidFill>
                <a:latin typeface="Noto Sans SC"/>
                <a:ea typeface="Noto Sans SC"/>
                <a:cs typeface="Noto Sans SC"/>
                <a:sym typeface="Noto Sans SC"/>
              </a:rPr>
              <a:t>HCL AppScan</a:t>
            </a:r>
            <a:endParaRPr lang="en-US" sz="1100"/>
          </a:p>
        </p:txBody>
      </p:sp>
      <p:sp>
        <p:nvSpPr>
          <p:cNvPr id="8" name="AutoShape 8"/>
          <p:cNvSpPr/>
          <p:nvPr/>
        </p:nvSpPr>
        <p:spPr>
          <a:xfrm>
            <a:off x="2159000" y="2349500"/>
            <a:ext cx="3556000" cy="889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indent="0" algn="l">
              <a:lnSpc>
                <a:spcPct val="116666"/>
              </a:lnSpc>
              <a:defRPr/>
            </a:pPr>
            <a:r>
              <a:rPr lang="en-US" sz="1200" b="0" i="0" u="none" strike="noStrike">
                <a:solidFill>
                  <a:srgbClr val="555555"/>
                </a:solidFill>
                <a:latin typeface="Noto Sans SC"/>
                <a:ea typeface="Noto Sans SC"/>
                <a:cs typeface="Noto Sans SC"/>
                <a:sym typeface="Noto Sans SC"/>
              </a:rPr>
              <a:t>功能全面、强大的企业级解决方案，适合大型、复杂的应用环境和对合规性有严格要求的场景。</a:t>
            </a:r>
            <a:endParaRPr lang="en-US" sz="1100"/>
          </a:p>
        </p:txBody>
      </p:sp>
      <p:sp>
        <p:nvSpPr>
          <p:cNvPr id="9" name="AutoShape 9"/>
          <p:cNvSpPr/>
          <p:nvPr/>
        </p:nvSpPr>
        <p:spPr>
          <a:xfrm>
            <a:off x="6223000" y="1524000"/>
            <a:ext cx="5207000" cy="1905000"/>
          </a:xfrm>
          <a:prstGeom prst="roundRect">
            <a:avLst>
              <a:gd name="adj" fmla="val 8000"/>
            </a:avLst>
          </a:prstGeom>
          <a:solidFill>
            <a:srgbClr val="FFFFFF">
              <a:alpha val="95000"/>
            </a:srgbClr>
          </a:solidFill>
          <a:ln w="25400" cap="flat" cmpd="sng">
            <a:noFill/>
            <a:prstDash val="solid"/>
            <a:round/>
          </a:ln>
          <a:effectLst>
            <a:outerShdw blurRad="190500" dist="50800" dir="2700000" algn="tl" rotWithShape="0">
              <a:srgbClr val="000000">
                <a:alpha val="8000"/>
              </a:srgbClr>
            </a:outerShdw>
          </a:effectLst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  <a:endParaRPr/>
          </a:p>
        </p:txBody>
      </p:sp>
      <p:sp>
        <p:nvSpPr>
          <p:cNvPr id="10" name="AutoShape 10"/>
          <p:cNvSpPr/>
          <p:nvPr/>
        </p:nvSpPr>
        <p:spPr>
          <a:xfrm>
            <a:off x="6477000" y="1841500"/>
            <a:ext cx="889000" cy="889000"/>
          </a:xfrm>
          <a:prstGeom prst="ellipse">
            <a:avLst/>
          </a:prstGeom>
          <a:solidFill>
            <a:srgbClr val="DBEAFE">
              <a:alpha val="100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  <a:endParaRPr/>
          </a:p>
        </p:txBody>
      </p:sp>
      <p:pic>
        <p:nvPicPr>
          <p:cNvPr id="11" name="Picture 11"/>
          <p:cNvPicPr>
            <a:picLocks noChangeAspect="1"/>
          </p:cNvPicPr>
          <p:nvPr/>
        </p:nvPicPr>
        <p:blipFill>
          <a:blip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6667500" y="2032000"/>
            <a:ext cx="508000" cy="508000"/>
          </a:xfrm>
          <a:prstGeom prst="rect">
            <a:avLst/>
          </a:prstGeom>
        </p:spPr>
      </p:pic>
      <p:sp>
        <p:nvSpPr>
          <p:cNvPr id="12" name="AutoShape 12"/>
          <p:cNvSpPr/>
          <p:nvPr/>
        </p:nvSpPr>
        <p:spPr>
          <a:xfrm>
            <a:off x="7620000" y="1841500"/>
            <a:ext cx="3556000" cy="381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indent="0" algn="l">
              <a:lnSpc>
                <a:spcPct val="125000"/>
              </a:lnSpc>
              <a:defRPr/>
            </a:pPr>
            <a:r>
              <a:rPr lang="en-US" sz="1800" b="1" i="0" u="none" strike="noStrike">
                <a:solidFill>
                  <a:srgbClr val="333333"/>
                </a:solidFill>
                <a:latin typeface="Noto Sans SC"/>
                <a:ea typeface="Noto Sans SC"/>
                <a:cs typeface="Noto Sans SC"/>
                <a:sym typeface="Noto Sans SC"/>
              </a:rPr>
              <a:t>Acunetix AWVS</a:t>
            </a:r>
            <a:endParaRPr lang="en-US" sz="1100"/>
          </a:p>
        </p:txBody>
      </p:sp>
      <p:sp>
        <p:nvSpPr>
          <p:cNvPr id="13" name="AutoShape 13"/>
          <p:cNvSpPr/>
          <p:nvPr/>
        </p:nvSpPr>
        <p:spPr>
          <a:xfrm>
            <a:off x="7620000" y="2349500"/>
            <a:ext cx="3556000" cy="889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indent="0" algn="l">
              <a:lnSpc>
                <a:spcPct val="116666"/>
              </a:lnSpc>
              <a:defRPr/>
            </a:pPr>
            <a:r>
              <a:rPr lang="en-US" sz="1200" b="0" i="0" u="none" strike="noStrike">
                <a:solidFill>
                  <a:srgbClr val="555555"/>
                </a:solidFill>
                <a:latin typeface="Noto Sans SC"/>
                <a:ea typeface="Noto Sans SC"/>
                <a:cs typeface="Noto Sans SC"/>
                <a:sym typeface="Noto Sans SC"/>
              </a:rPr>
              <a:t>快速、精准、易用的Web/API专用扫描工具，非常适合敏捷开发模式、中小型项目和追求高性价比的团队。</a:t>
            </a:r>
            <a:endParaRPr lang="en-US" sz="1100"/>
          </a:p>
        </p:txBody>
      </p:sp>
      <p:sp>
        <p:nvSpPr>
          <p:cNvPr id="14" name="AutoShape 14"/>
          <p:cNvSpPr/>
          <p:nvPr/>
        </p:nvSpPr>
        <p:spPr>
          <a:xfrm>
            <a:off x="762000" y="3683000"/>
            <a:ext cx="10668000" cy="1778000"/>
          </a:xfrm>
          <a:prstGeom prst="roundRect">
            <a:avLst>
              <a:gd name="adj" fmla="val 8571"/>
            </a:avLst>
          </a:prstGeom>
          <a:solidFill>
            <a:srgbClr val="FFFFFF">
              <a:alpha val="95000"/>
            </a:srgbClr>
          </a:solidFill>
          <a:ln w="25400" cap="flat" cmpd="sng">
            <a:noFill/>
            <a:prstDash val="solid"/>
            <a:round/>
          </a:ln>
          <a:effectLst>
            <a:outerShdw blurRad="190500" dist="50800" dir="2700000" algn="tl" rotWithShape="0">
              <a:srgbClr val="000000">
                <a:alpha val="8000"/>
              </a:srgbClr>
            </a:outerShdw>
          </a:effectLst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  <a:endParaRPr/>
          </a:p>
        </p:txBody>
      </p:sp>
      <p:sp>
        <p:nvSpPr>
          <p:cNvPr id="15" name="AutoShape 15"/>
          <p:cNvSpPr/>
          <p:nvPr/>
        </p:nvSpPr>
        <p:spPr>
          <a:xfrm>
            <a:off x="1016000" y="3937000"/>
            <a:ext cx="1905000" cy="1270000"/>
          </a:xfrm>
          <a:prstGeom prst="roundRect">
            <a:avLst>
              <a:gd name="adj" fmla="val 8000"/>
            </a:avLst>
          </a:prstGeom>
          <a:solidFill>
            <a:srgbClr val="F0F9FF">
              <a:alpha val="100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  <a:endParaRPr/>
          </a:p>
        </p:txBody>
      </p:sp>
      <p:pic>
        <p:nvPicPr>
          <p:cNvPr id="16" name="Picture 16"/>
          <p:cNvPicPr>
            <a:picLocks noChangeAspect="1"/>
          </p:cNvPicPr>
          <p:nvPr/>
        </p:nvPicPr>
        <p:blipFill>
          <a:blip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p:blipFill>
        <p:spPr>
          <a:xfrm>
            <a:off x="1143000" y="4127500"/>
            <a:ext cx="406400" cy="406400"/>
          </a:xfrm>
          <a:prstGeom prst="rect">
            <a:avLst/>
          </a:prstGeom>
        </p:spPr>
      </p:pic>
      <p:sp>
        <p:nvSpPr>
          <p:cNvPr id="17" name="AutoShape 17"/>
          <p:cNvSpPr/>
          <p:nvPr/>
        </p:nvSpPr>
        <p:spPr>
          <a:xfrm>
            <a:off x="1651000" y="4127500"/>
            <a:ext cx="1206500" cy="3048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indent="0" algn="l">
              <a:lnSpc>
                <a:spcPct val="125000"/>
              </a:lnSpc>
              <a:defRPr/>
            </a:pPr>
            <a:r>
              <a:rPr lang="en-US" sz="1300" b="1" i="0" u="none" strike="noStrike">
                <a:solidFill>
                  <a:srgbClr val="333333"/>
                </a:solidFill>
                <a:latin typeface="Noto Sans SC"/>
                <a:ea typeface="Noto Sans SC"/>
                <a:cs typeface="Noto Sans SC"/>
                <a:sym typeface="Noto Sans SC"/>
              </a:rPr>
              <a:t>明确需求</a:t>
            </a:r>
            <a:endParaRPr lang="en-US" sz="1100"/>
          </a:p>
        </p:txBody>
      </p:sp>
      <p:sp>
        <p:nvSpPr>
          <p:cNvPr id="18" name="AutoShape 18"/>
          <p:cNvSpPr/>
          <p:nvPr/>
        </p:nvSpPr>
        <p:spPr>
          <a:xfrm>
            <a:off x="1651000" y="4508500"/>
            <a:ext cx="1206500" cy="508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indent="0" algn="l">
              <a:lnSpc>
                <a:spcPct val="100000"/>
              </a:lnSpc>
              <a:defRPr/>
            </a:pPr>
            <a:r>
              <a:rPr lang="en-US" sz="1000" b="0" i="0" u="none" strike="noStrike">
                <a:solidFill>
                  <a:srgbClr val="646464"/>
                </a:solidFill>
                <a:latin typeface="Noto Sans SC"/>
                <a:ea typeface="Noto Sans SC"/>
                <a:cs typeface="Noto Sans SC"/>
                <a:sym typeface="Noto Sans SC"/>
              </a:rPr>
              <a:t>确定是全周期覆盖还是Web层快速扫描</a:t>
            </a:r>
            <a:endParaRPr lang="en-US" sz="1100"/>
          </a:p>
        </p:txBody>
      </p:sp>
      <p:sp>
        <p:nvSpPr>
          <p:cNvPr id="19" name="AutoShape 19"/>
          <p:cNvSpPr/>
          <p:nvPr/>
        </p:nvSpPr>
        <p:spPr>
          <a:xfrm>
            <a:off x="3111500" y="3937000"/>
            <a:ext cx="1905000" cy="1270000"/>
          </a:xfrm>
          <a:prstGeom prst="roundRect">
            <a:avLst>
              <a:gd name="adj" fmla="val 8000"/>
            </a:avLst>
          </a:prstGeom>
          <a:solidFill>
            <a:srgbClr val="F0F9FF">
              <a:alpha val="100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  <a:endParaRPr/>
          </a:p>
        </p:txBody>
      </p:sp>
      <p:pic>
        <p:nvPicPr>
          <p:cNvPr id="20" name="Picture 20"/>
          <p:cNvPicPr>
            <a:picLocks noChangeAspect="1"/>
          </p:cNvPicPr>
          <p:nvPr/>
        </p:nvPicPr>
        <p:blipFill>
          <a:blip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7"/>
              </a:ext>
            </a:extLst>
          </a:blip>
          <a:stretch>
            <a:fillRect/>
          </a:stretch>
        </p:blipFill>
        <p:spPr>
          <a:xfrm>
            <a:off x="3238500" y="4127500"/>
            <a:ext cx="406400" cy="406400"/>
          </a:xfrm>
          <a:prstGeom prst="rect">
            <a:avLst/>
          </a:prstGeom>
        </p:spPr>
      </p:pic>
      <p:sp>
        <p:nvSpPr>
          <p:cNvPr id="21" name="AutoShape 21"/>
          <p:cNvSpPr/>
          <p:nvPr/>
        </p:nvSpPr>
        <p:spPr>
          <a:xfrm>
            <a:off x="3746500" y="4127500"/>
            <a:ext cx="1206500" cy="3048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indent="0" algn="l">
              <a:lnSpc>
                <a:spcPct val="125000"/>
              </a:lnSpc>
              <a:defRPr/>
            </a:pPr>
            <a:r>
              <a:rPr lang="en-US" sz="1300" b="1" i="0" u="none" strike="noStrike">
                <a:solidFill>
                  <a:srgbClr val="333333"/>
                </a:solidFill>
                <a:latin typeface="Noto Sans SC"/>
                <a:ea typeface="Noto Sans SC"/>
                <a:cs typeface="Noto Sans SC"/>
                <a:sym typeface="Noto Sans SC"/>
              </a:rPr>
              <a:t>评估复杂度</a:t>
            </a:r>
            <a:endParaRPr lang="en-US" sz="1100"/>
          </a:p>
        </p:txBody>
      </p:sp>
      <p:sp>
        <p:nvSpPr>
          <p:cNvPr id="22" name="AutoShape 22"/>
          <p:cNvSpPr/>
          <p:nvPr/>
        </p:nvSpPr>
        <p:spPr>
          <a:xfrm>
            <a:off x="3746500" y="4508500"/>
            <a:ext cx="1206500" cy="508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indent="0" algn="l">
              <a:lnSpc>
                <a:spcPct val="100000"/>
              </a:lnSpc>
              <a:defRPr/>
            </a:pPr>
            <a:r>
              <a:rPr lang="en-US" sz="1000" b="0" i="0" u="none" strike="noStrike">
                <a:solidFill>
                  <a:srgbClr val="646464"/>
                </a:solidFill>
                <a:latin typeface="Noto Sans SC"/>
                <a:ea typeface="Noto Sans SC"/>
                <a:cs typeface="Noto Sans SC"/>
                <a:sym typeface="Noto Sans SC"/>
              </a:rPr>
              <a:t>复杂应用需AppScan的深度分析能力</a:t>
            </a:r>
            <a:endParaRPr lang="en-US" sz="1100"/>
          </a:p>
        </p:txBody>
      </p:sp>
      <p:sp>
        <p:nvSpPr>
          <p:cNvPr id="23" name="AutoShape 23"/>
          <p:cNvSpPr/>
          <p:nvPr/>
        </p:nvSpPr>
        <p:spPr>
          <a:xfrm>
            <a:off x="5207000" y="3937000"/>
            <a:ext cx="1905000" cy="1270000"/>
          </a:xfrm>
          <a:prstGeom prst="roundRect">
            <a:avLst>
              <a:gd name="adj" fmla="val 8000"/>
            </a:avLst>
          </a:prstGeom>
          <a:solidFill>
            <a:srgbClr val="F0F9FF">
              <a:alpha val="100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  <a:endParaRPr/>
          </a:p>
        </p:txBody>
      </p:sp>
      <p:pic>
        <p:nvPicPr>
          <p:cNvPr id="24" name="Picture 24"/>
          <p:cNvPicPr>
            <a:picLocks noChangeAspect="1"/>
          </p:cNvPicPr>
          <p:nvPr/>
        </p:nvPicPr>
        <p:blipFill>
          <a:blip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8"/>
              </a:ext>
            </a:extLst>
          </a:blip>
          <a:stretch>
            <a:fillRect/>
          </a:stretch>
        </p:blipFill>
        <p:spPr>
          <a:xfrm>
            <a:off x="5334000" y="4127500"/>
            <a:ext cx="406400" cy="406400"/>
          </a:xfrm>
          <a:prstGeom prst="rect">
            <a:avLst/>
          </a:prstGeom>
        </p:spPr>
      </p:pic>
      <p:sp>
        <p:nvSpPr>
          <p:cNvPr id="25" name="AutoShape 25"/>
          <p:cNvSpPr/>
          <p:nvPr/>
        </p:nvSpPr>
        <p:spPr>
          <a:xfrm>
            <a:off x="5842000" y="4127500"/>
            <a:ext cx="1206500" cy="3048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indent="0" algn="l">
              <a:lnSpc>
                <a:spcPct val="125000"/>
              </a:lnSpc>
              <a:defRPr/>
            </a:pPr>
            <a:r>
              <a:rPr lang="en-US" sz="1300" b="1" i="0" u="none" strike="noStrike">
                <a:solidFill>
                  <a:srgbClr val="333333"/>
                </a:solidFill>
                <a:latin typeface="Noto Sans SC"/>
                <a:ea typeface="Noto Sans SC"/>
                <a:cs typeface="Noto Sans SC"/>
                <a:sym typeface="Noto Sans SC"/>
              </a:rPr>
              <a:t>团队能力</a:t>
            </a:r>
            <a:endParaRPr lang="en-US" sz="1100"/>
          </a:p>
        </p:txBody>
      </p:sp>
      <p:sp>
        <p:nvSpPr>
          <p:cNvPr id="26" name="AutoShape 26"/>
          <p:cNvSpPr/>
          <p:nvPr/>
        </p:nvSpPr>
        <p:spPr>
          <a:xfrm>
            <a:off x="5842000" y="4508500"/>
            <a:ext cx="1206500" cy="508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indent="0" algn="l">
              <a:lnSpc>
                <a:spcPct val="100000"/>
              </a:lnSpc>
              <a:defRPr/>
            </a:pPr>
            <a:r>
              <a:rPr lang="en-US" sz="1000" b="0" i="0" u="none" strike="noStrike">
                <a:solidFill>
                  <a:srgbClr val="646464"/>
                </a:solidFill>
                <a:latin typeface="Noto Sans SC"/>
                <a:ea typeface="Noto Sans SC"/>
                <a:cs typeface="Noto Sans SC"/>
                <a:sym typeface="Noto Sans SC"/>
              </a:rPr>
              <a:t>根据人员专业度选择工具的易用性</a:t>
            </a:r>
            <a:endParaRPr lang="en-US" sz="1100"/>
          </a:p>
        </p:txBody>
      </p:sp>
      <p:sp>
        <p:nvSpPr>
          <p:cNvPr id="27" name="AutoShape 27"/>
          <p:cNvSpPr/>
          <p:nvPr/>
        </p:nvSpPr>
        <p:spPr>
          <a:xfrm>
            <a:off x="7302500" y="3937000"/>
            <a:ext cx="1905000" cy="1270000"/>
          </a:xfrm>
          <a:prstGeom prst="roundRect">
            <a:avLst>
              <a:gd name="adj" fmla="val 8000"/>
            </a:avLst>
          </a:prstGeom>
          <a:solidFill>
            <a:srgbClr val="F0F9FF">
              <a:alpha val="100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  <a:endParaRPr/>
          </a:p>
        </p:txBody>
      </p:sp>
      <p:pic>
        <p:nvPicPr>
          <p:cNvPr id="28" name="Picture 28"/>
          <p:cNvPicPr>
            <a:picLocks noChangeAspect="1"/>
          </p:cNvPicPr>
          <p:nvPr/>
        </p:nvPicPr>
        <p:blipFill>
          <a:blip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9"/>
              </a:ext>
            </a:extLst>
          </a:blip>
          <a:stretch>
            <a:fillRect/>
          </a:stretch>
        </p:blipFill>
        <p:spPr>
          <a:xfrm>
            <a:off x="7429500" y="4127500"/>
            <a:ext cx="406400" cy="406400"/>
          </a:xfrm>
          <a:prstGeom prst="rect">
            <a:avLst/>
          </a:prstGeom>
        </p:spPr>
      </p:pic>
      <p:sp>
        <p:nvSpPr>
          <p:cNvPr id="29" name="AutoShape 29"/>
          <p:cNvSpPr/>
          <p:nvPr/>
        </p:nvSpPr>
        <p:spPr>
          <a:xfrm>
            <a:off x="7937500" y="4127500"/>
            <a:ext cx="1206500" cy="3048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indent="0" algn="l">
              <a:lnSpc>
                <a:spcPct val="125000"/>
              </a:lnSpc>
              <a:defRPr/>
            </a:pPr>
            <a:r>
              <a:rPr lang="en-US" sz="1300" b="1" i="0" u="none" strike="noStrike">
                <a:solidFill>
                  <a:srgbClr val="333333"/>
                </a:solidFill>
                <a:latin typeface="Noto Sans SC"/>
                <a:ea typeface="Noto Sans SC"/>
                <a:cs typeface="Noto Sans SC"/>
                <a:sym typeface="Noto Sans SC"/>
              </a:rPr>
              <a:t>预算考量</a:t>
            </a:r>
            <a:endParaRPr lang="en-US" sz="1100"/>
          </a:p>
        </p:txBody>
      </p:sp>
      <p:sp>
        <p:nvSpPr>
          <p:cNvPr id="30" name="AutoShape 30"/>
          <p:cNvSpPr/>
          <p:nvPr/>
        </p:nvSpPr>
        <p:spPr>
          <a:xfrm>
            <a:off x="7937500" y="4508500"/>
            <a:ext cx="1206500" cy="508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indent="0" algn="l">
              <a:lnSpc>
                <a:spcPct val="100000"/>
              </a:lnSpc>
              <a:defRPr/>
            </a:pPr>
            <a:r>
              <a:rPr lang="en-US" sz="1000" b="0" i="0" u="none" strike="noStrike">
                <a:solidFill>
                  <a:srgbClr val="646464"/>
                </a:solidFill>
                <a:latin typeface="Noto Sans SC"/>
                <a:ea typeface="Noto Sans SC"/>
                <a:cs typeface="Noto Sans SC"/>
                <a:sym typeface="Noto Sans SC"/>
              </a:rPr>
              <a:t>企业级方案成本更高，需合理规划</a:t>
            </a:r>
            <a:endParaRPr lang="en-US" sz="1100"/>
          </a:p>
        </p:txBody>
      </p:sp>
      <p:sp>
        <p:nvSpPr>
          <p:cNvPr id="31" name="AutoShape 31"/>
          <p:cNvSpPr/>
          <p:nvPr/>
        </p:nvSpPr>
        <p:spPr>
          <a:xfrm>
            <a:off x="9398000" y="3937000"/>
            <a:ext cx="1905000" cy="1270000"/>
          </a:xfrm>
          <a:prstGeom prst="roundRect">
            <a:avLst>
              <a:gd name="adj" fmla="val 8000"/>
            </a:avLst>
          </a:prstGeom>
          <a:solidFill>
            <a:srgbClr val="F0F9FF">
              <a:alpha val="100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  <a:endParaRPr/>
          </a:p>
        </p:txBody>
      </p:sp>
      <p:pic>
        <p:nvPicPr>
          <p:cNvPr id="32" name="Picture 32"/>
          <p:cNvPicPr>
            <a:picLocks noChangeAspect="1"/>
          </p:cNvPicPr>
          <p:nvPr/>
        </p:nvPicPr>
        <p:blipFill>
          <a:blip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10"/>
              </a:ext>
            </a:extLst>
          </a:blip>
          <a:stretch>
            <a:fillRect/>
          </a:stretch>
        </p:blipFill>
        <p:spPr>
          <a:xfrm>
            <a:off x="9525000" y="4127500"/>
            <a:ext cx="406400" cy="406400"/>
          </a:xfrm>
          <a:prstGeom prst="rect">
            <a:avLst/>
          </a:prstGeom>
        </p:spPr>
      </p:pic>
      <p:sp>
        <p:nvSpPr>
          <p:cNvPr id="33" name="AutoShape 33"/>
          <p:cNvSpPr/>
          <p:nvPr/>
        </p:nvSpPr>
        <p:spPr>
          <a:xfrm>
            <a:off x="10033000" y="4127500"/>
            <a:ext cx="1206500" cy="3048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indent="0" algn="l">
              <a:lnSpc>
                <a:spcPct val="125000"/>
              </a:lnSpc>
              <a:defRPr/>
            </a:pPr>
            <a:r>
              <a:rPr lang="en-US" sz="1300" b="1" i="0" u="none" strike="noStrike">
                <a:solidFill>
                  <a:srgbClr val="333333"/>
                </a:solidFill>
                <a:latin typeface="Noto Sans SC"/>
                <a:ea typeface="Noto Sans SC"/>
                <a:cs typeface="Noto Sans SC"/>
                <a:sym typeface="Noto Sans SC"/>
              </a:rPr>
              <a:t>试用体验</a:t>
            </a:r>
            <a:endParaRPr lang="en-US" sz="1100"/>
          </a:p>
        </p:txBody>
      </p:sp>
      <p:sp>
        <p:nvSpPr>
          <p:cNvPr id="34" name="AutoShape 34"/>
          <p:cNvSpPr/>
          <p:nvPr/>
        </p:nvSpPr>
        <p:spPr>
          <a:xfrm>
            <a:off x="10033000" y="4508500"/>
            <a:ext cx="1206500" cy="508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indent="0" algn="l">
              <a:lnSpc>
                <a:spcPct val="100000"/>
              </a:lnSpc>
              <a:defRPr/>
            </a:pPr>
            <a:r>
              <a:rPr lang="en-US" sz="1000" b="0" i="0" u="none" strike="noStrike">
                <a:solidFill>
                  <a:srgbClr val="646464"/>
                </a:solidFill>
                <a:latin typeface="Noto Sans SC"/>
                <a:ea typeface="Noto Sans SC"/>
                <a:cs typeface="Noto Sans SC"/>
                <a:sym typeface="Noto Sans SC"/>
              </a:rPr>
              <a:t>亲测两款试用版，匹配自身工作流</a:t>
            </a:r>
            <a:endParaRPr lang="en-US" sz="1100"/>
          </a:p>
        </p:txBody>
      </p:sp>
      <p:sp>
        <p:nvSpPr>
          <p:cNvPr id="35" name="AutoShape 35"/>
          <p:cNvSpPr/>
          <p:nvPr/>
        </p:nvSpPr>
        <p:spPr>
          <a:xfrm>
            <a:off x="762000" y="5842000"/>
            <a:ext cx="10668000" cy="558800"/>
          </a:xfrm>
          <a:prstGeom prst="roundRect">
            <a:avLst>
              <a:gd name="adj" fmla="val 50000"/>
            </a:avLst>
          </a:prstGeom>
          <a:solidFill>
            <a:srgbClr val="EFF6FF">
              <a:alpha val="100000"/>
            </a:srgbClr>
          </a:solidFill>
          <a:ln w="12700" cap="flat" cmpd="sng">
            <a:solidFill>
              <a:srgbClr val="BFDBFE">
                <a:alpha val="100000"/>
              </a:srgbClr>
            </a:solidFill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  <a:endParaRPr/>
          </a:p>
        </p:txBody>
      </p:sp>
      <p:sp>
        <p:nvSpPr>
          <p:cNvPr id="36" name="AutoShape 36"/>
          <p:cNvSpPr/>
          <p:nvPr/>
        </p:nvSpPr>
        <p:spPr>
          <a:xfrm>
            <a:off x="762000" y="5842000"/>
            <a:ext cx="10668000" cy="5588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indent="0" algn="ctr">
              <a:lnSpc>
                <a:spcPct val="125000"/>
              </a:lnSpc>
              <a:defRPr/>
            </a:pPr>
            <a:r>
              <a:rPr lang="en-US" sz="1400" b="1" i="0" u="none" strike="noStrike">
                <a:solidFill>
                  <a:srgbClr val="1E40AF"/>
                </a:solidFill>
                <a:latin typeface="Noto Sans SC"/>
                <a:ea typeface="Noto Sans SC"/>
                <a:cs typeface="Noto Sans SC"/>
                <a:sym typeface="Noto Sans SC"/>
              </a:rPr>
              <a:t>💡 核心观点：没有最好的工具，只有最适合当前业务场景与团队的工具。</a:t>
            </a:r>
            <a:endParaRPr lang="en-US" sz="110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3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AutoShape 2"/>
          <p:cNvSpPr/>
          <p:nvPr/>
        </p:nvSpPr>
        <p:spPr>
          <a:xfrm>
            <a:off x="0" y="0"/>
            <a:ext cx="12192000" cy="6858000"/>
          </a:xfrm>
          <a:prstGeom prst="roundRect">
            <a:avLst>
              <a:gd name="adj" fmla="val 0"/>
            </a:avLst>
          </a:prstGeom>
          <a:solidFill>
            <a:srgbClr val="FFFFFF">
              <a:alpha val="30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  <a:endParaRPr/>
          </a:p>
        </p:txBody>
      </p:sp>
      <p:sp>
        <p:nvSpPr>
          <p:cNvPr id="3" name="AutoShape 3"/>
          <p:cNvSpPr/>
          <p:nvPr/>
        </p:nvSpPr>
        <p:spPr>
          <a:xfrm>
            <a:off x="0" y="2159000"/>
            <a:ext cx="12192000" cy="762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indent="0" algn="ctr">
              <a:lnSpc>
                <a:spcPct val="125000"/>
              </a:lnSpc>
              <a:defRPr/>
            </a:pPr>
            <a:r>
              <a:rPr lang="en-US" sz="4000" b="1" i="0" u="none" strike="noStrike">
                <a:solidFill>
                  <a:srgbClr val="333333"/>
                </a:solidFill>
                <a:latin typeface="Noto Sans SC"/>
                <a:ea typeface="Noto Sans SC"/>
                <a:cs typeface="Noto Sans SC"/>
                <a:sym typeface="Noto Sans SC"/>
              </a:rPr>
              <a:t>Q&amp;A</a:t>
            </a:r>
            <a:endParaRPr lang="en-US" sz="1100"/>
          </a:p>
        </p:txBody>
      </p:sp>
      <p:sp>
        <p:nvSpPr>
          <p:cNvPr id="4" name="AutoShape 4"/>
          <p:cNvSpPr/>
          <p:nvPr/>
        </p:nvSpPr>
        <p:spPr>
          <a:xfrm>
            <a:off x="0" y="3175000"/>
            <a:ext cx="12192000" cy="1143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indent="0" algn="ctr">
              <a:lnSpc>
                <a:spcPct val="125000"/>
              </a:lnSpc>
              <a:defRPr/>
            </a:pPr>
            <a:r>
              <a:rPr lang="en-US" sz="7200" b="1" i="0" u="none" strike="noStrike">
                <a:solidFill>
                  <a:srgbClr val="333333"/>
                </a:solidFill>
                <a:latin typeface="Noto Sans SC"/>
                <a:ea typeface="Noto Sans SC"/>
                <a:cs typeface="Noto Sans SC"/>
                <a:sym typeface="Noto Sans SC"/>
              </a:rPr>
              <a:t>感谢聆听</a:t>
            </a:r>
            <a:endParaRPr lang="en-US" sz="1100"/>
          </a:p>
        </p:txBody>
      </p:sp>
      <p:sp>
        <p:nvSpPr>
          <p:cNvPr id="5" name="AutoShape 5"/>
          <p:cNvSpPr/>
          <p:nvPr/>
        </p:nvSpPr>
        <p:spPr>
          <a:xfrm>
            <a:off x="0" y="4699000"/>
            <a:ext cx="12192000" cy="508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indent="0" algn="ctr">
              <a:lnSpc>
                <a:spcPct val="125000"/>
              </a:lnSpc>
              <a:defRPr/>
            </a:pPr>
            <a:r>
              <a:rPr lang="en-US" sz="1600" b="0" i="0" u="none" strike="noStrike">
                <a:solidFill>
                  <a:srgbClr val="666666"/>
                </a:solidFill>
                <a:latin typeface="Noto Sans SC"/>
                <a:ea typeface="Noto Sans SC"/>
                <a:cs typeface="Noto Sans SC"/>
                <a:sym typeface="Noto Sans SC"/>
              </a:rPr>
              <a:t>THANKS FOR LISTENING</a:t>
            </a:r>
            <a:endParaRPr lang="en-US" sz="110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主题​​">
  <a:themeElements>
    <a:clrScheme name="Office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默认主题">
  <a:themeElements>
    <a:clrScheme name="Office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3.xml><?xml version="1.0" encoding="utf-8"?>
<a:theme xmlns:a="http://schemas.openxmlformats.org/drawingml/2006/main" name="Office 主题​​">
  <a:themeElements>
    <a:clrScheme name="Office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13</TotalTime>
  <Words>1193</Words>
  <Application>Microsoft Office PowerPoint</Application>
  <PresentationFormat>宽屏</PresentationFormat>
  <Paragraphs>191</Paragraphs>
  <Slides>13</Slides>
  <Notes>13</Notes>
  <HiddenSlides>0</HiddenSlides>
  <MMClips>0</MMClips>
  <ScaleCrop>false</ScaleCrop>
  <HeadingPairs>
    <vt:vector size="6" baseType="variant">
      <vt:variant>
        <vt:lpstr>已用的字体</vt:lpstr>
      </vt:variant>
      <vt:variant>
        <vt:i4>2</vt:i4>
      </vt:variant>
      <vt:variant>
        <vt:lpstr>主题</vt:lpstr>
      </vt:variant>
      <vt:variant>
        <vt:i4>2</vt:i4>
      </vt:variant>
      <vt:variant>
        <vt:lpstr>幻灯片标题</vt:lpstr>
      </vt:variant>
      <vt:variant>
        <vt:i4>13</vt:i4>
      </vt:variant>
    </vt:vector>
  </HeadingPairs>
  <TitlesOfParts>
    <vt:vector size="17" baseType="lpstr">
      <vt:lpstr>Noto Sans SC</vt:lpstr>
      <vt:lpstr>Arial</vt:lpstr>
      <vt:lpstr>Office 主题​​</vt:lpstr>
      <vt:lpstr>默认主题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creator>Lenovo</dc:creator>
  <cp:lastModifiedBy>Jiahao Ran</cp:lastModifiedBy>
  <cp:revision>5</cp:revision>
  <dcterms:modified xsi:type="dcterms:W3CDTF">2026-04-16T14:17:57Z</dcterms:modified>
</cp:coreProperties>
</file>